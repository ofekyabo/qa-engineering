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embeddedFontLst>
    <p:embeddedFont>
      <p:font typeface="Raleway"/>
      <p:regular r:id="rId30"/>
      <p:bold r:id="rId31"/>
      <p:italic r:id="rId32"/>
      <p:boldItalic r:id="rId33"/>
    </p:embeddedFon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E528C9-285E-49A1-AE23-CF25BE502DC5}">
  <a:tblStyle styleId="{1CE528C9-285E-49A1-AE23-CF25BE502DC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bold.fntdata"/><Relationship Id="rId30" Type="http://schemas.openxmlformats.org/officeDocument/2006/relationships/font" Target="fonts/Raleway-regular.fntdata"/><Relationship Id="rId11" Type="http://schemas.openxmlformats.org/officeDocument/2006/relationships/slide" Target="slides/slide5.xml"/><Relationship Id="rId33" Type="http://schemas.openxmlformats.org/officeDocument/2006/relationships/font" Target="fonts/Raleway-boldItalic.fntdata"/><Relationship Id="rId10" Type="http://schemas.openxmlformats.org/officeDocument/2006/relationships/slide" Target="slides/slide4.xml"/><Relationship Id="rId32" Type="http://schemas.openxmlformats.org/officeDocument/2006/relationships/font" Target="fonts/Raleway-italic.fntdata"/><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a6cc3419ed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2a6cc3419ed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g2a6cc3419ed_0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When creating unit tests we want to make sure that we are able to test the functionality of a single class independently from its external dependencies.</a:t>
            </a:r>
            <a:endParaRPr sz="1800">
              <a:latin typeface="Calibri"/>
              <a:ea typeface="Calibri"/>
              <a:cs typeface="Calibri"/>
              <a:sym typeface="Calibri"/>
            </a:endParaRPr>
          </a:p>
        </p:txBody>
      </p:sp>
      <p:sp>
        <p:nvSpPr>
          <p:cNvPr id="129" name="Google Shape;129;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a6cc3419ed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2a6cc3419ed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Therefore, we can define an isolated unit test as one that focuses solely on a single class, which has no external dependencies, such as databases, network resources, and external services. To accomplish this we will leverage a mocking mechanism that simulates the interactions with the external components and creates an artificial sandbox that allows to test all of the inner functionality of the class under test.</a:t>
            </a:r>
            <a:endParaRPr sz="1800">
              <a:latin typeface="Calibri"/>
              <a:ea typeface="Calibri"/>
              <a:cs typeface="Calibri"/>
              <a:sym typeface="Calibri"/>
            </a:endParaRPr>
          </a:p>
        </p:txBody>
      </p:sp>
      <p:sp>
        <p:nvSpPr>
          <p:cNvPr id="138" name="Google Shape;138;g2a6cc3419ed_0_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Why is it important to focus on isolation? Which we can expand into why is it important to test the functionality of a single class isolated from the other classes in the </a:t>
            </a:r>
            <a:r>
              <a:rPr lang="en-US" sz="1800"/>
              <a:t>system? </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1) For debugging and maintenance, it’s easier to find bugs and flaws in the class if we don’t have to look in all the dependencies around the class, and all the side effects caused by those dependencies.</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2) Sometimes, some dependencies are not actually required, and could be abstracted out for cleaner code. </a:t>
            </a:r>
            <a:endParaRPr sz="1800"/>
          </a:p>
          <a:p>
            <a:pPr indent="457200" lvl="1" marL="457200" marR="0" rtl="0" algn="l">
              <a:lnSpc>
                <a:spcPct val="107000"/>
              </a:lnSpc>
              <a:spcBef>
                <a:spcPts val="0"/>
              </a:spcBef>
              <a:spcAft>
                <a:spcPts val="0"/>
              </a:spcAft>
              <a:buClr>
                <a:schemeClr val="dk1"/>
              </a:buClr>
              <a:buSzPts val="1800"/>
              <a:buFont typeface="Courier New"/>
              <a:buNone/>
            </a:pPr>
            <a:r>
              <a:t/>
            </a:r>
            <a:endParaRPr sz="1800"/>
          </a:p>
          <a:p>
            <a:pPr indent="-342900" lvl="0" marL="457200" marR="0" rtl="0" algn="l">
              <a:lnSpc>
                <a:spcPct val="107000"/>
              </a:lnSpc>
              <a:spcBef>
                <a:spcPts val="0"/>
              </a:spcBef>
              <a:spcAft>
                <a:spcPts val="0"/>
              </a:spcAft>
              <a:buSzPts val="1800"/>
              <a:buChar char="-"/>
            </a:pPr>
            <a:r>
              <a:rPr lang="en-US" sz="1800"/>
              <a:t>For example:</a:t>
            </a:r>
            <a:endParaRPr sz="1800"/>
          </a:p>
          <a:p>
            <a:pPr indent="-342900" lvl="1" marL="1371600" marR="0" rtl="0" algn="l">
              <a:lnSpc>
                <a:spcPct val="107000"/>
              </a:lnSpc>
              <a:spcBef>
                <a:spcPts val="0"/>
              </a:spcBef>
              <a:spcAft>
                <a:spcPts val="0"/>
              </a:spcAft>
              <a:buSzPts val="1800"/>
              <a:buChar char="-"/>
            </a:pPr>
            <a:r>
              <a:rPr lang="en-US" sz="1800"/>
              <a:t> if we have an authentication class that is tightly coupled to a database, like if the class makes direct calls to a library API.</a:t>
            </a:r>
            <a:endParaRPr sz="1800"/>
          </a:p>
          <a:p>
            <a:pPr indent="-342900" lvl="1" marL="1371600" marR="0" rtl="0" algn="l">
              <a:lnSpc>
                <a:spcPct val="107000"/>
              </a:lnSpc>
              <a:spcBef>
                <a:spcPts val="0"/>
              </a:spcBef>
              <a:spcAft>
                <a:spcPts val="0"/>
              </a:spcAft>
              <a:buSzPts val="1800"/>
              <a:buChar char="-"/>
            </a:pPr>
            <a:r>
              <a:rPr lang="en-US" sz="1800"/>
              <a:t>1. If a test fails, it’s unclear whether it’s because of the authentication logic test or the database library.</a:t>
            </a:r>
            <a:endParaRPr sz="1800"/>
          </a:p>
          <a:p>
            <a:pPr indent="-342900" lvl="1" marL="1371600" marR="0" rtl="0" algn="l">
              <a:lnSpc>
                <a:spcPct val="107000"/>
              </a:lnSpc>
              <a:spcBef>
                <a:spcPts val="0"/>
              </a:spcBef>
              <a:spcAft>
                <a:spcPts val="0"/>
              </a:spcAft>
              <a:buSzPts val="1800"/>
              <a:buChar char="-"/>
            </a:pPr>
            <a:r>
              <a:rPr lang="en-US" sz="1800"/>
              <a:t>2. While unit testing, if it’s hard to separate the database library invocation from the main class under test, it means the library class is tightly coupled to the authentication class. </a:t>
            </a:r>
            <a:endParaRPr sz="1800"/>
          </a:p>
          <a:p>
            <a:pPr indent="-342900" lvl="2" marL="1828800" marR="0" rtl="0" algn="l">
              <a:lnSpc>
                <a:spcPct val="107000"/>
              </a:lnSpc>
              <a:spcBef>
                <a:spcPts val="0"/>
              </a:spcBef>
              <a:spcAft>
                <a:spcPts val="0"/>
              </a:spcAft>
              <a:buSzPts val="1800"/>
              <a:buChar char="-"/>
            </a:pPr>
            <a:r>
              <a:rPr lang="en-US" sz="1800"/>
              <a:t>This api could be abstracted by an interface/abstract class. </a:t>
            </a:r>
            <a:endParaRPr sz="1800"/>
          </a:p>
          <a:p>
            <a:pPr indent="-342900" lvl="2" marL="1828800" marR="0" rtl="0" algn="l">
              <a:lnSpc>
                <a:spcPct val="107000"/>
              </a:lnSpc>
              <a:spcBef>
                <a:spcPts val="0"/>
              </a:spcBef>
              <a:spcAft>
                <a:spcPts val="0"/>
              </a:spcAft>
              <a:buSzPts val="1800"/>
              <a:buChar char="-"/>
            </a:pPr>
            <a:r>
              <a:rPr lang="en-US" sz="1800"/>
              <a:t>Separation -&gt; Code becomes clear -&gt; Allows for easier maintenance and it becomes easier to test the class.</a:t>
            </a:r>
            <a:endParaRPr sz="1800"/>
          </a:p>
        </p:txBody>
      </p:sp>
      <p:sp>
        <p:nvSpPr>
          <p:cNvPr id="146" name="Google Shape;146;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a6cc3419ed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2a6cc3419ed_0_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As an overview, you can look at this picture that shows the typical methodology for isolating in unit testing. </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You will have the:</a:t>
            </a:r>
            <a:endParaRPr sz="1800"/>
          </a:p>
          <a:p>
            <a:pPr indent="-342900" lvl="0" marL="914400" marR="0" rtl="0" algn="l">
              <a:lnSpc>
                <a:spcPct val="107000"/>
              </a:lnSpc>
              <a:spcBef>
                <a:spcPts val="0"/>
              </a:spcBef>
              <a:spcAft>
                <a:spcPts val="0"/>
              </a:spcAft>
              <a:buSzPts val="1800"/>
              <a:buChar char="-"/>
            </a:pPr>
            <a:r>
              <a:rPr lang="en-US" sz="1800"/>
              <a:t>Test driver, which are test cases and the framework responsible for setting, running the tests, and reporting the results.</a:t>
            </a:r>
            <a:endParaRPr sz="1800"/>
          </a:p>
          <a:p>
            <a:pPr indent="-342900" lvl="0" marL="914400" marR="0" rtl="0" algn="l">
              <a:lnSpc>
                <a:spcPct val="107000"/>
              </a:lnSpc>
              <a:spcBef>
                <a:spcPts val="0"/>
              </a:spcBef>
              <a:spcAft>
                <a:spcPts val="0"/>
              </a:spcAft>
              <a:buSzPts val="1800"/>
              <a:buChar char="-"/>
            </a:pPr>
            <a:r>
              <a:rPr lang="en-US" sz="1800"/>
              <a:t>The Class under test, which want to isolate</a:t>
            </a:r>
            <a:endParaRPr sz="1800"/>
          </a:p>
          <a:p>
            <a:pPr indent="-342900" lvl="0" marL="914400" marR="0" rtl="0" algn="l">
              <a:lnSpc>
                <a:spcPct val="107000"/>
              </a:lnSpc>
              <a:spcBef>
                <a:spcPts val="0"/>
              </a:spcBef>
              <a:spcAft>
                <a:spcPts val="0"/>
              </a:spcAft>
              <a:buSzPts val="1800"/>
              <a:buChar char="-"/>
            </a:pPr>
            <a:r>
              <a:rPr lang="en-US" sz="1800"/>
              <a:t>And a type of mocking entity that will isolate the class from its dependencies, in this case we are talking about stubs.</a:t>
            </a:r>
            <a:endParaRPr sz="1800"/>
          </a:p>
        </p:txBody>
      </p:sp>
      <p:sp>
        <p:nvSpPr>
          <p:cNvPr id="154" name="Google Shape;154;g2a6cc3419ed_0_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9de7699d9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2a9de7699d9_2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As an overview, you can look at this picture that shows the typical methodology for isolating in unit testing. </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You will have the:</a:t>
            </a:r>
            <a:endParaRPr sz="1800"/>
          </a:p>
          <a:p>
            <a:pPr indent="-342900" lvl="0" marL="914400" marR="0" rtl="0" algn="l">
              <a:lnSpc>
                <a:spcPct val="107000"/>
              </a:lnSpc>
              <a:spcBef>
                <a:spcPts val="0"/>
              </a:spcBef>
              <a:spcAft>
                <a:spcPts val="0"/>
              </a:spcAft>
              <a:buSzPts val="1800"/>
              <a:buChar char="-"/>
            </a:pPr>
            <a:r>
              <a:rPr lang="en-US" sz="1800"/>
              <a:t>Test driver, which are test cases and the framework responsible for setting, running the tests, and reporting the results.</a:t>
            </a:r>
            <a:endParaRPr sz="1800"/>
          </a:p>
          <a:p>
            <a:pPr indent="-342900" lvl="0" marL="914400" marR="0" rtl="0" algn="l">
              <a:lnSpc>
                <a:spcPct val="107000"/>
              </a:lnSpc>
              <a:spcBef>
                <a:spcPts val="0"/>
              </a:spcBef>
              <a:spcAft>
                <a:spcPts val="0"/>
              </a:spcAft>
              <a:buSzPts val="1800"/>
              <a:buChar char="-"/>
            </a:pPr>
            <a:r>
              <a:rPr lang="en-US" sz="1800"/>
              <a:t>The Class under test, which want to isolate</a:t>
            </a:r>
            <a:endParaRPr sz="1800"/>
          </a:p>
          <a:p>
            <a:pPr indent="-342900" lvl="0" marL="914400" marR="0" rtl="0" algn="l">
              <a:lnSpc>
                <a:spcPct val="107000"/>
              </a:lnSpc>
              <a:spcBef>
                <a:spcPts val="0"/>
              </a:spcBef>
              <a:spcAft>
                <a:spcPts val="0"/>
              </a:spcAft>
              <a:buSzPts val="1800"/>
              <a:buChar char="-"/>
            </a:pPr>
            <a:r>
              <a:rPr lang="en-US" sz="1800"/>
              <a:t>And a type of mocking entity that will isolate the class from its dependencies, in this case we are talking about stubs.</a:t>
            </a:r>
            <a:endParaRPr sz="1800"/>
          </a:p>
        </p:txBody>
      </p:sp>
      <p:sp>
        <p:nvSpPr>
          <p:cNvPr id="166" name="Google Shape;166;g2a9de7699d9_2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In Java, while as Test Driver we learned last class about JUnit5, to create mocks and isolate the class under test from its dependencies, there a very robust tool called Mockito.</a:t>
            </a:r>
            <a:endParaRPr sz="1800"/>
          </a:p>
        </p:txBody>
      </p:sp>
      <p:sp>
        <p:nvSpPr>
          <p:cNvPr id="179" name="Google Shape;179;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a6cc3419ed_0_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2a6cc3419ed_0_1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0" marR="0" rtl="0" algn="l">
              <a:lnSpc>
                <a:spcPct val="107000"/>
              </a:lnSpc>
              <a:spcBef>
                <a:spcPts val="0"/>
              </a:spcBef>
              <a:spcAft>
                <a:spcPts val="0"/>
              </a:spcAft>
              <a:buClr>
                <a:schemeClr val="dk1"/>
              </a:buClr>
              <a:buSzPts val="1800"/>
              <a:buFont typeface="Courier New"/>
              <a:buNone/>
            </a:pPr>
            <a:r>
              <a:rPr lang="en-US" sz="1800"/>
              <a:t>To set it up, besides importing the package, you will have to, first, to extend Junit5 with the MockitoExtension plugin.</a:t>
            </a:r>
            <a:endParaRPr sz="1800"/>
          </a:p>
          <a:p>
            <a:pPr indent="0" lvl="1" marL="0" marR="0" rtl="0" algn="l">
              <a:lnSpc>
                <a:spcPct val="107000"/>
              </a:lnSpc>
              <a:spcBef>
                <a:spcPts val="0"/>
              </a:spcBef>
              <a:spcAft>
                <a:spcPts val="0"/>
              </a:spcAft>
              <a:buClr>
                <a:schemeClr val="dk1"/>
              </a:buClr>
              <a:buSzPts val="1800"/>
              <a:buFont typeface="Courier New"/>
              <a:buNone/>
            </a:pPr>
            <a:r>
              <a:rPr lang="en-US" sz="1800"/>
              <a:t>Then, as we discussed last class about the annotations to set up the tests, in the method that executes before each method, we run the openMocks function to initialize all the Mocks and Spies that we define in the attributes.</a:t>
            </a:r>
            <a:endParaRPr sz="1800"/>
          </a:p>
          <a:p>
            <a:pPr indent="0" lvl="1" marL="0" marR="0" rtl="0" algn="l">
              <a:lnSpc>
                <a:spcPct val="107000"/>
              </a:lnSpc>
              <a:spcBef>
                <a:spcPts val="0"/>
              </a:spcBef>
              <a:spcAft>
                <a:spcPts val="0"/>
              </a:spcAft>
              <a:buClr>
                <a:schemeClr val="dk1"/>
              </a:buClr>
              <a:buSzPts val="1800"/>
              <a:buFont typeface="Courier New"/>
              <a:buNone/>
            </a:pPr>
            <a:r>
              <a:rPr lang="en-US" sz="1800"/>
              <a:t>First, what is a Mock, and how do we set it up?...</a:t>
            </a:r>
            <a:endParaRPr sz="1800"/>
          </a:p>
        </p:txBody>
      </p:sp>
      <p:sp>
        <p:nvSpPr>
          <p:cNvPr id="188" name="Google Shape;188;g2a6cc3419ed_0_1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a9baf7a93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2a9baf7a935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457200" rtl="0" algn="l">
              <a:lnSpc>
                <a:spcPct val="77000"/>
              </a:lnSpc>
              <a:spcBef>
                <a:spcPts val="0"/>
              </a:spcBef>
              <a:spcAft>
                <a:spcPts val="0"/>
              </a:spcAft>
              <a:buNone/>
            </a:pPr>
            <a:r>
              <a:rPr lang="en-US" sz="1300"/>
              <a:t>First, recall the four parts involved in the creation of a unit test:</a:t>
            </a:r>
            <a:endParaRPr sz="1300"/>
          </a:p>
          <a:p>
            <a:pPr indent="0" lvl="0" marL="457200" rtl="0" algn="l">
              <a:lnSpc>
                <a:spcPct val="77000"/>
              </a:lnSpc>
              <a:spcBef>
                <a:spcPts val="0"/>
              </a:spcBef>
              <a:spcAft>
                <a:spcPts val="0"/>
              </a:spcAft>
              <a:buNone/>
            </a:pPr>
            <a:r>
              <a:rPr lang="en-US" sz="1300"/>
              <a:t>	Arrange and setup the required </a:t>
            </a:r>
            <a:r>
              <a:rPr lang="en-US" sz="1300"/>
              <a:t>environment</a:t>
            </a:r>
            <a:r>
              <a:rPr lang="en-US" sz="1300"/>
              <a:t> for testing, </a:t>
            </a:r>
            <a:endParaRPr sz="1300"/>
          </a:p>
          <a:p>
            <a:pPr indent="0" lvl="0" marL="457200" rtl="0" algn="l">
              <a:lnSpc>
                <a:spcPct val="77000"/>
              </a:lnSpc>
              <a:spcBef>
                <a:spcPts val="0"/>
              </a:spcBef>
              <a:spcAft>
                <a:spcPts val="0"/>
              </a:spcAft>
              <a:buNone/>
            </a:pPr>
            <a:r>
              <a:rPr lang="en-US" sz="1300"/>
              <a:t>	Then we invoke the methods we want to test</a:t>
            </a:r>
            <a:endParaRPr sz="1300"/>
          </a:p>
          <a:p>
            <a:pPr indent="0" lvl="0" marL="457200" rtl="0" algn="l">
              <a:lnSpc>
                <a:spcPct val="77000"/>
              </a:lnSpc>
              <a:spcBef>
                <a:spcPts val="0"/>
              </a:spcBef>
              <a:spcAft>
                <a:spcPts val="0"/>
              </a:spcAft>
              <a:buNone/>
            </a:pPr>
            <a:r>
              <a:rPr lang="en-US" sz="1300"/>
              <a:t>	Then, we evaluate and assert the successfulness of the method execution</a:t>
            </a:r>
            <a:endParaRPr sz="1300"/>
          </a:p>
          <a:p>
            <a:pPr indent="0" lvl="0" marL="457200" rtl="0" algn="l">
              <a:lnSpc>
                <a:spcPct val="77000"/>
              </a:lnSpc>
              <a:spcBef>
                <a:spcPts val="0"/>
              </a:spcBef>
              <a:spcAft>
                <a:spcPts val="0"/>
              </a:spcAft>
              <a:buNone/>
            </a:pPr>
            <a:r>
              <a:rPr lang="en-US" sz="1300"/>
              <a:t>	Last, we close connection to required external </a:t>
            </a:r>
            <a:r>
              <a:rPr lang="en-US" sz="1300"/>
              <a:t>dependencies</a:t>
            </a:r>
            <a:r>
              <a:rPr lang="en-US" sz="1300"/>
              <a:t>, and delete used objects, so that the next test is independent form the last one.</a:t>
            </a:r>
            <a:endParaRPr sz="1300"/>
          </a:p>
        </p:txBody>
      </p:sp>
      <p:sp>
        <p:nvSpPr>
          <p:cNvPr id="198" name="Google Shape;198;g2a9baf7a935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a9b8bd306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2a9b8bd306d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A Mock is one of the available structure to isolate the class under test. It acts as fake object that mimics the behavor of a real object.</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So, following the AAA pattern, when we setup the tests, we actually create Mock objects for the </a:t>
            </a:r>
            <a:r>
              <a:rPr lang="en-US" sz="1800"/>
              <a:t>dependencies required by the Class Under Test.</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Then, when we invoke the functions we are testing, the Class Under Test will use the mocked objects instead of the real ones. </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And the rest is the same as before.</a:t>
            </a:r>
            <a:endParaRPr sz="1800"/>
          </a:p>
        </p:txBody>
      </p:sp>
      <p:sp>
        <p:nvSpPr>
          <p:cNvPr id="206" name="Google Shape;206;g2a9b8bd306d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a6cc3419ed_0_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2a6cc3419ed_0_2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To create mocks, we simply initialize the structure as an attribute in the Test Class annotated with the Mock annotation.\</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Then, when the setup is executed it will instantiate the mockedList.</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Then inside the test, you can verify how does it work:</a:t>
            </a:r>
            <a:endParaRPr sz="1800"/>
          </a:p>
          <a:p>
            <a:pPr indent="-342900" lvl="0" marL="1371600" marR="0" rtl="0" algn="l">
              <a:lnSpc>
                <a:spcPct val="107000"/>
              </a:lnSpc>
              <a:spcBef>
                <a:spcPts val="0"/>
              </a:spcBef>
              <a:spcAft>
                <a:spcPts val="0"/>
              </a:spcAft>
              <a:buSzPts val="1800"/>
              <a:buAutoNum type="arabicPeriod"/>
            </a:pPr>
            <a:r>
              <a:rPr lang="en-US" sz="1800"/>
              <a:t>We add one to the list.</a:t>
            </a:r>
            <a:endParaRPr sz="1800"/>
          </a:p>
          <a:p>
            <a:pPr indent="-342900" lvl="0" marL="1371600" marR="0" rtl="0" algn="l">
              <a:lnSpc>
                <a:spcPct val="107000"/>
              </a:lnSpc>
              <a:spcBef>
                <a:spcPts val="0"/>
              </a:spcBef>
              <a:spcAft>
                <a:spcPts val="0"/>
              </a:spcAft>
              <a:buSzPts val="1800"/>
              <a:buAutoNum type="arabicPeriod"/>
            </a:pPr>
            <a:r>
              <a:rPr lang="en-US" sz="1800"/>
              <a:t>We used the Verify functionality from the mocked list to check if the function “add(one)” was called,</a:t>
            </a:r>
            <a:endParaRPr sz="1800"/>
          </a:p>
          <a:p>
            <a:pPr indent="-342900" lvl="1" marL="2743200" marR="0" rtl="0" algn="l">
              <a:lnSpc>
                <a:spcPct val="107000"/>
              </a:lnSpc>
              <a:spcBef>
                <a:spcPts val="0"/>
              </a:spcBef>
              <a:spcAft>
                <a:spcPts val="0"/>
              </a:spcAft>
              <a:buSzPts val="1800"/>
              <a:buAutoNum type="alphaLcPeriod"/>
            </a:pPr>
            <a:r>
              <a:rPr lang="en-US" sz="1800"/>
              <a:t>This function supports receiving another parameter which represents the number of times we expect it to be called</a:t>
            </a:r>
            <a:endParaRPr sz="1800"/>
          </a:p>
          <a:p>
            <a:pPr indent="-342900" lvl="1" marL="2743200" marR="0" rtl="0" algn="l">
              <a:lnSpc>
                <a:spcPct val="107000"/>
              </a:lnSpc>
              <a:spcBef>
                <a:spcPts val="0"/>
              </a:spcBef>
              <a:spcAft>
                <a:spcPts val="0"/>
              </a:spcAft>
              <a:buSzPts val="1800"/>
              <a:buAutoNum type="alphaLcPeriod"/>
            </a:pPr>
            <a:r>
              <a:rPr lang="en-US" sz="1800"/>
              <a:t>It will fail the test if the function is not called</a:t>
            </a:r>
            <a:endParaRPr sz="1800"/>
          </a:p>
          <a:p>
            <a:pPr indent="-342900" lvl="0" marL="2286000" marR="0" rtl="0" algn="l">
              <a:lnSpc>
                <a:spcPct val="107000"/>
              </a:lnSpc>
              <a:spcBef>
                <a:spcPts val="0"/>
              </a:spcBef>
              <a:spcAft>
                <a:spcPts val="0"/>
              </a:spcAft>
              <a:buSzPts val="1800"/>
              <a:buAutoNum type="arabicPeriod"/>
            </a:pPr>
            <a:r>
              <a:rPr lang="en-US" sz="1800"/>
              <a:t>Then, we assert if the size of the list changed, which it didn’t because the list is not a real object and it will return the default </a:t>
            </a:r>
            <a:r>
              <a:rPr lang="en-US" sz="1800"/>
              <a:t>vault</a:t>
            </a:r>
            <a:r>
              <a:rPr lang="en-US" sz="1800"/>
              <a:t> for integer (0)</a:t>
            </a:r>
            <a:endParaRPr sz="1800"/>
          </a:p>
          <a:p>
            <a:pPr indent="-342900" lvl="0" marL="2286000" marR="0" rtl="0" algn="l">
              <a:lnSpc>
                <a:spcPct val="107000"/>
              </a:lnSpc>
              <a:spcBef>
                <a:spcPts val="0"/>
              </a:spcBef>
              <a:spcAft>
                <a:spcPts val="0"/>
              </a:spcAft>
              <a:buSzPts val="1800"/>
              <a:buAutoNum type="arabicPeriod"/>
            </a:pPr>
            <a:r>
              <a:rPr lang="en-US" sz="1800"/>
              <a:t>Then, we change the default </a:t>
            </a:r>
            <a:r>
              <a:rPr lang="en-US" sz="1800"/>
              <a:t>value</a:t>
            </a:r>
            <a:r>
              <a:rPr lang="en-US" sz="1800"/>
              <a:t> for integer for the function size(), to </a:t>
            </a:r>
            <a:r>
              <a:rPr lang="en-US" sz="1800"/>
              <a:t>return</a:t>
            </a:r>
            <a:r>
              <a:rPr lang="en-US" sz="1800"/>
              <a:t> 100</a:t>
            </a:r>
            <a:endParaRPr sz="1800"/>
          </a:p>
          <a:p>
            <a:pPr indent="-342900" lvl="0" marL="2286000" marR="0" rtl="0" algn="l">
              <a:lnSpc>
                <a:spcPct val="107000"/>
              </a:lnSpc>
              <a:spcBef>
                <a:spcPts val="0"/>
              </a:spcBef>
              <a:spcAft>
                <a:spcPts val="0"/>
              </a:spcAft>
              <a:buSzPts val="1800"/>
              <a:buAutoNum type="arabicPeriod"/>
            </a:pPr>
            <a:r>
              <a:rPr lang="en-US" sz="1800"/>
              <a:t>So when we test it now, it will return 100</a:t>
            </a:r>
            <a:endParaRPr sz="1800"/>
          </a:p>
          <a:p>
            <a:pPr indent="-342900" lvl="1" marL="2743200" marR="0" rtl="0" algn="l">
              <a:lnSpc>
                <a:spcPct val="107000"/>
              </a:lnSpc>
              <a:spcBef>
                <a:spcPts val="0"/>
              </a:spcBef>
              <a:spcAft>
                <a:spcPts val="0"/>
              </a:spcAft>
              <a:buSzPts val="1800"/>
              <a:buAutoNum type="alphaLcPeriod"/>
            </a:pPr>
            <a:r>
              <a:rPr lang="en-US" sz="1800"/>
              <a:t>That’s how we control the behaviour of the mocked objects</a:t>
            </a:r>
            <a:endParaRPr sz="1800"/>
          </a:p>
        </p:txBody>
      </p:sp>
      <p:sp>
        <p:nvSpPr>
          <p:cNvPr id="227" name="Google Shape;227;g2a6cc3419ed_0_2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a9b8bd306d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2a9b8bd306d_0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Now, the spy operates a little different than a Mock. Instead of creating a Mocked object, that is not real, it wraps itself under a real instantiated object.</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It is usually used for Classes that we know for a fact that are robust and don’t have faults, or partially implemented classes.</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They provide the real </a:t>
            </a:r>
            <a:r>
              <a:rPr lang="en-US" sz="1800"/>
              <a:t>object</a:t>
            </a:r>
            <a:r>
              <a:rPr lang="en-US" sz="1800"/>
              <a:t>, the same functionality of the mocked object, where we can observe the behavior and also update the returned value of a specific method.</a:t>
            </a:r>
            <a:endParaRPr sz="1800"/>
          </a:p>
          <a:p>
            <a:pPr indent="0" lvl="1" marL="0" marR="0" rtl="0" algn="l">
              <a:lnSpc>
                <a:spcPct val="107000"/>
              </a:lnSpc>
              <a:spcBef>
                <a:spcPts val="0"/>
              </a:spcBef>
              <a:spcAft>
                <a:spcPts val="0"/>
              </a:spcAft>
              <a:buClr>
                <a:schemeClr val="dk1"/>
              </a:buClr>
              <a:buSzPts val="1800"/>
              <a:buFont typeface="Courier New"/>
              <a:buNone/>
            </a:pPr>
            <a:r>
              <a:t/>
            </a:r>
            <a:endParaRPr sz="1800"/>
          </a:p>
        </p:txBody>
      </p:sp>
      <p:sp>
        <p:nvSpPr>
          <p:cNvPr id="235" name="Google Shape;235;g2a9b8bd306d_0_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a6cc3419ed_0_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2a6cc3419ed_0_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As you can see here in this example, we add the @Spy annotation to an instantiated class. This could also have been done inside the test or the setup, with the invocation of the static function spy().</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In this test we observe the following:</a:t>
            </a:r>
            <a:endParaRPr sz="1800"/>
          </a:p>
          <a:p>
            <a:pPr indent="-342900" lvl="0" marL="1371600" marR="0" rtl="0" algn="l">
              <a:lnSpc>
                <a:spcPct val="107000"/>
              </a:lnSpc>
              <a:spcBef>
                <a:spcPts val="0"/>
              </a:spcBef>
              <a:spcAft>
                <a:spcPts val="0"/>
              </a:spcAft>
              <a:buSzPts val="1800"/>
              <a:buAutoNum type="arabicParenR"/>
            </a:pPr>
            <a:r>
              <a:rPr lang="en-US" sz="1800"/>
              <a:t>We add two items to the list</a:t>
            </a:r>
            <a:endParaRPr sz="1800"/>
          </a:p>
          <a:p>
            <a:pPr indent="-342900" lvl="0" marL="1371600" marR="0" rtl="0" algn="l">
              <a:lnSpc>
                <a:spcPct val="107000"/>
              </a:lnSpc>
              <a:spcBef>
                <a:spcPts val="0"/>
              </a:spcBef>
              <a:spcAft>
                <a:spcPts val="0"/>
              </a:spcAft>
              <a:buSzPts val="1800"/>
              <a:buAutoNum type="arabicParenR"/>
            </a:pPr>
            <a:r>
              <a:rPr lang="en-US" sz="1800"/>
              <a:t>We verify that those items were called</a:t>
            </a:r>
            <a:endParaRPr sz="1800"/>
          </a:p>
          <a:p>
            <a:pPr indent="-342900" lvl="0" marL="1371600" marR="0" rtl="0" algn="l">
              <a:lnSpc>
                <a:spcPct val="107000"/>
              </a:lnSpc>
              <a:spcBef>
                <a:spcPts val="0"/>
              </a:spcBef>
              <a:spcAft>
                <a:spcPts val="0"/>
              </a:spcAft>
              <a:buSzPts val="1800"/>
              <a:buAutoNum type="arabicParenR"/>
            </a:pPr>
            <a:r>
              <a:rPr lang="en-US" sz="1800"/>
              <a:t>We assert whether the size of the list increased, which we </a:t>
            </a:r>
            <a:r>
              <a:rPr lang="en-US" sz="1800"/>
              <a:t>expect to have happened</a:t>
            </a:r>
            <a:endParaRPr sz="1800"/>
          </a:p>
          <a:p>
            <a:pPr indent="-342900" lvl="0" marL="1371600" marR="0" rtl="0" algn="l">
              <a:lnSpc>
                <a:spcPct val="107000"/>
              </a:lnSpc>
              <a:spcBef>
                <a:spcPts val="0"/>
              </a:spcBef>
              <a:spcAft>
                <a:spcPts val="0"/>
              </a:spcAft>
              <a:buSzPts val="1800"/>
              <a:buAutoNum type="arabicParenR"/>
            </a:pPr>
            <a:r>
              <a:rPr lang="en-US" sz="1800"/>
              <a:t>We then change the behavior of the size method of the spied object</a:t>
            </a:r>
            <a:endParaRPr sz="1800"/>
          </a:p>
          <a:p>
            <a:pPr indent="-342900" lvl="0" marL="1371600" marR="0" rtl="0" algn="l">
              <a:lnSpc>
                <a:spcPct val="107000"/>
              </a:lnSpc>
              <a:spcBef>
                <a:spcPts val="0"/>
              </a:spcBef>
              <a:spcAft>
                <a:spcPts val="0"/>
              </a:spcAft>
              <a:buSzPts val="1800"/>
              <a:buAutoNum type="arabicParenR"/>
            </a:pPr>
            <a:r>
              <a:rPr lang="en-US" sz="1800"/>
              <a:t>We assert whether the returned value is now 100</a:t>
            </a:r>
            <a:endParaRPr sz="1800"/>
          </a:p>
        </p:txBody>
      </p:sp>
      <p:sp>
        <p:nvSpPr>
          <p:cNvPr id="257" name="Google Shape;257;g2a6cc3419ed_0_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a7b8d66b26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a7b8d66b26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-&gt; Check README for Demo1</a:t>
            </a:r>
            <a:endParaRPr/>
          </a:p>
        </p:txBody>
      </p:sp>
      <p:sp>
        <p:nvSpPr>
          <p:cNvPr id="265" name="Google Shape;265;g2a7b8d66b26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a7ec279905_3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a7ec279905_3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-Check READEME for demo2</a:t>
            </a:r>
            <a:endParaRPr/>
          </a:p>
          <a:p>
            <a:pPr indent="0" lvl="0" marL="0" rtl="0" algn="l">
              <a:spcBef>
                <a:spcPts val="0"/>
              </a:spcBef>
              <a:spcAft>
                <a:spcPts val="0"/>
              </a:spcAft>
              <a:buNone/>
            </a:pPr>
            <a:r>
              <a:rPr lang="en-US"/>
              <a:t>- This one receives the List&lt;String&gt; history as a parameter in the constructor.</a:t>
            </a:r>
            <a:endParaRPr/>
          </a:p>
        </p:txBody>
      </p:sp>
      <p:sp>
        <p:nvSpPr>
          <p:cNvPr id="276" name="Google Shape;276;g2a7ec279905_3_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a7c26c0f11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a7c26c0f11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So, as we observed in the demo, the way to setup a test following the AAA pattern, but now with mocks, is to include the stubbing operations in the Arrange stage.</a:t>
            </a:r>
            <a:endParaRPr/>
          </a:p>
        </p:txBody>
      </p:sp>
      <p:sp>
        <p:nvSpPr>
          <p:cNvPr id="286" name="Google Shape;286;g2a7c26c0f11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a6cc3419ed_0_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2a6cc3419ed_0_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An important </a:t>
            </a:r>
            <a:r>
              <a:rPr lang="en-US" sz="1800"/>
              <a:t>question is when do we actually use Mocks version using Spies.</a:t>
            </a:r>
            <a:endParaRPr sz="1800"/>
          </a:p>
          <a:p>
            <a:pPr indent="0" lvl="1" marL="457200" marR="0" rtl="0" algn="l">
              <a:lnSpc>
                <a:spcPct val="107000"/>
              </a:lnSpc>
              <a:spcBef>
                <a:spcPts val="0"/>
              </a:spcBef>
              <a:spcAft>
                <a:spcPts val="0"/>
              </a:spcAft>
              <a:buClr>
                <a:schemeClr val="dk1"/>
              </a:buClr>
              <a:buSzPts val="1800"/>
              <a:buFont typeface="Courier New"/>
              <a:buNone/>
            </a:pPr>
            <a:r>
              <a:t/>
            </a:r>
            <a:endParaRPr sz="1800"/>
          </a:p>
          <a:p>
            <a:pPr indent="-342900" lvl="0" marL="457200" marR="0" rtl="0" algn="l">
              <a:lnSpc>
                <a:spcPct val="107000"/>
              </a:lnSpc>
              <a:spcBef>
                <a:spcPts val="0"/>
              </a:spcBef>
              <a:spcAft>
                <a:spcPts val="0"/>
              </a:spcAft>
              <a:buSzPts val="1800"/>
              <a:buChar char="-"/>
            </a:pPr>
            <a:r>
              <a:rPr lang="en-US" sz="1800"/>
              <a:t>Mocks should be used when we don’t have the actual implementation of the dependent classes, or when the real implementation of the dependency is impractical to use, for example, if it uses a database that requires a strenuous setup resources and time.</a:t>
            </a:r>
            <a:endParaRPr sz="1800"/>
          </a:p>
          <a:p>
            <a:pPr indent="0" lvl="0" marL="457200" marR="0" rtl="0" algn="l">
              <a:lnSpc>
                <a:spcPct val="107000"/>
              </a:lnSpc>
              <a:spcBef>
                <a:spcPts val="0"/>
              </a:spcBef>
              <a:spcAft>
                <a:spcPts val="0"/>
              </a:spcAft>
              <a:buNone/>
            </a:pPr>
            <a:r>
              <a:t/>
            </a:r>
            <a:endParaRPr sz="1800"/>
          </a:p>
          <a:p>
            <a:pPr indent="-342900" lvl="0" marL="457200" marR="0" rtl="0" algn="l">
              <a:lnSpc>
                <a:spcPct val="107000"/>
              </a:lnSpc>
              <a:spcBef>
                <a:spcPts val="0"/>
              </a:spcBef>
              <a:spcAft>
                <a:spcPts val="0"/>
              </a:spcAft>
              <a:buSzPts val="1800"/>
              <a:buChar char="-"/>
            </a:pPr>
            <a:r>
              <a:rPr lang="en-US" sz="1800"/>
              <a:t>Spies, on the other hand, as they use the real object, they are better used when we have a working implementation of the dependency we want to use, or whether the tested object is natively bug free, like the libraries that come with the language, which we are confident in their capabilities.</a:t>
            </a:r>
            <a:endParaRPr sz="1800"/>
          </a:p>
        </p:txBody>
      </p:sp>
      <p:sp>
        <p:nvSpPr>
          <p:cNvPr id="294" name="Google Shape;294;g2a6cc3419ed_0_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a6cc3419ed_0_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2a6cc3419ed_0_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1" marL="457200" marR="0" rtl="0" algn="l">
              <a:lnSpc>
                <a:spcPct val="107000"/>
              </a:lnSpc>
              <a:spcBef>
                <a:spcPts val="0"/>
              </a:spcBef>
              <a:spcAft>
                <a:spcPts val="0"/>
              </a:spcAft>
              <a:buClr>
                <a:schemeClr val="dk1"/>
              </a:buClr>
              <a:buSzPts val="1800"/>
              <a:buFont typeface="Courier New"/>
              <a:buNone/>
            </a:pPr>
            <a:r>
              <a:rPr lang="en-US" sz="1800"/>
              <a:t>Although</a:t>
            </a:r>
            <a:r>
              <a:rPr lang="en-US" sz="1800"/>
              <a:t> Mockito is an effective tool for Unit </a:t>
            </a:r>
            <a:r>
              <a:rPr lang="en-US" sz="1800"/>
              <a:t>testing, it presents some limitations that need to be addressed.</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First, in terms of methods, it doesn’t mock private and static method.</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Then, in terms of fields, it doesn’t mock private fields inside the class under test.</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It doesn’t mock constructors.</a:t>
            </a:r>
            <a:endParaRPr sz="1800"/>
          </a:p>
          <a:p>
            <a:pPr indent="0" lvl="1" marL="457200" marR="0" rtl="0" algn="l">
              <a:lnSpc>
                <a:spcPct val="107000"/>
              </a:lnSpc>
              <a:spcBef>
                <a:spcPts val="0"/>
              </a:spcBef>
              <a:spcAft>
                <a:spcPts val="0"/>
              </a:spcAft>
              <a:buClr>
                <a:schemeClr val="dk1"/>
              </a:buClr>
              <a:buSzPts val="1800"/>
              <a:buFont typeface="Courier New"/>
              <a:buNone/>
            </a:pPr>
            <a:r>
              <a:rPr lang="en-US" sz="1800"/>
              <a:t>And can’t mock final methods and final classes.</a:t>
            </a:r>
            <a:endParaRPr sz="1800"/>
          </a:p>
        </p:txBody>
      </p:sp>
      <p:sp>
        <p:nvSpPr>
          <p:cNvPr id="302" name="Google Shape;302;g2a6cc3419ed_0_1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a6cc3419ed_0_2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a6cc3419ed_0_2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address these issues, the only solution, besides using other extensions, are to design the code to be test friendly.</a:t>
            </a:r>
            <a:endParaRPr/>
          </a:p>
          <a:p>
            <a:pPr indent="0" lvl="0" marL="0" rtl="0" algn="l">
              <a:spcBef>
                <a:spcPts val="0"/>
              </a:spcBef>
              <a:spcAft>
                <a:spcPts val="0"/>
              </a:spcAft>
              <a:buNone/>
            </a:pPr>
            <a:r>
              <a:rPr lang="en-US"/>
              <a:t>For example, use constructors that allow for the private classes that will be mocked to be used instead of instantiating inside the constructor.</a:t>
            </a:r>
            <a:endParaRPr/>
          </a:p>
          <a:p>
            <a:pPr indent="0" lvl="0" marL="0" rtl="0" algn="l">
              <a:spcBef>
                <a:spcPts val="0"/>
              </a:spcBef>
              <a:spcAft>
                <a:spcPts val="0"/>
              </a:spcAft>
              <a:buNone/>
            </a:pPr>
            <a:r>
              <a:rPr lang="en-US"/>
              <a:t>Instead of using private methods, rely on public and protected methods, to give more access to more behavior inside the class.</a:t>
            </a:r>
            <a:endParaRPr/>
          </a:p>
          <a:p>
            <a:pPr indent="0" lvl="0" marL="0" rtl="0" algn="l">
              <a:spcBef>
                <a:spcPts val="0"/>
              </a:spcBef>
              <a:spcAft>
                <a:spcPts val="0"/>
              </a:spcAft>
              <a:buNone/>
            </a:pPr>
            <a:r>
              <a:rPr lang="en-US"/>
              <a:t>Use interfaces and abstract classes to abstract the access to other classes and libraries, to increate the flexibility when using Mockito.</a:t>
            </a:r>
            <a:endParaRPr/>
          </a:p>
        </p:txBody>
      </p:sp>
      <p:sp>
        <p:nvSpPr>
          <p:cNvPr id="310" name="Google Shape;310;g2a6cc3419ed_0_26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0dd9eb1c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a0dd9eb1cc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address these issues, the only solution, besides using other extensions, are to design the code to be test friendly.</a:t>
            </a:r>
            <a:endParaRPr/>
          </a:p>
          <a:p>
            <a:pPr indent="0" lvl="0" marL="0" rtl="0" algn="l">
              <a:spcBef>
                <a:spcPts val="0"/>
              </a:spcBef>
              <a:spcAft>
                <a:spcPts val="0"/>
              </a:spcAft>
              <a:buNone/>
            </a:pPr>
            <a:r>
              <a:rPr lang="en-US"/>
              <a:t>For example, use constructors that allow for the private classes that will be mocked to be used instead of instantiating inside the constructor.</a:t>
            </a:r>
            <a:endParaRPr/>
          </a:p>
          <a:p>
            <a:pPr indent="0" lvl="0" marL="0" rtl="0" algn="l">
              <a:spcBef>
                <a:spcPts val="0"/>
              </a:spcBef>
              <a:spcAft>
                <a:spcPts val="0"/>
              </a:spcAft>
              <a:buNone/>
            </a:pPr>
            <a:r>
              <a:rPr lang="en-US"/>
              <a:t>Instead of using private methods, rely on public and protected methods, to give more access to more behavior inside the class.</a:t>
            </a:r>
            <a:endParaRPr/>
          </a:p>
          <a:p>
            <a:pPr indent="0" lvl="0" marL="0" rtl="0" algn="l">
              <a:spcBef>
                <a:spcPts val="0"/>
              </a:spcBef>
              <a:spcAft>
                <a:spcPts val="0"/>
              </a:spcAft>
              <a:buNone/>
            </a:pPr>
            <a:r>
              <a:rPr lang="en-US"/>
              <a:t>Use interfaces and abstract classes to abstract the access to other classes and libraries, to increate the flexibility when using Mockito.</a:t>
            </a:r>
            <a:endParaRPr/>
          </a:p>
        </p:txBody>
      </p:sp>
      <p:sp>
        <p:nvSpPr>
          <p:cNvPr id="319" name="Google Shape;319;g3a0dd9eb1cc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a7ec279905_3_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a7ec279905_3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class should be used when using a second constructor that receives all the fields that we want to mock as </a:t>
            </a:r>
            <a:r>
              <a:rPr lang="en-US"/>
              <a:t>parameters</a:t>
            </a:r>
            <a:r>
              <a:rPr lang="en-US"/>
              <a:t>. By annotating the second constructor with this annotation, it marks this constructor only for test use. It will raise a warning when the constructor is used in production outside of testing scope.</a:t>
            </a:r>
            <a:endParaRPr/>
          </a:p>
        </p:txBody>
      </p:sp>
      <p:sp>
        <p:nvSpPr>
          <p:cNvPr id="327" name="Google Shape;327;g2a7ec279905_3_6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2"/>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27" name="Shape 27"/>
        <p:cNvGrpSpPr/>
        <p:nvPr/>
      </p:nvGrpSpPr>
      <p:grpSpPr>
        <a:xfrm>
          <a:off x="0" y="0"/>
          <a:ext cx="0" cy="0"/>
          <a:chOff x="0" y="0"/>
          <a:chExt cx="0" cy="0"/>
        </a:xfrm>
      </p:grpSpPr>
      <p:sp>
        <p:nvSpPr>
          <p:cNvPr id="28" name="Google Shape;28;p3"/>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 type="body"/>
          </p:nvPr>
        </p:nvSpPr>
        <p:spPr>
          <a:xfrm>
            <a:off x="3600450" y="731520"/>
            <a:ext cx="486918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3"/>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33" name="Google Shape;33;p3"/>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2" name="Shape 42"/>
        <p:cNvGrpSpPr/>
        <p:nvPr/>
      </p:nvGrpSpPr>
      <p:grpSpPr>
        <a:xfrm>
          <a:off x="0" y="0"/>
          <a:ext cx="0" cy="0"/>
          <a:chOff x="0" y="0"/>
          <a:chExt cx="0" cy="0"/>
        </a:xfrm>
      </p:grpSpPr>
      <p:sp>
        <p:nvSpPr>
          <p:cNvPr id="43" name="Google Shape;43;p5"/>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7" name="Google Shape;47;p5"/>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50" name="Google Shape;50;p5"/>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
          <p:cNvSpPr txBox="1"/>
          <p:nvPr>
            <p:ph idx="1" type="body"/>
          </p:nvPr>
        </p:nvSpPr>
        <p:spPr>
          <a:xfrm>
            <a:off x="822960" y="1845735"/>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4" name="Google Shape;54;p6"/>
          <p:cNvSpPr txBox="1"/>
          <p:nvPr>
            <p:ph idx="2" type="body"/>
          </p:nvPr>
        </p:nvSpPr>
        <p:spPr>
          <a:xfrm>
            <a:off x="4663440" y="1845735"/>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1" name="Google Shape;61;p7"/>
          <p:cNvSpPr txBox="1"/>
          <p:nvPr>
            <p:ph idx="2" type="body"/>
          </p:nvPr>
        </p:nvSpPr>
        <p:spPr>
          <a:xfrm>
            <a:off x="822960" y="2582335"/>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7"/>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3" name="Google Shape;63;p7"/>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4" name="Google Shape;64;p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2" name="Shape 72"/>
        <p:cNvGrpSpPr/>
        <p:nvPr/>
      </p:nvGrpSpPr>
      <p:grpSpPr>
        <a:xfrm>
          <a:off x="0" y="0"/>
          <a:ext cx="0" cy="0"/>
          <a:chOff x="0" y="0"/>
          <a:chExt cx="0" cy="0"/>
        </a:xfrm>
      </p:grpSpPr>
      <p:sp>
        <p:nvSpPr>
          <p:cNvPr id="73" name="Google Shape;73;p9"/>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9"/>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0"/>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0"/>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0"/>
          <p:cNvSpPr/>
          <p:nvPr>
            <p:ph idx="2" type="pic"/>
          </p:nvPr>
        </p:nvSpPr>
        <p:spPr>
          <a:xfrm>
            <a:off x="12" y="0"/>
            <a:ext cx="9143989" cy="4915076"/>
          </a:xfrm>
          <a:prstGeom prst="rect">
            <a:avLst/>
          </a:prstGeom>
          <a:solidFill>
            <a:srgbClr val="BECAD4"/>
          </a:solidFill>
          <a:ln>
            <a:noFill/>
          </a:ln>
        </p:spPr>
      </p:sp>
      <p:sp>
        <p:nvSpPr>
          <p:cNvPr id="83" name="Google Shape;83;p10"/>
          <p:cNvSpPr txBox="1"/>
          <p:nvPr>
            <p:ph idx="1" type="body"/>
          </p:nvPr>
        </p:nvSpPr>
        <p:spPr>
          <a:xfrm>
            <a:off x="822960"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1"/>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2"/>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2"/>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2"/>
          <p:cNvSpPr txBox="1"/>
          <p:nvPr>
            <p:ph type="title"/>
          </p:nvPr>
        </p:nvSpPr>
        <p:spPr>
          <a:xfrm rot="5400000">
            <a:off x="4649564" y="2306414"/>
            <a:ext cx="5759898"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2"/>
          <p:cNvSpPr txBox="1"/>
          <p:nvPr>
            <p:ph idx="1" type="body"/>
          </p:nvPr>
        </p:nvSpPr>
        <p:spPr>
          <a:xfrm rot="5400000">
            <a:off x="649064" y="391889"/>
            <a:ext cx="5759898"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a:off x="0" y="6334316"/>
            <a:ext cx="9144001" cy="66484"/>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type="ctrTitle"/>
          </p:nvPr>
        </p:nvSpPr>
        <p:spPr>
          <a:xfrm>
            <a:off x="-36512" y="758952"/>
            <a:ext cx="9180512"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7200"/>
              <a:buFont typeface="Calibri"/>
              <a:buNone/>
            </a:pPr>
            <a:r>
              <a:rPr lang="en-US" sz="7200"/>
              <a:t>Software Quality Engineering</a:t>
            </a:r>
            <a:endParaRPr/>
          </a:p>
        </p:txBody>
      </p:sp>
      <p:sp>
        <p:nvSpPr>
          <p:cNvPr id="107" name="Google Shape;107;p1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
        <p:nvSpPr>
          <p:cNvPr id="108" name="Google Shape;108;p13"/>
          <p:cNvSpPr txBox="1"/>
          <p:nvPr>
            <p:ph idx="1" type="subTitle"/>
          </p:nvPr>
        </p:nvSpPr>
        <p:spPr>
          <a:xfrm>
            <a:off x="822961" y="4455621"/>
            <a:ext cx="7543800" cy="1143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lnSpc>
                <a:spcPct val="90000"/>
              </a:lnSpc>
              <a:spcBef>
                <a:spcPts val="0"/>
              </a:spcBef>
              <a:spcAft>
                <a:spcPts val="0"/>
              </a:spcAft>
              <a:buSzPct val="100000"/>
              <a:buNone/>
            </a:pPr>
            <a:r>
              <a:rPr lang="en-US"/>
              <a:t>PRACTICAL SESSION NO. 2</a:t>
            </a:r>
            <a:endParaRPr/>
          </a:p>
          <a:p>
            <a:pPr indent="0" lvl="0" marL="0" rtl="0" algn="ctr">
              <a:lnSpc>
                <a:spcPct val="90000"/>
              </a:lnSpc>
              <a:spcBef>
                <a:spcPts val="1400"/>
              </a:spcBef>
              <a:spcAft>
                <a:spcPts val="0"/>
              </a:spcAft>
              <a:buSzPct val="100000"/>
              <a:buNone/>
            </a:pPr>
            <a:r>
              <a:rPr lang="en-US"/>
              <a:t>UNIT TESTING - ISOLATION</a:t>
            </a:r>
            <a:endParaRPr/>
          </a:p>
          <a:p>
            <a:pPr indent="0" lvl="0" marL="0" rtl="0" algn="ctr">
              <a:lnSpc>
                <a:spcPct val="90000"/>
              </a:lnSpc>
              <a:spcBef>
                <a:spcPts val="1400"/>
              </a:spcBef>
              <a:spcAft>
                <a:spcPts val="0"/>
              </a:spcAft>
              <a:buSzPct val="100000"/>
              <a:buNone/>
            </a:pPr>
            <a:r>
              <a:t/>
            </a:r>
            <a:endParaRPr/>
          </a:p>
        </p:txBody>
      </p:sp>
      <p:sp>
        <p:nvSpPr>
          <p:cNvPr id="109" name="Google Shape;109;p13"/>
          <p:cNvSpPr/>
          <p:nvPr/>
        </p:nvSpPr>
        <p:spPr>
          <a:xfrm>
            <a:off x="2300392" y="5898993"/>
            <a:ext cx="4543216" cy="4001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alibri"/>
                <a:ea typeface="Calibri"/>
                <a:cs typeface="Calibri"/>
                <a:sym typeface="Calibri"/>
              </a:rPr>
              <a:t>Based on Introduction to Software Testing by University of Minnesota on Coursera and </a:t>
            </a:r>
            <a:r>
              <a:rPr b="0" i="0" lang="en-US" sz="1000" u="none" cap="none" strike="noStrike">
                <a:solidFill>
                  <a:srgbClr val="4A4A4A"/>
                </a:solidFill>
                <a:latin typeface="Arial"/>
                <a:ea typeface="Arial"/>
                <a:cs typeface="Arial"/>
                <a:sym typeface="Arial"/>
              </a:rPr>
              <a:t>Unit tests with Mockito – Tutorial </a:t>
            </a:r>
            <a:r>
              <a:rPr b="0" i="0" lang="en-US" sz="1000" u="none" cap="none" strike="noStrike">
                <a:solidFill>
                  <a:schemeClr val="dk1"/>
                </a:solidFill>
                <a:latin typeface="Calibri"/>
                <a:ea typeface="Calibri"/>
                <a:cs typeface="Calibri"/>
                <a:sym typeface="Calibri"/>
              </a:rPr>
              <a:t>on Vogella</a:t>
            </a:r>
            <a:endParaRPr b="0" i="0" sz="10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4"/>
          <p:cNvSpPr txBox="1"/>
          <p:nvPr>
            <p:ph type="title"/>
          </p:nvPr>
        </p:nvSpPr>
        <p:spPr>
          <a:xfrm>
            <a:off x="342900" y="594359"/>
            <a:ext cx="2400300" cy="22860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rgbClr val="FFFFFF"/>
              </a:buClr>
              <a:buSzPts val="3600"/>
              <a:buFont typeface="Calibri"/>
              <a:buNone/>
            </a:pPr>
            <a:r>
              <a:rPr lang="en-US"/>
              <a:t>Previous Class</a:t>
            </a:r>
            <a:endParaRPr u="sng"/>
          </a:p>
        </p:txBody>
      </p:sp>
      <p:sp>
        <p:nvSpPr>
          <p:cNvPr id="116" name="Google Shape;116;p14"/>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17" name="Google Shape;117;p14"/>
          <p:cNvSpPr txBox="1"/>
          <p:nvPr/>
        </p:nvSpPr>
        <p:spPr>
          <a:xfrm>
            <a:off x="3600450" y="731520"/>
            <a:ext cx="4869300" cy="5257800"/>
          </a:xfrm>
          <a:prstGeom prst="rect">
            <a:avLst/>
          </a:prstGeom>
          <a:noFill/>
          <a:ln>
            <a:noFill/>
          </a:ln>
        </p:spPr>
        <p:txBody>
          <a:bodyPr anchorCtr="0" anchor="t" bIns="45700" lIns="0" spcFirstLastPara="1" rIns="0" wrap="square" tIns="45700">
            <a:normAutofit/>
          </a:bodyPr>
          <a:lstStyle/>
          <a:p>
            <a:pPr indent="-127000" lvl="0" marL="91440" rtl="0" algn="l">
              <a:lnSpc>
                <a:spcPct val="200000"/>
              </a:lnSpc>
              <a:spcBef>
                <a:spcPts val="0"/>
              </a:spcBef>
              <a:spcAft>
                <a:spcPts val="0"/>
              </a:spcAft>
              <a:buClr>
                <a:srgbClr val="1CADE4"/>
              </a:buClr>
              <a:buSzPts val="2000"/>
              <a:buFont typeface="Noto Sans Symbols"/>
              <a:buChar char="❑"/>
            </a:pPr>
            <a:r>
              <a:rPr lang="en-US" sz="1800">
                <a:solidFill>
                  <a:srgbClr val="3F3F3F"/>
                </a:solidFill>
                <a:latin typeface="Calibri"/>
                <a:ea typeface="Calibri"/>
                <a:cs typeface="Calibri"/>
                <a:sym typeface="Calibri"/>
              </a:rPr>
              <a:t> Challenges in software testing.</a:t>
            </a:r>
            <a:endParaRPr sz="1800">
              <a:solidFill>
                <a:srgbClr val="3F3F3F"/>
              </a:solidFill>
              <a:latin typeface="Calibri"/>
              <a:ea typeface="Calibri"/>
              <a:cs typeface="Calibri"/>
              <a:sym typeface="Calibri"/>
            </a:endParaRPr>
          </a:p>
          <a:p>
            <a:pPr indent="-127000" lvl="0" marL="91440" rtl="0" algn="l">
              <a:lnSpc>
                <a:spcPct val="200000"/>
              </a:lnSpc>
              <a:spcBef>
                <a:spcPts val="0"/>
              </a:spcBef>
              <a:spcAft>
                <a:spcPts val="0"/>
              </a:spcAft>
              <a:buClr>
                <a:srgbClr val="1CADE4"/>
              </a:buClr>
              <a:buSzPts val="2000"/>
              <a:buFont typeface="Noto Sans Symbols"/>
              <a:buChar char="❑"/>
            </a:pPr>
            <a:r>
              <a:rPr lang="en-US" sz="1800">
                <a:solidFill>
                  <a:srgbClr val="3F3F3F"/>
                </a:solidFill>
                <a:latin typeface="Calibri"/>
                <a:ea typeface="Calibri"/>
                <a:cs typeface="Calibri"/>
                <a:sym typeface="Calibri"/>
              </a:rPr>
              <a:t> </a:t>
            </a:r>
            <a:r>
              <a:rPr lang="en-US" sz="1800">
                <a:solidFill>
                  <a:srgbClr val="3F3F3F"/>
                </a:solidFill>
                <a:latin typeface="Calibri"/>
                <a:ea typeface="Calibri"/>
                <a:cs typeface="Calibri"/>
                <a:sym typeface="Calibri"/>
              </a:rPr>
              <a:t>Motivation for Testing:</a:t>
            </a:r>
            <a:r>
              <a:rPr lang="en-US" sz="1800">
                <a:solidFill>
                  <a:srgbClr val="3F3F3F"/>
                </a:solidFill>
                <a:latin typeface="Calibri"/>
                <a:ea typeface="Calibri"/>
                <a:cs typeface="Calibri"/>
                <a:sym typeface="Calibri"/>
              </a:rPr>
              <a:t> </a:t>
            </a:r>
            <a:r>
              <a:rPr lang="en-US" sz="1800">
                <a:solidFill>
                  <a:srgbClr val="3F3F3F"/>
                </a:solidFill>
                <a:latin typeface="Calibri"/>
                <a:ea typeface="Calibri"/>
                <a:cs typeface="Calibri"/>
                <a:sym typeface="Calibri"/>
              </a:rPr>
              <a:t>The Zune Killer Bug. </a:t>
            </a:r>
            <a:endParaRPr sz="1800">
              <a:solidFill>
                <a:srgbClr val="3F3F3F"/>
              </a:solidFill>
              <a:latin typeface="Calibri"/>
              <a:ea typeface="Calibri"/>
              <a:cs typeface="Calibri"/>
              <a:sym typeface="Calibri"/>
            </a:endParaRPr>
          </a:p>
          <a:p>
            <a:pPr indent="-127000" lvl="0" marL="91440" rtl="0" algn="l">
              <a:lnSpc>
                <a:spcPct val="200000"/>
              </a:lnSpc>
              <a:spcBef>
                <a:spcPts val="0"/>
              </a:spcBef>
              <a:spcAft>
                <a:spcPts val="0"/>
              </a:spcAft>
              <a:buClr>
                <a:srgbClr val="1CADE4"/>
              </a:buClr>
              <a:buSzPts val="2000"/>
              <a:buFont typeface="Noto Sans Symbols"/>
              <a:buChar char="❑"/>
            </a:pPr>
            <a:r>
              <a:rPr lang="en-US" sz="1800">
                <a:solidFill>
                  <a:srgbClr val="3F3F3F"/>
                </a:solidFill>
                <a:latin typeface="Calibri"/>
                <a:ea typeface="Calibri"/>
                <a:cs typeface="Calibri"/>
                <a:sym typeface="Calibri"/>
              </a:rPr>
              <a:t> </a:t>
            </a:r>
            <a:r>
              <a:rPr lang="en-US" sz="1800">
                <a:solidFill>
                  <a:srgbClr val="3F3F3F"/>
                </a:solidFill>
                <a:latin typeface="Calibri"/>
                <a:ea typeface="Calibri"/>
                <a:cs typeface="Calibri"/>
                <a:sym typeface="Calibri"/>
              </a:rPr>
              <a:t>Introducing Unit Testing.</a:t>
            </a:r>
            <a:endParaRPr sz="1800">
              <a:solidFill>
                <a:srgbClr val="3F3F3F"/>
              </a:solidFill>
              <a:latin typeface="Calibri"/>
              <a:ea typeface="Calibri"/>
              <a:cs typeface="Calibri"/>
              <a:sym typeface="Calibri"/>
            </a:endParaRPr>
          </a:p>
          <a:p>
            <a:pPr indent="-127000" lvl="0" marL="91440" rtl="0" algn="l">
              <a:lnSpc>
                <a:spcPct val="200000"/>
              </a:lnSpc>
              <a:spcBef>
                <a:spcPts val="0"/>
              </a:spcBef>
              <a:spcAft>
                <a:spcPts val="0"/>
              </a:spcAft>
              <a:buClr>
                <a:srgbClr val="1CADE4"/>
              </a:buClr>
              <a:buSzPts val="2000"/>
              <a:buFont typeface="Noto Sans Symbols"/>
              <a:buChar char="❑"/>
            </a:pPr>
            <a:r>
              <a:rPr lang="en-US" sz="1800">
                <a:solidFill>
                  <a:srgbClr val="3F3F3F"/>
                </a:solidFill>
                <a:latin typeface="Calibri"/>
                <a:ea typeface="Calibri"/>
                <a:cs typeface="Calibri"/>
                <a:sym typeface="Calibri"/>
              </a:rPr>
              <a:t> Unit Testing with Junit 5.</a:t>
            </a:r>
            <a:endParaRPr sz="1800">
              <a:solidFill>
                <a:srgbClr val="3F3F3F"/>
              </a:solidFill>
              <a:latin typeface="Calibri"/>
              <a:ea typeface="Calibri"/>
              <a:cs typeface="Calibri"/>
              <a:sym typeface="Calibri"/>
            </a:endParaRPr>
          </a:p>
          <a:p>
            <a:pPr indent="-127000" lvl="0" marL="91440" rtl="0" algn="l">
              <a:lnSpc>
                <a:spcPct val="200000"/>
              </a:lnSpc>
              <a:spcBef>
                <a:spcPts val="0"/>
              </a:spcBef>
              <a:spcAft>
                <a:spcPts val="0"/>
              </a:spcAft>
              <a:buClr>
                <a:srgbClr val="1CADE4"/>
              </a:buClr>
              <a:buSzPts val="2000"/>
              <a:buFont typeface="Noto Sans Symbols"/>
              <a:buChar char="❑"/>
            </a:pPr>
            <a:r>
              <a:rPr lang="en-US" sz="1800">
                <a:solidFill>
                  <a:srgbClr val="3F3F3F"/>
                </a:solidFill>
                <a:latin typeface="Calibri"/>
                <a:ea typeface="Calibri"/>
                <a:cs typeface="Calibri"/>
                <a:sym typeface="Calibri"/>
              </a:rPr>
              <a:t> </a:t>
            </a:r>
            <a:r>
              <a:rPr lang="en-US" sz="1800" u="sng">
                <a:solidFill>
                  <a:srgbClr val="3F3F3F"/>
                </a:solidFill>
                <a:latin typeface="Calibri"/>
                <a:ea typeface="Calibri"/>
                <a:cs typeface="Calibri"/>
                <a:sym typeface="Calibri"/>
              </a:rPr>
              <a:t>Hands On</a:t>
            </a:r>
            <a:r>
              <a:rPr lang="en-US" sz="1800" u="sng">
                <a:solidFill>
                  <a:srgbClr val="3F3F3F"/>
                </a:solidFill>
                <a:latin typeface="Calibri"/>
                <a:ea typeface="Calibri"/>
                <a:cs typeface="Calibri"/>
                <a:sym typeface="Calibri"/>
              </a:rPr>
              <a:t>:</a:t>
            </a:r>
            <a:r>
              <a:rPr lang="en-US" sz="1800">
                <a:solidFill>
                  <a:srgbClr val="3F3F3F"/>
                </a:solidFill>
                <a:latin typeface="Calibri"/>
                <a:ea typeface="Calibri"/>
                <a:cs typeface="Calibri"/>
                <a:sym typeface="Calibri"/>
              </a:rPr>
              <a:t> Testing Calculator Class</a:t>
            </a:r>
            <a:endParaRPr sz="1800">
              <a:solidFill>
                <a:srgbClr val="3F3F3F"/>
              </a:solidFill>
              <a:latin typeface="Calibri"/>
              <a:ea typeface="Calibri"/>
              <a:cs typeface="Calibri"/>
              <a:sym typeface="Calibri"/>
            </a:endParaRPr>
          </a:p>
          <a:p>
            <a:pPr indent="-342900" lvl="1" marL="914400" rtl="0" algn="l">
              <a:lnSpc>
                <a:spcPct val="200000"/>
              </a:lnSpc>
              <a:spcBef>
                <a:spcPts val="0"/>
              </a:spcBef>
              <a:spcAft>
                <a:spcPts val="0"/>
              </a:spcAft>
              <a:buClr>
                <a:srgbClr val="3F3F3F"/>
              </a:buClr>
              <a:buSzPts val="1800"/>
              <a:buFont typeface="Calibri"/>
              <a:buChar char="◦"/>
            </a:pPr>
            <a:r>
              <a:rPr lang="en-US" sz="1800">
                <a:solidFill>
                  <a:srgbClr val="3F3F3F"/>
                </a:solidFill>
                <a:latin typeface="Calibri"/>
                <a:ea typeface="Calibri"/>
                <a:cs typeface="Calibri"/>
                <a:sym typeface="Calibri"/>
              </a:rPr>
              <a:t>Asserts</a:t>
            </a:r>
            <a:endParaRPr sz="1800">
              <a:solidFill>
                <a:srgbClr val="3F3F3F"/>
              </a:solidFill>
              <a:latin typeface="Calibri"/>
              <a:ea typeface="Calibri"/>
              <a:cs typeface="Calibri"/>
              <a:sym typeface="Calibri"/>
            </a:endParaRPr>
          </a:p>
          <a:p>
            <a:pPr indent="-342900" lvl="1" marL="914400" rtl="0" algn="l">
              <a:lnSpc>
                <a:spcPct val="200000"/>
              </a:lnSpc>
              <a:spcBef>
                <a:spcPts val="0"/>
              </a:spcBef>
              <a:spcAft>
                <a:spcPts val="0"/>
              </a:spcAft>
              <a:buClr>
                <a:srgbClr val="3F3F3F"/>
              </a:buClr>
              <a:buSzPts val="1800"/>
              <a:buFont typeface="Calibri"/>
              <a:buChar char="◦"/>
            </a:pPr>
            <a:r>
              <a:rPr lang="en-US" sz="1800">
                <a:solidFill>
                  <a:srgbClr val="3F3F3F"/>
                </a:solidFill>
                <a:latin typeface="Calibri"/>
                <a:ea typeface="Calibri"/>
                <a:cs typeface="Calibri"/>
                <a:sym typeface="Calibri"/>
              </a:rPr>
              <a:t>Annotations</a:t>
            </a:r>
            <a:endParaRPr sz="1800">
              <a:solidFill>
                <a:srgbClr val="3F3F3F"/>
              </a:solidFill>
              <a:latin typeface="Calibri"/>
              <a:ea typeface="Calibri"/>
              <a:cs typeface="Calibri"/>
              <a:sym typeface="Calibri"/>
            </a:endParaRPr>
          </a:p>
          <a:p>
            <a:pPr indent="-342900" lvl="1" marL="914400" rtl="0" algn="l">
              <a:lnSpc>
                <a:spcPct val="200000"/>
              </a:lnSpc>
              <a:spcBef>
                <a:spcPts val="0"/>
              </a:spcBef>
              <a:spcAft>
                <a:spcPts val="0"/>
              </a:spcAft>
              <a:buClr>
                <a:srgbClr val="3F3F3F"/>
              </a:buClr>
              <a:buSzPts val="1800"/>
              <a:buFont typeface="Calibri"/>
              <a:buChar char="◦"/>
            </a:pPr>
            <a:r>
              <a:rPr lang="en-US" sz="1800">
                <a:solidFill>
                  <a:srgbClr val="3F3F3F"/>
                </a:solidFill>
                <a:latin typeface="Calibri"/>
                <a:ea typeface="Calibri"/>
                <a:cs typeface="Calibri"/>
                <a:sym typeface="Calibri"/>
              </a:rPr>
              <a:t>Parameterized Tests</a:t>
            </a:r>
            <a:endParaRPr sz="1800">
              <a:solidFill>
                <a:srgbClr val="3F3F3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5"/>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FFFFFF"/>
              </a:buClr>
              <a:buSzPts val="3600"/>
              <a:buFont typeface="Calibri"/>
              <a:buNone/>
            </a:pPr>
            <a:r>
              <a:rPr lang="en-US"/>
              <a:t>Agenda</a:t>
            </a:r>
            <a:endParaRPr/>
          </a:p>
        </p:txBody>
      </p:sp>
      <p:sp>
        <p:nvSpPr>
          <p:cNvPr id="124" name="Google Shape;124;p1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25" name="Google Shape;125;p15"/>
          <p:cNvSpPr txBox="1"/>
          <p:nvPr/>
        </p:nvSpPr>
        <p:spPr>
          <a:xfrm>
            <a:off x="3526825" y="489125"/>
            <a:ext cx="5122800" cy="5650800"/>
          </a:xfrm>
          <a:prstGeom prst="rect">
            <a:avLst/>
          </a:prstGeom>
          <a:noFill/>
          <a:ln>
            <a:noFill/>
          </a:ln>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Isolation in Unit Testing</a:t>
            </a:r>
            <a:endParaRPr sz="2000">
              <a:solidFill>
                <a:srgbClr val="3F3F3F"/>
              </a:solidFill>
              <a:latin typeface="Calibri"/>
              <a:ea typeface="Calibri"/>
              <a:cs typeface="Calibri"/>
              <a:sym typeface="Calibri"/>
            </a:endParaRPr>
          </a:p>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Why to isolate Unit Under Test</a:t>
            </a:r>
            <a:endParaRPr sz="2000">
              <a:solidFill>
                <a:srgbClr val="3F3F3F"/>
              </a:solidFill>
              <a:latin typeface="Calibri"/>
              <a:ea typeface="Calibri"/>
              <a:cs typeface="Calibri"/>
              <a:sym typeface="Calibri"/>
            </a:endParaRPr>
          </a:p>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Isolation Overview</a:t>
            </a:r>
            <a:endParaRPr sz="2000">
              <a:solidFill>
                <a:srgbClr val="3F3F3F"/>
              </a:solidFill>
              <a:latin typeface="Calibri"/>
              <a:ea typeface="Calibri"/>
              <a:cs typeface="Calibri"/>
              <a:sym typeface="Calibri"/>
            </a:endParaRPr>
          </a:p>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Mockito Framework</a:t>
            </a:r>
            <a:endParaRPr sz="2000">
              <a:solidFill>
                <a:srgbClr val="3F3F3F"/>
              </a:solidFill>
              <a:latin typeface="Calibri"/>
              <a:ea typeface="Calibri"/>
              <a:cs typeface="Calibri"/>
              <a:sym typeface="Calibri"/>
            </a:endParaRPr>
          </a:p>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Mocks vs Spies</a:t>
            </a:r>
            <a:endParaRPr sz="2000">
              <a:solidFill>
                <a:srgbClr val="3F3F3F"/>
              </a:solidFill>
              <a:latin typeface="Calibri"/>
              <a:ea typeface="Calibri"/>
              <a:cs typeface="Calibri"/>
              <a:sym typeface="Calibri"/>
            </a:endParaRPr>
          </a:p>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Mockito Limitations</a:t>
            </a:r>
            <a:endParaRPr sz="2000">
              <a:solidFill>
                <a:srgbClr val="3F3F3F"/>
              </a:solidFill>
              <a:latin typeface="Calibri"/>
              <a:ea typeface="Calibri"/>
              <a:cs typeface="Calibri"/>
              <a:sym typeface="Calibri"/>
            </a:endParaRPr>
          </a:p>
          <a:p>
            <a:pPr indent="-355600" lvl="0" marL="457200" rtl="0" algn="l">
              <a:lnSpc>
                <a:spcPct val="200000"/>
              </a:lnSpc>
              <a:spcBef>
                <a:spcPts val="0"/>
              </a:spcBef>
              <a:spcAft>
                <a:spcPts val="0"/>
              </a:spcAft>
              <a:buClr>
                <a:schemeClr val="accent1"/>
              </a:buClr>
              <a:buSzPts val="2000"/>
              <a:buFont typeface="Calibri"/>
              <a:buChar char="➮"/>
            </a:pPr>
            <a:r>
              <a:rPr lang="en-US" sz="2000">
                <a:solidFill>
                  <a:srgbClr val="3F3F3F"/>
                </a:solidFill>
                <a:latin typeface="Calibri"/>
                <a:ea typeface="Calibri"/>
                <a:cs typeface="Calibri"/>
                <a:sym typeface="Calibri"/>
              </a:rPr>
              <a:t>Designing for Testability</a:t>
            </a:r>
            <a:endParaRPr sz="2000">
              <a:solidFill>
                <a:srgbClr val="3F3F3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Isolation in Unit Testing</a:t>
            </a:r>
            <a:endParaRPr/>
          </a:p>
        </p:txBody>
      </p:sp>
      <p:sp>
        <p:nvSpPr>
          <p:cNvPr id="132" name="Google Shape;132;p1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33" name="Google Shape;133;p16"/>
          <p:cNvSpPr txBox="1"/>
          <p:nvPr>
            <p:ph idx="1" type="body"/>
          </p:nvPr>
        </p:nvSpPr>
        <p:spPr>
          <a:xfrm>
            <a:off x="817528" y="2060848"/>
            <a:ext cx="7912687" cy="2520279"/>
          </a:xfrm>
          <a:prstGeom prst="rect">
            <a:avLst/>
          </a:prstGeom>
          <a:noFill/>
          <a:ln>
            <a:noFill/>
          </a:ln>
        </p:spPr>
        <p:txBody>
          <a:bodyPr anchorCtr="0" anchor="t" bIns="45700" lIns="0" spcFirstLastPara="1" rIns="0" wrap="square" tIns="45700">
            <a:normAutofit/>
          </a:bodyPr>
          <a:lstStyle/>
          <a:p>
            <a:pPr indent="0" lvl="0" marL="0" marR="0" rtl="0" algn="l">
              <a:lnSpc>
                <a:spcPct val="150000"/>
              </a:lnSpc>
              <a:spcBef>
                <a:spcPts val="1400"/>
              </a:spcBef>
              <a:spcAft>
                <a:spcPts val="0"/>
              </a:spcAft>
              <a:buSzPts val="1800"/>
              <a:buNone/>
            </a:pPr>
            <a:r>
              <a:rPr lang="en-US">
                <a:solidFill>
                  <a:srgbClr val="374151"/>
                </a:solidFill>
              </a:rPr>
              <a:t>Unit tests must operate independently, free from external dependencies or environment-specific settings.</a:t>
            </a:r>
            <a:endParaRPr sz="2600">
              <a:solidFill>
                <a:schemeClr val="dk1"/>
              </a:solidFill>
            </a:endParaRPr>
          </a:p>
        </p:txBody>
      </p:sp>
      <p:sp>
        <p:nvSpPr>
          <p:cNvPr id="134" name="Google Shape;134;p16"/>
          <p:cNvSpPr/>
          <p:nvPr/>
        </p:nvSpPr>
        <p:spPr>
          <a:xfrm>
            <a:off x="1971821" y="2918247"/>
            <a:ext cx="6758400" cy="3312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ph type="title"/>
          </p:nvPr>
        </p:nvSpPr>
        <p:spPr>
          <a:xfrm>
            <a:off x="675060" y="594954"/>
            <a:ext cx="8321100" cy="1450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US" sz="4300"/>
              <a:t>Characteristics of Isolated Unit Tests</a:t>
            </a:r>
            <a:endParaRPr sz="4300"/>
          </a:p>
        </p:txBody>
      </p:sp>
      <p:sp>
        <p:nvSpPr>
          <p:cNvPr id="141" name="Google Shape;141;p17"/>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42" name="Google Shape;142;p17"/>
          <p:cNvSpPr txBox="1"/>
          <p:nvPr>
            <p:ph idx="1" type="body"/>
          </p:nvPr>
        </p:nvSpPr>
        <p:spPr>
          <a:xfrm>
            <a:off x="817525" y="2134851"/>
            <a:ext cx="7912800" cy="3822600"/>
          </a:xfrm>
          <a:prstGeom prst="rect">
            <a:avLst/>
          </a:prstGeom>
          <a:noFill/>
          <a:ln>
            <a:noFill/>
          </a:ln>
        </p:spPr>
        <p:txBody>
          <a:bodyPr anchorCtr="0" anchor="t" bIns="45700" lIns="0" spcFirstLastPara="1" rIns="0" wrap="square" tIns="45700">
            <a:noAutofit/>
          </a:bodyPr>
          <a:lstStyle/>
          <a:p>
            <a:pPr indent="0" lvl="0" marL="50800" rtl="0" algn="l">
              <a:lnSpc>
                <a:spcPct val="115000"/>
              </a:lnSpc>
              <a:spcBef>
                <a:spcPts val="0"/>
              </a:spcBef>
              <a:spcAft>
                <a:spcPts val="0"/>
              </a:spcAft>
              <a:buClr>
                <a:srgbClr val="374151"/>
              </a:buClr>
              <a:buSzPts val="1200"/>
              <a:buFont typeface="Roboto"/>
              <a:buNone/>
            </a:pPr>
            <a:r>
              <a:rPr lang="en-US" u="sng">
                <a:solidFill>
                  <a:srgbClr val="374151"/>
                </a:solidFill>
              </a:rPr>
              <a:t>No External Dependencies:</a:t>
            </a:r>
            <a:endParaRPr u="sng">
              <a:solidFill>
                <a:srgbClr val="374151"/>
              </a:solidFill>
            </a:endParaRPr>
          </a:p>
          <a:p>
            <a:pPr indent="-355600" lvl="0" marL="508000" rtl="0" algn="l">
              <a:lnSpc>
                <a:spcPct val="115000"/>
              </a:lnSpc>
              <a:spcBef>
                <a:spcPts val="0"/>
              </a:spcBef>
              <a:spcAft>
                <a:spcPts val="0"/>
              </a:spcAft>
              <a:buClr>
                <a:srgbClr val="374151"/>
              </a:buClr>
              <a:buSzPts val="2000"/>
              <a:buFont typeface="Calibri"/>
              <a:buChar char="●"/>
            </a:pPr>
            <a:r>
              <a:rPr lang="en-US">
                <a:solidFill>
                  <a:srgbClr val="374151"/>
                </a:solidFill>
              </a:rPr>
              <a:t>Avoid reliance on databases, network resources, or external systems.</a:t>
            </a:r>
            <a:endParaRPr>
              <a:solidFill>
                <a:srgbClr val="374151"/>
              </a:solidFill>
            </a:endParaRPr>
          </a:p>
          <a:p>
            <a:pPr indent="-355600" lvl="0" marL="508000" rtl="0" algn="l">
              <a:lnSpc>
                <a:spcPct val="115000"/>
              </a:lnSpc>
              <a:spcBef>
                <a:spcPts val="0"/>
              </a:spcBef>
              <a:spcAft>
                <a:spcPts val="0"/>
              </a:spcAft>
              <a:buClr>
                <a:srgbClr val="374151"/>
              </a:buClr>
              <a:buSzPts val="2000"/>
              <a:buFont typeface="Calibri"/>
              <a:buChar char="●"/>
            </a:pPr>
            <a:r>
              <a:rPr lang="en-US">
                <a:solidFill>
                  <a:srgbClr val="374151"/>
                </a:solidFill>
              </a:rPr>
              <a:t>Use mocks or stubs to simulate interactions with external components.</a:t>
            </a:r>
            <a:endParaRPr>
              <a:solidFill>
                <a:srgbClr val="374151"/>
              </a:solidFill>
            </a:endParaRPr>
          </a:p>
          <a:p>
            <a:pPr indent="0" lvl="0" marL="457200" rtl="0" algn="l">
              <a:lnSpc>
                <a:spcPct val="115000"/>
              </a:lnSpc>
              <a:spcBef>
                <a:spcPts val="0"/>
              </a:spcBef>
              <a:spcAft>
                <a:spcPts val="0"/>
              </a:spcAft>
              <a:buNone/>
            </a:pPr>
            <a:r>
              <a:t/>
            </a:r>
            <a:endParaRPr>
              <a:solidFill>
                <a:srgbClr val="374151"/>
              </a:solidFill>
            </a:endParaRPr>
          </a:p>
          <a:p>
            <a:pPr indent="0" lvl="0" marL="50800" rtl="0" algn="l">
              <a:lnSpc>
                <a:spcPct val="115000"/>
              </a:lnSpc>
              <a:spcBef>
                <a:spcPts val="0"/>
              </a:spcBef>
              <a:spcAft>
                <a:spcPts val="0"/>
              </a:spcAft>
              <a:buClr>
                <a:srgbClr val="374151"/>
              </a:buClr>
              <a:buSzPts val="1200"/>
              <a:buFont typeface="Roboto"/>
              <a:buNone/>
            </a:pPr>
            <a:r>
              <a:rPr lang="en-US" u="sng">
                <a:solidFill>
                  <a:srgbClr val="374151"/>
                </a:solidFill>
              </a:rPr>
              <a:t>Focused Scope:</a:t>
            </a:r>
            <a:endParaRPr u="sng">
              <a:solidFill>
                <a:srgbClr val="374151"/>
              </a:solidFill>
            </a:endParaRPr>
          </a:p>
          <a:p>
            <a:pPr indent="-355600" lvl="0" marL="508000" rtl="0" algn="l">
              <a:lnSpc>
                <a:spcPct val="115000"/>
              </a:lnSpc>
              <a:spcBef>
                <a:spcPts val="0"/>
              </a:spcBef>
              <a:spcAft>
                <a:spcPts val="0"/>
              </a:spcAft>
              <a:buClr>
                <a:srgbClr val="374151"/>
              </a:buClr>
              <a:buSzPts val="2000"/>
              <a:buFont typeface="Calibri"/>
              <a:buChar char="●"/>
            </a:pPr>
            <a:r>
              <a:rPr lang="en-US">
                <a:solidFill>
                  <a:srgbClr val="374151"/>
                </a:solidFill>
              </a:rPr>
              <a:t>Concentrate on </a:t>
            </a:r>
            <a:r>
              <a:rPr lang="en-US" u="sng">
                <a:solidFill>
                  <a:srgbClr val="374151"/>
                </a:solidFill>
              </a:rPr>
              <a:t>testing a single class</a:t>
            </a:r>
            <a:r>
              <a:rPr lang="en-US">
                <a:solidFill>
                  <a:srgbClr val="374151"/>
                </a:solidFill>
              </a:rPr>
              <a:t> or a small unit of functionality.</a:t>
            </a:r>
            <a:endParaRPr>
              <a:solidFill>
                <a:srgbClr val="374151"/>
              </a:solidFill>
            </a:endParaRPr>
          </a:p>
          <a:p>
            <a:pPr indent="-355600" lvl="0" marL="508000" rtl="0" algn="l">
              <a:lnSpc>
                <a:spcPct val="115000"/>
              </a:lnSpc>
              <a:spcBef>
                <a:spcPts val="0"/>
              </a:spcBef>
              <a:spcAft>
                <a:spcPts val="0"/>
              </a:spcAft>
              <a:buClr>
                <a:srgbClr val="374151"/>
              </a:buClr>
              <a:buSzPts val="2000"/>
              <a:buFont typeface="Calibri"/>
              <a:buChar char="●"/>
            </a:pPr>
            <a:r>
              <a:rPr lang="en-US">
                <a:solidFill>
                  <a:srgbClr val="374151"/>
                </a:solidFill>
              </a:rPr>
              <a:t>Ensure each test is narrowly targeted and does </a:t>
            </a:r>
            <a:r>
              <a:rPr lang="en-US" u="sng">
                <a:solidFill>
                  <a:srgbClr val="374151"/>
                </a:solidFill>
              </a:rPr>
              <a:t>not overlap with integration or functional tests</a:t>
            </a:r>
            <a:r>
              <a:rPr lang="en-US">
                <a:solidFill>
                  <a:srgbClr val="374151"/>
                </a:solidFill>
              </a:rPr>
              <a:t>.</a:t>
            </a:r>
            <a:endParaRPr>
              <a:solidFill>
                <a:srgbClr val="374151"/>
              </a:solidFill>
            </a:endParaRPr>
          </a:p>
          <a:p>
            <a:pPr indent="0" lvl="0" marL="0" marR="0" rtl="0" algn="l">
              <a:lnSpc>
                <a:spcPct val="115000"/>
              </a:lnSpc>
              <a:spcBef>
                <a:spcPts val="1400"/>
              </a:spcBef>
              <a:spcAft>
                <a:spcPts val="0"/>
              </a:spcAft>
              <a:buSzPts val="1800"/>
              <a:buNone/>
            </a:pPr>
            <a:r>
              <a:t/>
            </a:r>
            <a:endParaRPr sz="2600">
              <a:solidFill>
                <a:srgbClr val="37415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Motivation Behind Isolation</a:t>
            </a:r>
            <a:r>
              <a:rPr lang="en-US" sz="4600"/>
              <a:t> </a:t>
            </a:r>
            <a:endParaRPr/>
          </a:p>
        </p:txBody>
      </p:sp>
      <p:sp>
        <p:nvSpPr>
          <p:cNvPr id="149" name="Google Shape;149;p1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50" name="Google Shape;150;p18"/>
          <p:cNvSpPr txBox="1"/>
          <p:nvPr/>
        </p:nvSpPr>
        <p:spPr>
          <a:xfrm>
            <a:off x="1084425" y="2084525"/>
            <a:ext cx="6802500" cy="4512900"/>
          </a:xfrm>
          <a:prstGeom prst="rect">
            <a:avLst/>
          </a:prstGeom>
          <a:noFill/>
          <a:ln>
            <a:noFill/>
          </a:ln>
        </p:spPr>
        <p:txBody>
          <a:bodyPr anchorCtr="0" anchor="t" bIns="91425" lIns="91425" spcFirstLastPara="1" rIns="91425" wrap="square" tIns="91425">
            <a:spAutoFit/>
          </a:bodyPr>
          <a:lstStyle/>
          <a:p>
            <a:pPr indent="-228600" lvl="0" marL="457200" rtl="0" algn="l">
              <a:lnSpc>
                <a:spcPct val="115000"/>
              </a:lnSpc>
              <a:spcBef>
                <a:spcPts val="1500"/>
              </a:spcBef>
              <a:spcAft>
                <a:spcPts val="0"/>
              </a:spcAft>
              <a:buClr>
                <a:srgbClr val="374151"/>
              </a:buClr>
              <a:buSzPts val="1900"/>
              <a:buFont typeface="Calibri"/>
              <a:buNone/>
            </a:pPr>
            <a:r>
              <a:rPr b="1" lang="en-US" sz="1900">
                <a:solidFill>
                  <a:srgbClr val="374151"/>
                </a:solidFill>
                <a:latin typeface="Calibri"/>
                <a:ea typeface="Calibri"/>
                <a:cs typeface="Calibri"/>
                <a:sym typeface="Calibri"/>
              </a:rPr>
              <a:t>Simplifying Debugging and Maintenance:</a:t>
            </a:r>
            <a:endParaRPr b="1" sz="1900">
              <a:solidFill>
                <a:srgbClr val="374151"/>
              </a:solidFill>
              <a:latin typeface="Calibri"/>
              <a:ea typeface="Calibri"/>
              <a:cs typeface="Calibri"/>
              <a:sym typeface="Calibri"/>
            </a:endParaRPr>
          </a:p>
          <a:p>
            <a:pPr indent="-349250" lvl="1" marL="914400" rtl="0" algn="l">
              <a:lnSpc>
                <a:spcPct val="115000"/>
              </a:lnSpc>
              <a:spcBef>
                <a:spcPts val="0"/>
              </a:spcBef>
              <a:spcAft>
                <a:spcPts val="0"/>
              </a:spcAft>
              <a:buClr>
                <a:srgbClr val="374151"/>
              </a:buClr>
              <a:buSzPts val="1900"/>
              <a:buFont typeface="Calibri"/>
              <a:buChar char="●"/>
            </a:pPr>
            <a:r>
              <a:rPr lang="en-US" sz="1900">
                <a:solidFill>
                  <a:srgbClr val="374151"/>
                </a:solidFill>
                <a:latin typeface="Calibri"/>
                <a:ea typeface="Calibri"/>
                <a:cs typeface="Calibri"/>
                <a:sym typeface="Calibri"/>
              </a:rPr>
              <a:t>Easier to pinpoint the source of an issue in an isolated environment.</a:t>
            </a:r>
            <a:endParaRPr sz="1900">
              <a:solidFill>
                <a:srgbClr val="374151"/>
              </a:solidFill>
              <a:latin typeface="Calibri"/>
              <a:ea typeface="Calibri"/>
              <a:cs typeface="Calibri"/>
              <a:sym typeface="Calibri"/>
            </a:endParaRPr>
          </a:p>
          <a:p>
            <a:pPr indent="-349250" lvl="1" marL="914400" rtl="0" algn="l">
              <a:lnSpc>
                <a:spcPct val="115000"/>
              </a:lnSpc>
              <a:spcBef>
                <a:spcPts val="0"/>
              </a:spcBef>
              <a:spcAft>
                <a:spcPts val="0"/>
              </a:spcAft>
              <a:buClr>
                <a:srgbClr val="374151"/>
              </a:buClr>
              <a:buSzPts val="1900"/>
              <a:buFont typeface="Calibri"/>
              <a:buChar char="●"/>
            </a:pPr>
            <a:r>
              <a:rPr lang="en-US" sz="1900">
                <a:solidFill>
                  <a:srgbClr val="374151"/>
                </a:solidFill>
                <a:latin typeface="Calibri"/>
                <a:ea typeface="Calibri"/>
                <a:cs typeface="Calibri"/>
                <a:sym typeface="Calibri"/>
              </a:rPr>
              <a:t>Changes in one part of the code have no impact on isolated units.</a:t>
            </a:r>
            <a:endParaRPr sz="1900">
              <a:solidFill>
                <a:srgbClr val="374151"/>
              </a:solidFill>
              <a:latin typeface="Calibri"/>
              <a:ea typeface="Calibri"/>
              <a:cs typeface="Calibri"/>
              <a:sym typeface="Calibri"/>
            </a:endParaRPr>
          </a:p>
          <a:p>
            <a:pPr indent="-349250" lvl="1" marL="914400" rtl="0" algn="l">
              <a:lnSpc>
                <a:spcPct val="115000"/>
              </a:lnSpc>
              <a:spcBef>
                <a:spcPts val="0"/>
              </a:spcBef>
              <a:spcAft>
                <a:spcPts val="0"/>
              </a:spcAft>
              <a:buClr>
                <a:srgbClr val="374151"/>
              </a:buClr>
              <a:buSzPts val="1900"/>
              <a:buFont typeface="Calibri"/>
              <a:buChar char="●"/>
            </a:pPr>
            <a:r>
              <a:rPr lang="en-US" sz="1900">
                <a:solidFill>
                  <a:srgbClr val="374151"/>
                </a:solidFill>
                <a:latin typeface="Calibri"/>
                <a:ea typeface="Calibri"/>
                <a:cs typeface="Calibri"/>
                <a:sym typeface="Calibri"/>
              </a:rPr>
              <a:t>Faster execution of unit tests.</a:t>
            </a:r>
            <a:endParaRPr sz="19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900"/>
              <a:buFont typeface="Calibri"/>
              <a:buNone/>
            </a:pPr>
            <a:r>
              <a:t/>
            </a:r>
            <a:endParaRPr b="1" sz="19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900"/>
              <a:buFont typeface="Calibri"/>
              <a:buNone/>
            </a:pPr>
            <a:r>
              <a:rPr b="1" lang="en-US" sz="1900">
                <a:solidFill>
                  <a:srgbClr val="374151"/>
                </a:solidFill>
                <a:latin typeface="Calibri"/>
                <a:ea typeface="Calibri"/>
                <a:cs typeface="Calibri"/>
                <a:sym typeface="Calibri"/>
              </a:rPr>
              <a:t>Revealing Unnecessary Dependencies:</a:t>
            </a:r>
            <a:endParaRPr b="1" sz="1900">
              <a:solidFill>
                <a:srgbClr val="374151"/>
              </a:solidFill>
              <a:latin typeface="Calibri"/>
              <a:ea typeface="Calibri"/>
              <a:cs typeface="Calibri"/>
              <a:sym typeface="Calibri"/>
            </a:endParaRPr>
          </a:p>
          <a:p>
            <a:pPr indent="-349250" lvl="1" marL="914400" rtl="0" algn="l">
              <a:lnSpc>
                <a:spcPct val="115000"/>
              </a:lnSpc>
              <a:spcBef>
                <a:spcPts val="0"/>
              </a:spcBef>
              <a:spcAft>
                <a:spcPts val="0"/>
              </a:spcAft>
              <a:buClr>
                <a:srgbClr val="374151"/>
              </a:buClr>
              <a:buSzPts val="1900"/>
              <a:buFont typeface="Calibri"/>
              <a:buChar char="●"/>
            </a:pPr>
            <a:r>
              <a:rPr lang="en-US" sz="1900">
                <a:solidFill>
                  <a:srgbClr val="374151"/>
                </a:solidFill>
                <a:latin typeface="Calibri"/>
                <a:ea typeface="Calibri"/>
                <a:cs typeface="Calibri"/>
                <a:sym typeface="Calibri"/>
              </a:rPr>
              <a:t>Isolation highlights tight coupling between classes.</a:t>
            </a:r>
            <a:endParaRPr sz="1900">
              <a:solidFill>
                <a:srgbClr val="374151"/>
              </a:solidFill>
              <a:latin typeface="Calibri"/>
              <a:ea typeface="Calibri"/>
              <a:cs typeface="Calibri"/>
              <a:sym typeface="Calibri"/>
            </a:endParaRPr>
          </a:p>
          <a:p>
            <a:pPr indent="-349250" lvl="1" marL="914400" rtl="0" algn="l">
              <a:lnSpc>
                <a:spcPct val="115000"/>
              </a:lnSpc>
              <a:spcBef>
                <a:spcPts val="0"/>
              </a:spcBef>
              <a:spcAft>
                <a:spcPts val="0"/>
              </a:spcAft>
              <a:buClr>
                <a:srgbClr val="374151"/>
              </a:buClr>
              <a:buSzPts val="1900"/>
              <a:buFont typeface="Calibri"/>
              <a:buChar char="●"/>
            </a:pPr>
            <a:r>
              <a:rPr lang="en-US" sz="1900">
                <a:solidFill>
                  <a:srgbClr val="374151"/>
                </a:solidFill>
                <a:latin typeface="Calibri"/>
                <a:ea typeface="Calibri"/>
                <a:cs typeface="Calibri"/>
                <a:sym typeface="Calibri"/>
              </a:rPr>
              <a:t>Helps identify and remove dependencies that aren't essential.</a:t>
            </a:r>
            <a:endParaRPr sz="19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900"/>
              <a:buFont typeface="Calibri"/>
              <a:buNone/>
            </a:pPr>
            <a:r>
              <a:t/>
            </a:r>
            <a:endParaRPr sz="1900">
              <a:solidFill>
                <a:srgbClr val="374151"/>
              </a:solidFill>
              <a:latin typeface="Calibri"/>
              <a:ea typeface="Calibri"/>
              <a:cs typeface="Calibri"/>
              <a:sym typeface="Calibri"/>
            </a:endParaRPr>
          </a:p>
          <a:p>
            <a:pPr indent="-228600" lvl="0" marL="457200" rtl="0" algn="l">
              <a:lnSpc>
                <a:spcPct val="115000"/>
              </a:lnSpc>
              <a:spcBef>
                <a:spcPts val="0"/>
              </a:spcBef>
              <a:spcAft>
                <a:spcPts val="0"/>
              </a:spcAft>
              <a:buClr>
                <a:srgbClr val="374151"/>
              </a:buClr>
              <a:buSzPts val="1900"/>
              <a:buFont typeface="Calibri"/>
              <a:buNone/>
            </a:pPr>
            <a:r>
              <a:t/>
            </a:r>
            <a:endParaRPr sz="1900">
              <a:solidFill>
                <a:srgbClr val="37415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Isolation Example Overview</a:t>
            </a:r>
            <a:endParaRPr/>
          </a:p>
        </p:txBody>
      </p:sp>
      <p:sp>
        <p:nvSpPr>
          <p:cNvPr id="157" name="Google Shape;157;p19"/>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58" name="Google Shape;158;p19"/>
          <p:cNvSpPr/>
          <p:nvPr/>
        </p:nvSpPr>
        <p:spPr>
          <a:xfrm>
            <a:off x="822955" y="2063203"/>
            <a:ext cx="7515300" cy="3845100"/>
          </a:xfrm>
          <a:prstGeom prst="rect">
            <a:avLst/>
          </a:prstGeom>
          <a:blipFill rotWithShape="1">
            <a:blip r:embed="rId3">
              <a:alphaModFix/>
            </a:blip>
            <a:stretch>
              <a:fillRect b="0" l="0" r="0" t="0"/>
            </a:stretch>
          </a:blip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19"/>
          <p:cNvSpPr txBox="1"/>
          <p:nvPr/>
        </p:nvSpPr>
        <p:spPr>
          <a:xfrm>
            <a:off x="4284175" y="2063191"/>
            <a:ext cx="106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262626"/>
                </a:solidFill>
                <a:latin typeface="Calibri"/>
                <a:ea typeface="Calibri"/>
                <a:cs typeface="Calibri"/>
                <a:sym typeface="Calibri"/>
              </a:rPr>
              <a:t>(JUnit)</a:t>
            </a:r>
            <a:endParaRPr sz="1500">
              <a:solidFill>
                <a:srgbClr val="262626"/>
              </a:solidFill>
              <a:latin typeface="Calibri"/>
              <a:ea typeface="Calibri"/>
              <a:cs typeface="Calibri"/>
              <a:sym typeface="Calibri"/>
            </a:endParaRPr>
          </a:p>
        </p:txBody>
      </p:sp>
      <p:sp>
        <p:nvSpPr>
          <p:cNvPr id="160" name="Google Shape;160;p19"/>
          <p:cNvSpPr txBox="1"/>
          <p:nvPr/>
        </p:nvSpPr>
        <p:spPr>
          <a:xfrm>
            <a:off x="4214990" y="4192695"/>
            <a:ext cx="106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3F3F3F"/>
                </a:solidFill>
                <a:latin typeface="Calibri"/>
                <a:ea typeface="Calibri"/>
                <a:cs typeface="Calibri"/>
                <a:sym typeface="Calibri"/>
              </a:rPr>
              <a:t>(Class)</a:t>
            </a:r>
            <a:endParaRPr sz="1500">
              <a:solidFill>
                <a:srgbClr val="3F3F3F"/>
              </a:solidFill>
              <a:latin typeface="Calibri"/>
              <a:ea typeface="Calibri"/>
              <a:cs typeface="Calibri"/>
              <a:sym typeface="Calibri"/>
            </a:endParaRPr>
          </a:p>
        </p:txBody>
      </p:sp>
      <p:sp>
        <p:nvSpPr>
          <p:cNvPr id="161" name="Google Shape;161;p19"/>
          <p:cNvSpPr txBox="1"/>
          <p:nvPr/>
        </p:nvSpPr>
        <p:spPr>
          <a:xfrm>
            <a:off x="5525992" y="5432681"/>
            <a:ext cx="9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262626"/>
                </a:solidFill>
                <a:latin typeface="Calibri"/>
                <a:ea typeface="Calibri"/>
                <a:cs typeface="Calibri"/>
                <a:sym typeface="Calibri"/>
              </a:rPr>
              <a:t>(Fake DB)</a:t>
            </a:r>
            <a:endParaRPr>
              <a:solidFill>
                <a:srgbClr val="262626"/>
              </a:solidFill>
              <a:latin typeface="Calibri"/>
              <a:ea typeface="Calibri"/>
              <a:cs typeface="Calibri"/>
              <a:sym typeface="Calibri"/>
            </a:endParaRPr>
          </a:p>
        </p:txBody>
      </p:sp>
      <p:sp>
        <p:nvSpPr>
          <p:cNvPr id="162" name="Google Shape;162;p19"/>
          <p:cNvSpPr txBox="1"/>
          <p:nvPr/>
        </p:nvSpPr>
        <p:spPr>
          <a:xfrm>
            <a:off x="2530835" y="5492798"/>
            <a:ext cx="3379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262626"/>
                </a:solidFill>
                <a:latin typeface="Calibri"/>
                <a:ea typeface="Calibri"/>
                <a:cs typeface="Calibri"/>
                <a:sym typeface="Calibri"/>
              </a:rPr>
              <a:t>(Dummy server)</a:t>
            </a:r>
            <a:endParaRPr sz="1500">
              <a:solidFill>
                <a:srgbClr val="26262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Isolation Example Overview</a:t>
            </a:r>
            <a:endParaRPr/>
          </a:p>
        </p:txBody>
      </p:sp>
      <p:sp>
        <p:nvSpPr>
          <p:cNvPr id="169" name="Google Shape;169;p20"/>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70" name="Google Shape;170;p20"/>
          <p:cNvSpPr/>
          <p:nvPr/>
        </p:nvSpPr>
        <p:spPr>
          <a:xfrm>
            <a:off x="822955" y="2063203"/>
            <a:ext cx="7515300" cy="3845100"/>
          </a:xfrm>
          <a:prstGeom prst="rect">
            <a:avLst/>
          </a:prstGeom>
          <a:blipFill rotWithShape="1">
            <a:blip r:embed="rId3">
              <a:alphaModFix/>
            </a:blip>
            <a:stretch>
              <a:fillRect b="0" l="0" r="0" t="0"/>
            </a:stretch>
          </a:blip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20"/>
          <p:cNvSpPr txBox="1"/>
          <p:nvPr/>
        </p:nvSpPr>
        <p:spPr>
          <a:xfrm>
            <a:off x="4284175" y="2063191"/>
            <a:ext cx="106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262626"/>
                </a:solidFill>
                <a:latin typeface="Calibri"/>
                <a:ea typeface="Calibri"/>
                <a:cs typeface="Calibri"/>
                <a:sym typeface="Calibri"/>
              </a:rPr>
              <a:t>(JUnit)</a:t>
            </a:r>
            <a:endParaRPr sz="1500">
              <a:solidFill>
                <a:srgbClr val="262626"/>
              </a:solidFill>
              <a:latin typeface="Calibri"/>
              <a:ea typeface="Calibri"/>
              <a:cs typeface="Calibri"/>
              <a:sym typeface="Calibri"/>
            </a:endParaRPr>
          </a:p>
        </p:txBody>
      </p:sp>
      <p:sp>
        <p:nvSpPr>
          <p:cNvPr id="172" name="Google Shape;172;p20"/>
          <p:cNvSpPr txBox="1"/>
          <p:nvPr/>
        </p:nvSpPr>
        <p:spPr>
          <a:xfrm>
            <a:off x="4214990" y="4192695"/>
            <a:ext cx="106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3F3F3F"/>
                </a:solidFill>
                <a:latin typeface="Calibri"/>
                <a:ea typeface="Calibri"/>
                <a:cs typeface="Calibri"/>
                <a:sym typeface="Calibri"/>
              </a:rPr>
              <a:t>(Class)</a:t>
            </a:r>
            <a:endParaRPr sz="1500">
              <a:solidFill>
                <a:srgbClr val="3F3F3F"/>
              </a:solidFill>
              <a:latin typeface="Calibri"/>
              <a:ea typeface="Calibri"/>
              <a:cs typeface="Calibri"/>
              <a:sym typeface="Calibri"/>
            </a:endParaRPr>
          </a:p>
        </p:txBody>
      </p:sp>
      <p:sp>
        <p:nvSpPr>
          <p:cNvPr id="173" name="Google Shape;173;p20"/>
          <p:cNvSpPr txBox="1"/>
          <p:nvPr/>
        </p:nvSpPr>
        <p:spPr>
          <a:xfrm>
            <a:off x="5525992" y="5432681"/>
            <a:ext cx="9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262626"/>
                </a:solidFill>
                <a:latin typeface="Calibri"/>
                <a:ea typeface="Calibri"/>
                <a:cs typeface="Calibri"/>
                <a:sym typeface="Calibri"/>
              </a:rPr>
              <a:t>(Fake DB)</a:t>
            </a:r>
            <a:endParaRPr>
              <a:solidFill>
                <a:srgbClr val="262626"/>
              </a:solidFill>
              <a:latin typeface="Calibri"/>
              <a:ea typeface="Calibri"/>
              <a:cs typeface="Calibri"/>
              <a:sym typeface="Calibri"/>
            </a:endParaRPr>
          </a:p>
        </p:txBody>
      </p:sp>
      <p:sp>
        <p:nvSpPr>
          <p:cNvPr id="174" name="Google Shape;174;p20"/>
          <p:cNvSpPr txBox="1"/>
          <p:nvPr/>
        </p:nvSpPr>
        <p:spPr>
          <a:xfrm>
            <a:off x="2530835" y="5492798"/>
            <a:ext cx="3379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262626"/>
                </a:solidFill>
                <a:latin typeface="Calibri"/>
                <a:ea typeface="Calibri"/>
                <a:cs typeface="Calibri"/>
                <a:sym typeface="Calibri"/>
              </a:rPr>
              <a:t>(Dummy server)</a:t>
            </a:r>
            <a:endParaRPr sz="1500">
              <a:solidFill>
                <a:srgbClr val="262626"/>
              </a:solidFill>
              <a:latin typeface="Calibri"/>
              <a:ea typeface="Calibri"/>
              <a:cs typeface="Calibri"/>
              <a:sym typeface="Calibri"/>
            </a:endParaRPr>
          </a:p>
        </p:txBody>
      </p:sp>
      <p:sp>
        <p:nvSpPr>
          <p:cNvPr id="175" name="Google Shape;175;p20"/>
          <p:cNvSpPr/>
          <p:nvPr/>
        </p:nvSpPr>
        <p:spPr>
          <a:xfrm>
            <a:off x="422175" y="5085225"/>
            <a:ext cx="8109300" cy="10602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822960" y="286604"/>
            <a:ext cx="832104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Mockito</a:t>
            </a:r>
            <a:endParaRPr/>
          </a:p>
        </p:txBody>
      </p:sp>
      <p:sp>
        <p:nvSpPr>
          <p:cNvPr id="182" name="Google Shape;182;p2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83" name="Google Shape;183;p21"/>
          <p:cNvSpPr txBox="1"/>
          <p:nvPr>
            <p:ph idx="1" type="body"/>
          </p:nvPr>
        </p:nvSpPr>
        <p:spPr>
          <a:xfrm>
            <a:off x="819016" y="1988840"/>
            <a:ext cx="7907255" cy="3312368"/>
          </a:xfrm>
          <a:prstGeom prst="rect">
            <a:avLst/>
          </a:prstGeom>
          <a:noFill/>
          <a:ln>
            <a:noFill/>
          </a:ln>
        </p:spPr>
        <p:txBody>
          <a:bodyPr anchorCtr="0" anchor="t" bIns="45700" lIns="0" spcFirstLastPara="1" rIns="0" wrap="square" tIns="45700">
            <a:normAutofit/>
          </a:bodyPr>
          <a:lstStyle/>
          <a:p>
            <a:pPr indent="-361950" lvl="0" marL="457200" rtl="0" algn="l">
              <a:lnSpc>
                <a:spcPct val="115000"/>
              </a:lnSpc>
              <a:spcBef>
                <a:spcPts val="1500"/>
              </a:spcBef>
              <a:spcAft>
                <a:spcPts val="0"/>
              </a:spcAft>
              <a:buClr>
                <a:schemeClr val="dk1"/>
              </a:buClr>
              <a:buSzPts val="2100"/>
              <a:buChar char="○"/>
            </a:pPr>
            <a:r>
              <a:rPr lang="en-US" sz="2100">
                <a:solidFill>
                  <a:schemeClr val="dk1"/>
                </a:solidFill>
              </a:rPr>
              <a:t>Mocking framework for Java.</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Creates substitutes of real objects for testing purposes.</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Facilitates testing of classes with external dependencies.</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Isolates the Unit Under Test from its surroundings.</a:t>
            </a:r>
            <a:endParaRPr sz="2100">
              <a:solidFill>
                <a:schemeClr val="dk1"/>
              </a:solidFill>
            </a:endParaRPr>
          </a:p>
          <a:p>
            <a:pPr indent="0" lvl="0" marL="0" rtl="0" algn="l">
              <a:lnSpc>
                <a:spcPct val="115000"/>
              </a:lnSpc>
              <a:spcBef>
                <a:spcPts val="1500"/>
              </a:spcBef>
              <a:spcAft>
                <a:spcPts val="0"/>
              </a:spcAft>
              <a:buNone/>
            </a:pPr>
            <a:r>
              <a:t/>
            </a:r>
            <a:endParaRPr sz="2100">
              <a:solidFill>
                <a:schemeClr val="dk1"/>
              </a:solidFill>
            </a:endParaRPr>
          </a:p>
          <a:p>
            <a:pPr indent="0" lvl="0" marL="0" rtl="0" algn="l">
              <a:lnSpc>
                <a:spcPct val="90000"/>
              </a:lnSpc>
              <a:spcBef>
                <a:spcPts val="300"/>
              </a:spcBef>
              <a:spcAft>
                <a:spcPts val="0"/>
              </a:spcAft>
              <a:buNone/>
            </a:pPr>
            <a:r>
              <a:t/>
            </a:r>
            <a:endParaRPr b="1" i="1" sz="2100">
              <a:solidFill>
                <a:schemeClr val="dk1"/>
              </a:solidFill>
            </a:endParaRPr>
          </a:p>
        </p:txBody>
      </p:sp>
      <p:pic>
        <p:nvPicPr>
          <p:cNvPr id="184" name="Google Shape;184;p21"/>
          <p:cNvPicPr preferRelativeResize="0"/>
          <p:nvPr/>
        </p:nvPicPr>
        <p:blipFill>
          <a:blip r:embed="rId3">
            <a:alphaModFix/>
          </a:blip>
          <a:stretch>
            <a:fillRect/>
          </a:stretch>
        </p:blipFill>
        <p:spPr>
          <a:xfrm>
            <a:off x="5007050" y="3560125"/>
            <a:ext cx="4081324" cy="27838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Mockito - Set Up</a:t>
            </a:r>
            <a:endParaRPr/>
          </a:p>
        </p:txBody>
      </p:sp>
      <p:sp>
        <p:nvSpPr>
          <p:cNvPr id="191" name="Google Shape;191;p22"/>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92" name="Google Shape;192;p22"/>
          <p:cNvSpPr txBox="1"/>
          <p:nvPr/>
        </p:nvSpPr>
        <p:spPr>
          <a:xfrm>
            <a:off x="822950" y="2351700"/>
            <a:ext cx="6269400" cy="10773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450">
                <a:solidFill>
                  <a:srgbClr val="1F7199"/>
                </a:solidFill>
                <a:latin typeface="Courier New"/>
                <a:ea typeface="Courier New"/>
                <a:cs typeface="Courier New"/>
                <a:sym typeface="Courier New"/>
              </a:rPr>
              <a:t>@ExtendWith(MockitoExtension.class)</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rgbClr val="63B175"/>
                </a:solidFill>
                <a:latin typeface="Courier New"/>
                <a:ea typeface="Courier New"/>
                <a:cs typeface="Courier New"/>
                <a:sym typeface="Courier New"/>
              </a:rPr>
              <a:t>public</a:t>
            </a:r>
            <a:r>
              <a:rPr lang="en-US" sz="1450">
                <a:solidFill>
                  <a:schemeClr val="dk1"/>
                </a:solidFill>
                <a:latin typeface="Courier New"/>
                <a:ea typeface="Courier New"/>
                <a:cs typeface="Courier New"/>
                <a:sym typeface="Courier New"/>
              </a:rPr>
              <a:t> </a:t>
            </a:r>
            <a:r>
              <a:rPr lang="en-US" sz="1450">
                <a:solidFill>
                  <a:srgbClr val="63B175"/>
                </a:solidFill>
                <a:latin typeface="Courier New"/>
                <a:ea typeface="Courier New"/>
                <a:cs typeface="Courier New"/>
                <a:sym typeface="Courier New"/>
              </a:rPr>
              <a:t>class</a:t>
            </a:r>
            <a:r>
              <a:rPr lang="en-US" sz="1450">
                <a:solidFill>
                  <a:schemeClr val="dk1"/>
                </a:solidFill>
                <a:latin typeface="Courier New"/>
                <a:ea typeface="Courier New"/>
                <a:cs typeface="Courier New"/>
                <a:sym typeface="Courier New"/>
              </a:rPr>
              <a:t> </a:t>
            </a:r>
            <a:r>
              <a:rPr b="1" lang="en-US" sz="1450">
                <a:solidFill>
                  <a:srgbClr val="267438"/>
                </a:solidFill>
                <a:latin typeface="Courier New"/>
                <a:ea typeface="Courier New"/>
                <a:cs typeface="Courier New"/>
                <a:sym typeface="Courier New"/>
              </a:rPr>
              <a:t>MockitoAnnotationUnitTest</a:t>
            </a:r>
            <a:r>
              <a:rPr lang="en-US" sz="1450">
                <a:solidFill>
                  <a:schemeClr val="dk1"/>
                </a:solidFill>
                <a:latin typeface="Courier New"/>
                <a:ea typeface="Courier New"/>
                <a:cs typeface="Courier New"/>
                <a:sym typeface="Courier New"/>
              </a:rPr>
              <a:t> {</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    ...</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a:t>
            </a:r>
            <a:endParaRPr sz="1800"/>
          </a:p>
        </p:txBody>
      </p:sp>
      <p:sp>
        <p:nvSpPr>
          <p:cNvPr id="193" name="Google Shape;193;p22"/>
          <p:cNvSpPr txBox="1"/>
          <p:nvPr/>
        </p:nvSpPr>
        <p:spPr>
          <a:xfrm>
            <a:off x="822950" y="4412875"/>
            <a:ext cx="6269400" cy="12006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650">
                <a:solidFill>
                  <a:srgbClr val="1F7199"/>
                </a:solidFill>
                <a:latin typeface="Courier New"/>
                <a:ea typeface="Courier New"/>
                <a:cs typeface="Courier New"/>
                <a:sym typeface="Courier New"/>
              </a:rPr>
              <a:t>@BeforeEach</a:t>
            </a:r>
            <a:endParaRPr sz="1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650">
                <a:solidFill>
                  <a:srgbClr val="63B175"/>
                </a:solidFill>
                <a:latin typeface="Courier New"/>
                <a:ea typeface="Courier New"/>
                <a:cs typeface="Courier New"/>
                <a:sym typeface="Courier New"/>
              </a:rPr>
              <a:t>public</a:t>
            </a:r>
            <a:r>
              <a:rPr lang="en-US" sz="1650">
                <a:solidFill>
                  <a:schemeClr val="dk1"/>
                </a:solidFill>
                <a:latin typeface="Courier New"/>
                <a:ea typeface="Courier New"/>
                <a:cs typeface="Courier New"/>
                <a:sym typeface="Courier New"/>
              </a:rPr>
              <a:t> </a:t>
            </a:r>
            <a:r>
              <a:rPr lang="en-US" sz="1650">
                <a:solidFill>
                  <a:srgbClr val="63B175"/>
                </a:solidFill>
                <a:latin typeface="Courier New"/>
                <a:ea typeface="Courier New"/>
                <a:cs typeface="Courier New"/>
                <a:sym typeface="Courier New"/>
              </a:rPr>
              <a:t>void</a:t>
            </a:r>
            <a:r>
              <a:rPr lang="en-US" sz="1650">
                <a:solidFill>
                  <a:schemeClr val="dk1"/>
                </a:solidFill>
                <a:latin typeface="Courier New"/>
                <a:ea typeface="Courier New"/>
                <a:cs typeface="Courier New"/>
                <a:sym typeface="Courier New"/>
              </a:rPr>
              <a:t> </a:t>
            </a:r>
            <a:r>
              <a:rPr b="1" lang="en-US" sz="1650">
                <a:solidFill>
                  <a:srgbClr val="267438"/>
                </a:solidFill>
                <a:latin typeface="Courier New"/>
                <a:ea typeface="Courier New"/>
                <a:cs typeface="Courier New"/>
                <a:sym typeface="Courier New"/>
              </a:rPr>
              <a:t>init</a:t>
            </a:r>
            <a:r>
              <a:rPr lang="en-US" sz="1650">
                <a:solidFill>
                  <a:schemeClr val="dk1"/>
                </a:solidFill>
                <a:latin typeface="Courier New"/>
                <a:ea typeface="Courier New"/>
                <a:cs typeface="Courier New"/>
                <a:sym typeface="Courier New"/>
              </a:rPr>
              <a:t>() {</a:t>
            </a:r>
            <a:endParaRPr sz="1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650">
                <a:solidFill>
                  <a:schemeClr val="dk1"/>
                </a:solidFill>
                <a:latin typeface="Courier New"/>
                <a:ea typeface="Courier New"/>
                <a:cs typeface="Courier New"/>
                <a:sym typeface="Courier New"/>
              </a:rPr>
              <a:t>    MockitoAnnotations.openMocks(</a:t>
            </a:r>
            <a:r>
              <a:rPr lang="en-US" sz="1650">
                <a:solidFill>
                  <a:srgbClr val="397300"/>
                </a:solidFill>
                <a:latin typeface="Courier New"/>
                <a:ea typeface="Courier New"/>
                <a:cs typeface="Courier New"/>
                <a:sym typeface="Courier New"/>
              </a:rPr>
              <a:t>this</a:t>
            </a:r>
            <a:r>
              <a:rPr lang="en-US" sz="1650">
                <a:solidFill>
                  <a:schemeClr val="dk1"/>
                </a:solidFill>
                <a:latin typeface="Courier New"/>
                <a:ea typeface="Courier New"/>
                <a:cs typeface="Courier New"/>
                <a:sym typeface="Courier New"/>
              </a:rPr>
              <a:t>);</a:t>
            </a:r>
            <a:endParaRPr sz="1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650">
                <a:solidFill>
                  <a:schemeClr val="dk1"/>
                </a:solidFill>
                <a:latin typeface="Courier New"/>
                <a:ea typeface="Courier New"/>
                <a:cs typeface="Courier New"/>
                <a:sym typeface="Courier New"/>
              </a:rPr>
              <a:t>}</a:t>
            </a:r>
            <a:endParaRPr sz="2000"/>
          </a:p>
        </p:txBody>
      </p:sp>
      <p:sp>
        <p:nvSpPr>
          <p:cNvPr id="194" name="Google Shape;194;p22"/>
          <p:cNvSpPr txBox="1"/>
          <p:nvPr/>
        </p:nvSpPr>
        <p:spPr>
          <a:xfrm>
            <a:off x="822950" y="3945700"/>
            <a:ext cx="30000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50">
                <a:solidFill>
                  <a:schemeClr val="dk1"/>
                </a:solidFill>
                <a:highlight>
                  <a:srgbClr val="FFFFFF"/>
                </a:highlight>
                <a:latin typeface="Raleway"/>
                <a:ea typeface="Raleway"/>
                <a:cs typeface="Raleway"/>
                <a:sym typeface="Raleway"/>
              </a:rPr>
              <a:t>Alternatively:</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u="sng"/>
              <a:t>Recall</a:t>
            </a:r>
            <a:r>
              <a:rPr lang="en-US" sz="4600"/>
              <a:t>: </a:t>
            </a:r>
            <a:br>
              <a:rPr lang="en-US" sz="4600"/>
            </a:br>
            <a:r>
              <a:rPr lang="en-US" sz="4600"/>
              <a:t>Four parts to a test (AAA Pattern)</a:t>
            </a:r>
            <a:endParaRPr/>
          </a:p>
        </p:txBody>
      </p:sp>
      <p:sp>
        <p:nvSpPr>
          <p:cNvPr id="201" name="Google Shape;201;p23"/>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02" name="Google Shape;202;p23"/>
          <p:cNvSpPr txBox="1"/>
          <p:nvPr>
            <p:ph idx="1" type="body"/>
          </p:nvPr>
        </p:nvSpPr>
        <p:spPr>
          <a:xfrm>
            <a:off x="800099" y="2086893"/>
            <a:ext cx="7543800" cy="4023300"/>
          </a:xfrm>
          <a:prstGeom prst="rect">
            <a:avLst/>
          </a:prstGeom>
          <a:noFill/>
          <a:ln>
            <a:noFill/>
          </a:ln>
        </p:spPr>
        <p:txBody>
          <a:bodyPr anchorCtr="0" anchor="t" bIns="45700" lIns="0" spcFirstLastPara="1" rIns="0" wrap="square" tIns="45700">
            <a:normAutofit/>
          </a:bodyPr>
          <a:lstStyle/>
          <a:p>
            <a:pPr indent="-457200" lvl="0" marL="457200" marR="0" rtl="0" algn="l">
              <a:lnSpc>
                <a:spcPct val="150000"/>
              </a:lnSpc>
              <a:spcBef>
                <a:spcPts val="0"/>
              </a:spcBef>
              <a:spcAft>
                <a:spcPts val="0"/>
              </a:spcAft>
              <a:buSzPts val="2000"/>
              <a:buFont typeface="Calibri"/>
              <a:buAutoNum type="arabicPeriod"/>
            </a:pPr>
            <a:r>
              <a:rPr lang="en-US"/>
              <a:t>Setup (Arrange)</a:t>
            </a:r>
            <a:endParaRPr/>
          </a:p>
          <a:p>
            <a:pPr indent="-457200" lvl="0" marL="457200" marR="0" rtl="0" algn="l">
              <a:lnSpc>
                <a:spcPct val="150000"/>
              </a:lnSpc>
              <a:spcBef>
                <a:spcPts val="1400"/>
              </a:spcBef>
              <a:spcAft>
                <a:spcPts val="0"/>
              </a:spcAft>
              <a:buSzPts val="2000"/>
              <a:buFont typeface="Calibri"/>
              <a:buAutoNum type="arabicPeriod"/>
            </a:pPr>
            <a:r>
              <a:rPr lang="en-US"/>
              <a:t>Invocation (Action)</a:t>
            </a:r>
            <a:endParaRPr/>
          </a:p>
          <a:p>
            <a:pPr indent="-457200" lvl="0" marL="457200" marR="0" rtl="0" algn="l">
              <a:lnSpc>
                <a:spcPct val="150000"/>
              </a:lnSpc>
              <a:spcBef>
                <a:spcPts val="1400"/>
              </a:spcBef>
              <a:spcAft>
                <a:spcPts val="0"/>
              </a:spcAft>
              <a:buSzPts val="2000"/>
              <a:buFont typeface="Calibri"/>
              <a:buAutoNum type="arabicPeriod"/>
            </a:pPr>
            <a:r>
              <a:rPr lang="en-US"/>
              <a:t>Assessment (Assertion)</a:t>
            </a:r>
            <a:endParaRPr/>
          </a:p>
          <a:p>
            <a:pPr indent="-457200" lvl="0" marL="457200" marR="0" rtl="0" algn="l">
              <a:lnSpc>
                <a:spcPct val="150000"/>
              </a:lnSpc>
              <a:spcBef>
                <a:spcPts val="1400"/>
              </a:spcBef>
              <a:spcAft>
                <a:spcPts val="0"/>
              </a:spcAft>
              <a:buSzPts val="2000"/>
              <a:buFont typeface="Calibri"/>
              <a:buAutoNum type="arabicPeriod"/>
            </a:pPr>
            <a:r>
              <a:rPr lang="en-US"/>
              <a:t>Teardown</a:t>
            </a:r>
            <a:endParaRPr/>
          </a:p>
          <a:p>
            <a:pPr indent="0" lvl="0" marL="0" marR="0" rtl="0" algn="l">
              <a:lnSpc>
                <a:spcPct val="150000"/>
              </a:lnSpc>
              <a:spcBef>
                <a:spcPts val="1400"/>
              </a:spcBef>
              <a:spcAft>
                <a:spcPts val="0"/>
              </a:spcAft>
              <a:buSzPts val="2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Mock</a:t>
            </a:r>
            <a:endParaRPr/>
          </a:p>
        </p:txBody>
      </p:sp>
      <p:sp>
        <p:nvSpPr>
          <p:cNvPr id="209" name="Google Shape;209;p24"/>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10" name="Google Shape;210;p24"/>
          <p:cNvSpPr txBox="1"/>
          <p:nvPr>
            <p:ph idx="1" type="body"/>
          </p:nvPr>
        </p:nvSpPr>
        <p:spPr>
          <a:xfrm>
            <a:off x="887700" y="1889426"/>
            <a:ext cx="7907400" cy="1647900"/>
          </a:xfrm>
          <a:prstGeom prst="rect">
            <a:avLst/>
          </a:prstGeom>
          <a:noFill/>
          <a:ln>
            <a:noFill/>
          </a:ln>
        </p:spPr>
        <p:txBody>
          <a:bodyPr anchorCtr="0" anchor="t" bIns="45700" lIns="0" spcFirstLastPara="1" rIns="0" wrap="square" tIns="45700">
            <a:normAutofit/>
          </a:bodyPr>
          <a:lstStyle/>
          <a:p>
            <a:pPr indent="-387350" lvl="0" marL="457200" rtl="0" algn="l">
              <a:lnSpc>
                <a:spcPct val="115000"/>
              </a:lnSpc>
              <a:spcBef>
                <a:spcPts val="0"/>
              </a:spcBef>
              <a:spcAft>
                <a:spcPts val="0"/>
              </a:spcAft>
              <a:buClr>
                <a:srgbClr val="374151"/>
              </a:buClr>
              <a:buSzPts val="2500"/>
              <a:buFont typeface="Calibri"/>
              <a:buChar char="●"/>
            </a:pPr>
            <a:r>
              <a:rPr lang="en-US" sz="2500">
                <a:solidFill>
                  <a:srgbClr val="374151"/>
                </a:solidFill>
              </a:rPr>
              <a:t>A mock is an object that </a:t>
            </a:r>
            <a:r>
              <a:rPr lang="en-US" sz="2500" u="sng">
                <a:solidFill>
                  <a:srgbClr val="374151"/>
                </a:solidFill>
              </a:rPr>
              <a:t>mimics the behavior of a real object</a:t>
            </a:r>
            <a:r>
              <a:rPr lang="en-US" sz="2500">
                <a:solidFill>
                  <a:srgbClr val="374151"/>
                </a:solidFill>
              </a:rPr>
              <a:t>, in a controlled way.</a:t>
            </a:r>
            <a:endParaRPr sz="2500">
              <a:solidFill>
                <a:srgbClr val="374151"/>
              </a:solidFill>
            </a:endParaRPr>
          </a:p>
          <a:p>
            <a:pPr indent="0" lvl="0" marL="0" rtl="0" algn="l">
              <a:lnSpc>
                <a:spcPct val="115000"/>
              </a:lnSpc>
              <a:spcBef>
                <a:spcPts val="300"/>
              </a:spcBef>
              <a:spcAft>
                <a:spcPts val="0"/>
              </a:spcAft>
              <a:buClr>
                <a:schemeClr val="dk1"/>
              </a:buClr>
              <a:buSzPts val="1800"/>
              <a:buNone/>
            </a:pPr>
            <a:r>
              <a:t/>
            </a:r>
            <a:endParaRPr sz="2500"/>
          </a:p>
        </p:txBody>
      </p:sp>
      <p:graphicFrame>
        <p:nvGraphicFramePr>
          <p:cNvPr id="211" name="Google Shape;211;p24"/>
          <p:cNvGraphicFramePr/>
          <p:nvPr/>
        </p:nvGraphicFramePr>
        <p:xfrm>
          <a:off x="329388" y="3474175"/>
          <a:ext cx="3000000" cy="3000000"/>
        </p:xfrm>
        <a:graphic>
          <a:graphicData uri="http://schemas.openxmlformats.org/drawingml/2006/table">
            <a:tbl>
              <a:tblPr>
                <a:noFill/>
                <a:tableStyleId>{1CE528C9-285E-49A1-AE23-CF25BE502DC5}</a:tableStyleId>
              </a:tblPr>
              <a:tblGrid>
                <a:gridCol w="2075825"/>
              </a:tblGrid>
              <a:tr h="552800">
                <a:tc>
                  <a:txBody>
                    <a:bodyPr/>
                    <a:lstStyle/>
                    <a:p>
                      <a:pPr indent="0" lvl="0" marL="0" rtl="0" algn="ctr">
                        <a:spcBef>
                          <a:spcPts val="0"/>
                        </a:spcBef>
                        <a:spcAft>
                          <a:spcPts val="0"/>
                        </a:spcAft>
                        <a:buNone/>
                      </a:pPr>
                      <a:r>
                        <a:rPr lang="en-US" sz="1600">
                          <a:solidFill>
                            <a:srgbClr val="1F7199"/>
                          </a:solidFill>
                        </a:rPr>
                        <a:t>Setup (</a:t>
                      </a:r>
                      <a:r>
                        <a:rPr lang="en-US" sz="1600">
                          <a:solidFill>
                            <a:srgbClr val="1F7199"/>
                          </a:solidFill>
                        </a:rPr>
                        <a:t>Arrange)</a:t>
                      </a:r>
                      <a:endParaRPr sz="1600">
                        <a:solidFill>
                          <a:srgbClr val="1F7199"/>
                        </a:solidFill>
                      </a:endParaRPr>
                    </a:p>
                  </a:txBody>
                  <a:tcPr marT="91425" marB="91425" marR="91425" marL="91425" anchor="ctr"/>
                </a:tc>
              </a:tr>
              <a:tr h="552800">
                <a:tc>
                  <a:txBody>
                    <a:bodyPr/>
                    <a:lstStyle/>
                    <a:p>
                      <a:pPr indent="0" lvl="0" marL="0" rtl="0" algn="ctr">
                        <a:spcBef>
                          <a:spcPts val="0"/>
                        </a:spcBef>
                        <a:spcAft>
                          <a:spcPts val="0"/>
                        </a:spcAft>
                        <a:buNone/>
                      </a:pPr>
                      <a:r>
                        <a:rPr lang="en-US" sz="1600">
                          <a:solidFill>
                            <a:srgbClr val="990000"/>
                          </a:solidFill>
                        </a:rPr>
                        <a:t>Invoke (</a:t>
                      </a:r>
                      <a:r>
                        <a:rPr lang="en-US" sz="1600">
                          <a:solidFill>
                            <a:srgbClr val="990000"/>
                          </a:solidFill>
                        </a:rPr>
                        <a:t>Action)</a:t>
                      </a:r>
                      <a:endParaRPr sz="1600">
                        <a:solidFill>
                          <a:srgbClr val="990000"/>
                        </a:solidFill>
                      </a:endParaRPr>
                    </a:p>
                  </a:txBody>
                  <a:tcPr marT="91425" marB="91425" marR="91425" marL="91425" anchor="ctr"/>
                </a:tc>
              </a:tr>
              <a:tr h="552800">
                <a:tc>
                  <a:txBody>
                    <a:bodyPr/>
                    <a:lstStyle/>
                    <a:p>
                      <a:pPr indent="0" lvl="0" marL="0" rtl="0" algn="ctr">
                        <a:spcBef>
                          <a:spcPts val="0"/>
                        </a:spcBef>
                        <a:spcAft>
                          <a:spcPts val="0"/>
                        </a:spcAft>
                        <a:buNone/>
                      </a:pPr>
                      <a:r>
                        <a:rPr lang="en-US" sz="1600">
                          <a:solidFill>
                            <a:srgbClr val="38761D"/>
                          </a:solidFill>
                        </a:rPr>
                        <a:t>Assessment (</a:t>
                      </a:r>
                      <a:r>
                        <a:rPr lang="en-US" sz="1600">
                          <a:solidFill>
                            <a:srgbClr val="38761D"/>
                          </a:solidFill>
                        </a:rPr>
                        <a:t>Assertion)</a:t>
                      </a:r>
                      <a:endParaRPr sz="1600">
                        <a:solidFill>
                          <a:srgbClr val="38761D"/>
                        </a:solidFill>
                      </a:endParaRPr>
                    </a:p>
                  </a:txBody>
                  <a:tcPr marT="91425" marB="91425" marR="91425" marL="91425" anchor="ctr"/>
                </a:tc>
              </a:tr>
              <a:tr h="552800">
                <a:tc>
                  <a:txBody>
                    <a:bodyPr/>
                    <a:lstStyle/>
                    <a:p>
                      <a:pPr indent="0" lvl="0" marL="0" rtl="0" algn="ctr">
                        <a:spcBef>
                          <a:spcPts val="0"/>
                        </a:spcBef>
                        <a:spcAft>
                          <a:spcPts val="0"/>
                        </a:spcAft>
                        <a:buNone/>
                      </a:pPr>
                      <a:r>
                        <a:rPr lang="en-US" sz="1600">
                          <a:solidFill>
                            <a:srgbClr val="999999"/>
                          </a:solidFill>
                        </a:rPr>
                        <a:t>Teardown</a:t>
                      </a:r>
                      <a:endParaRPr sz="1600">
                        <a:solidFill>
                          <a:srgbClr val="999999"/>
                        </a:solidFill>
                      </a:endParaRPr>
                    </a:p>
                  </a:txBody>
                  <a:tcPr marT="91425" marB="91425" marR="91425" marL="91425" anchor="ctr"/>
                </a:tc>
              </a:tr>
            </a:tbl>
          </a:graphicData>
        </a:graphic>
      </p:graphicFrame>
      <p:sp>
        <p:nvSpPr>
          <p:cNvPr id="212" name="Google Shape;212;p24"/>
          <p:cNvSpPr/>
          <p:nvPr/>
        </p:nvSpPr>
        <p:spPr>
          <a:xfrm>
            <a:off x="3871263" y="3829725"/>
            <a:ext cx="1459500" cy="877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latin typeface="Calibri"/>
                <a:ea typeface="Calibri"/>
                <a:cs typeface="Calibri"/>
                <a:sym typeface="Calibri"/>
              </a:rPr>
              <a:t>Class</a:t>
            </a:r>
            <a:r>
              <a:rPr lang="en-US" sz="1800">
                <a:latin typeface="Calibri"/>
                <a:ea typeface="Calibri"/>
                <a:cs typeface="Calibri"/>
                <a:sym typeface="Calibri"/>
              </a:rPr>
              <a:t> Under Test</a:t>
            </a:r>
            <a:endParaRPr sz="1800">
              <a:latin typeface="Calibri"/>
              <a:ea typeface="Calibri"/>
              <a:cs typeface="Calibri"/>
              <a:sym typeface="Calibri"/>
            </a:endParaRPr>
          </a:p>
        </p:txBody>
      </p:sp>
      <p:sp>
        <p:nvSpPr>
          <p:cNvPr id="213" name="Google Shape;213;p24"/>
          <p:cNvSpPr/>
          <p:nvPr/>
        </p:nvSpPr>
        <p:spPr>
          <a:xfrm>
            <a:off x="6796813" y="3148625"/>
            <a:ext cx="1459500" cy="2862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latin typeface="Calibri"/>
                <a:ea typeface="Calibri"/>
                <a:cs typeface="Calibri"/>
                <a:sym typeface="Calibri"/>
              </a:rPr>
              <a:t>Mock Object</a:t>
            </a:r>
            <a:endParaRPr sz="1800">
              <a:latin typeface="Calibri"/>
              <a:ea typeface="Calibri"/>
              <a:cs typeface="Calibri"/>
              <a:sym typeface="Calibri"/>
            </a:endParaRPr>
          </a:p>
        </p:txBody>
      </p:sp>
      <p:cxnSp>
        <p:nvCxnSpPr>
          <p:cNvPr id="214" name="Google Shape;214;p24"/>
          <p:cNvCxnSpPr/>
          <p:nvPr/>
        </p:nvCxnSpPr>
        <p:spPr>
          <a:xfrm>
            <a:off x="2405213" y="3633075"/>
            <a:ext cx="4394400" cy="9000"/>
          </a:xfrm>
          <a:prstGeom prst="straightConnector1">
            <a:avLst/>
          </a:prstGeom>
          <a:noFill/>
          <a:ln cap="flat" cmpd="sng" w="9525">
            <a:solidFill>
              <a:schemeClr val="dk2"/>
            </a:solidFill>
            <a:prstDash val="solid"/>
            <a:round/>
            <a:headEnd len="med" w="med" type="none"/>
            <a:tailEnd len="med" w="med" type="triangle"/>
          </a:ln>
        </p:spPr>
      </p:cxnSp>
      <p:cxnSp>
        <p:nvCxnSpPr>
          <p:cNvPr id="215" name="Google Shape;215;p24"/>
          <p:cNvCxnSpPr/>
          <p:nvPr/>
        </p:nvCxnSpPr>
        <p:spPr>
          <a:xfrm>
            <a:off x="2421388" y="3784150"/>
            <a:ext cx="1446600" cy="180900"/>
          </a:xfrm>
          <a:prstGeom prst="bentConnector3">
            <a:avLst>
              <a:gd fmla="val 74100" name="adj1"/>
            </a:avLst>
          </a:prstGeom>
          <a:noFill/>
          <a:ln cap="flat" cmpd="sng" w="9525">
            <a:solidFill>
              <a:schemeClr val="dk2"/>
            </a:solidFill>
            <a:prstDash val="solid"/>
            <a:round/>
            <a:headEnd len="med" w="med" type="none"/>
            <a:tailEnd len="med" w="med" type="triangle"/>
          </a:ln>
        </p:spPr>
      </p:cxnSp>
      <p:cxnSp>
        <p:nvCxnSpPr>
          <p:cNvPr id="216" name="Google Shape;216;p24"/>
          <p:cNvCxnSpPr/>
          <p:nvPr/>
        </p:nvCxnSpPr>
        <p:spPr>
          <a:xfrm>
            <a:off x="2402488" y="4298063"/>
            <a:ext cx="1484400" cy="14700"/>
          </a:xfrm>
          <a:prstGeom prst="straightConnector1">
            <a:avLst/>
          </a:prstGeom>
          <a:noFill/>
          <a:ln cap="flat" cmpd="sng" w="9525">
            <a:solidFill>
              <a:schemeClr val="dk2"/>
            </a:solidFill>
            <a:prstDash val="solid"/>
            <a:round/>
            <a:headEnd len="med" w="med" type="none"/>
            <a:tailEnd len="med" w="med" type="triangle"/>
          </a:ln>
        </p:spPr>
      </p:cxnSp>
      <p:cxnSp>
        <p:nvCxnSpPr>
          <p:cNvPr id="217" name="Google Shape;217;p24"/>
          <p:cNvCxnSpPr/>
          <p:nvPr/>
        </p:nvCxnSpPr>
        <p:spPr>
          <a:xfrm>
            <a:off x="2393813" y="4843225"/>
            <a:ext cx="4431600" cy="25800"/>
          </a:xfrm>
          <a:prstGeom prst="straightConnector1">
            <a:avLst/>
          </a:prstGeom>
          <a:noFill/>
          <a:ln cap="flat" cmpd="sng" w="9525">
            <a:solidFill>
              <a:schemeClr val="dk2"/>
            </a:solidFill>
            <a:prstDash val="solid"/>
            <a:round/>
            <a:headEnd len="med" w="med" type="none"/>
            <a:tailEnd len="med" w="med" type="triangle"/>
          </a:ln>
        </p:spPr>
      </p:cxnSp>
      <p:sp>
        <p:nvSpPr>
          <p:cNvPr id="218" name="Google Shape;218;p24"/>
          <p:cNvSpPr txBox="1"/>
          <p:nvPr/>
        </p:nvSpPr>
        <p:spPr>
          <a:xfrm>
            <a:off x="3971163" y="3251250"/>
            <a:ext cx="8394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1F7199"/>
                </a:solidFill>
                <a:latin typeface="Calibri"/>
                <a:ea typeface="Calibri"/>
                <a:cs typeface="Calibri"/>
                <a:sym typeface="Calibri"/>
              </a:rPr>
              <a:t>Create</a:t>
            </a:r>
            <a:endParaRPr sz="1000">
              <a:solidFill>
                <a:srgbClr val="1F7199"/>
              </a:solidFill>
              <a:latin typeface="Calibri"/>
              <a:ea typeface="Calibri"/>
              <a:cs typeface="Calibri"/>
              <a:sym typeface="Calibri"/>
            </a:endParaRPr>
          </a:p>
        </p:txBody>
      </p:sp>
      <p:sp>
        <p:nvSpPr>
          <p:cNvPr id="219" name="Google Shape;219;p24"/>
          <p:cNvSpPr txBox="1"/>
          <p:nvPr/>
        </p:nvSpPr>
        <p:spPr>
          <a:xfrm>
            <a:off x="2548626" y="3689356"/>
            <a:ext cx="8394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1F7199"/>
                </a:solidFill>
                <a:latin typeface="Calibri"/>
                <a:ea typeface="Calibri"/>
                <a:cs typeface="Calibri"/>
                <a:sym typeface="Calibri"/>
              </a:rPr>
              <a:t>Initialize</a:t>
            </a:r>
            <a:endParaRPr sz="1000">
              <a:solidFill>
                <a:srgbClr val="1F7199"/>
              </a:solidFill>
              <a:latin typeface="Calibri"/>
              <a:ea typeface="Calibri"/>
              <a:cs typeface="Calibri"/>
              <a:sym typeface="Calibri"/>
            </a:endParaRPr>
          </a:p>
        </p:txBody>
      </p:sp>
      <p:sp>
        <p:nvSpPr>
          <p:cNvPr id="220" name="Google Shape;220;p24"/>
          <p:cNvSpPr txBox="1"/>
          <p:nvPr/>
        </p:nvSpPr>
        <p:spPr>
          <a:xfrm>
            <a:off x="2718538" y="4247569"/>
            <a:ext cx="8394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990000"/>
                </a:solidFill>
                <a:latin typeface="Calibri"/>
                <a:ea typeface="Calibri"/>
                <a:cs typeface="Calibri"/>
                <a:sym typeface="Calibri"/>
              </a:rPr>
              <a:t>Calls</a:t>
            </a:r>
            <a:endParaRPr sz="1000">
              <a:solidFill>
                <a:srgbClr val="990000"/>
              </a:solidFill>
              <a:latin typeface="Calibri"/>
              <a:ea typeface="Calibri"/>
              <a:cs typeface="Calibri"/>
              <a:sym typeface="Calibri"/>
            </a:endParaRPr>
          </a:p>
        </p:txBody>
      </p:sp>
      <p:sp>
        <p:nvSpPr>
          <p:cNvPr id="221" name="Google Shape;221;p24"/>
          <p:cNvSpPr txBox="1"/>
          <p:nvPr/>
        </p:nvSpPr>
        <p:spPr>
          <a:xfrm>
            <a:off x="3632463" y="4767475"/>
            <a:ext cx="19371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38761D"/>
                </a:solidFill>
                <a:latin typeface="Calibri"/>
                <a:ea typeface="Calibri"/>
                <a:cs typeface="Calibri"/>
                <a:sym typeface="Calibri"/>
              </a:rPr>
              <a:t>Verify</a:t>
            </a:r>
            <a:endParaRPr sz="1000">
              <a:solidFill>
                <a:srgbClr val="38761D"/>
              </a:solidFill>
              <a:latin typeface="Calibri"/>
              <a:ea typeface="Calibri"/>
              <a:cs typeface="Calibri"/>
              <a:sym typeface="Calibri"/>
            </a:endParaRPr>
          </a:p>
        </p:txBody>
      </p:sp>
      <p:cxnSp>
        <p:nvCxnSpPr>
          <p:cNvPr id="222" name="Google Shape;222;p24"/>
          <p:cNvCxnSpPr/>
          <p:nvPr/>
        </p:nvCxnSpPr>
        <p:spPr>
          <a:xfrm>
            <a:off x="5330763" y="4298063"/>
            <a:ext cx="1484400" cy="14700"/>
          </a:xfrm>
          <a:prstGeom prst="straightConnector1">
            <a:avLst/>
          </a:prstGeom>
          <a:noFill/>
          <a:ln cap="flat" cmpd="sng" w="9525">
            <a:solidFill>
              <a:schemeClr val="dk2"/>
            </a:solidFill>
            <a:prstDash val="solid"/>
            <a:round/>
            <a:headEnd len="med" w="med" type="none"/>
            <a:tailEnd len="med" w="med" type="triangle"/>
          </a:ln>
        </p:spPr>
      </p:cxnSp>
      <p:sp>
        <p:nvSpPr>
          <p:cNvPr id="223" name="Google Shape;223;p24"/>
          <p:cNvSpPr txBox="1"/>
          <p:nvPr/>
        </p:nvSpPr>
        <p:spPr>
          <a:xfrm>
            <a:off x="5280363" y="4214675"/>
            <a:ext cx="15852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990000"/>
                </a:solidFill>
                <a:latin typeface="Calibri"/>
                <a:ea typeface="Calibri"/>
                <a:cs typeface="Calibri"/>
                <a:sym typeface="Calibri"/>
              </a:rPr>
              <a:t>Uses</a:t>
            </a:r>
            <a:endParaRPr sz="1000">
              <a:solidFill>
                <a:srgbClr val="99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Mockito - @Mock</a:t>
            </a:r>
            <a:endParaRPr/>
          </a:p>
        </p:txBody>
      </p:sp>
      <p:sp>
        <p:nvSpPr>
          <p:cNvPr id="230" name="Google Shape;230;p25"/>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1" name="Google Shape;231;p25"/>
          <p:cNvSpPr txBox="1"/>
          <p:nvPr/>
        </p:nvSpPr>
        <p:spPr>
          <a:xfrm>
            <a:off x="822950" y="1943625"/>
            <a:ext cx="7646700" cy="28629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450">
                <a:solidFill>
                  <a:srgbClr val="1F7199"/>
                </a:solidFill>
                <a:latin typeface="Courier New"/>
                <a:ea typeface="Courier New"/>
                <a:cs typeface="Courier New"/>
                <a:sym typeface="Courier New"/>
              </a:rPr>
              <a:t>@Mock</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List&lt;String&gt; mockedList;</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rgbClr val="1F7199"/>
                </a:solidFill>
                <a:latin typeface="Courier New"/>
                <a:ea typeface="Courier New"/>
                <a:cs typeface="Courier New"/>
                <a:sym typeface="Courier New"/>
              </a:rPr>
              <a:t>@Test</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rgbClr val="63B175"/>
                </a:solidFill>
                <a:latin typeface="Courier New"/>
                <a:ea typeface="Courier New"/>
                <a:cs typeface="Courier New"/>
                <a:sym typeface="Courier New"/>
              </a:rPr>
              <a:t>public</a:t>
            </a:r>
            <a:r>
              <a:rPr lang="en-US" sz="1450">
                <a:solidFill>
                  <a:schemeClr val="dk1"/>
                </a:solidFill>
                <a:latin typeface="Courier New"/>
                <a:ea typeface="Courier New"/>
                <a:cs typeface="Courier New"/>
                <a:sym typeface="Courier New"/>
              </a:rPr>
              <a:t> </a:t>
            </a:r>
            <a:r>
              <a:rPr lang="en-US" sz="1450">
                <a:solidFill>
                  <a:srgbClr val="63B175"/>
                </a:solidFill>
                <a:latin typeface="Courier New"/>
                <a:ea typeface="Courier New"/>
                <a:cs typeface="Courier New"/>
                <a:sym typeface="Courier New"/>
              </a:rPr>
              <a:t>void</a:t>
            </a:r>
            <a:r>
              <a:rPr lang="en-US" sz="1450">
                <a:solidFill>
                  <a:schemeClr val="dk1"/>
                </a:solidFill>
                <a:latin typeface="Courier New"/>
                <a:ea typeface="Courier New"/>
                <a:cs typeface="Courier New"/>
                <a:sym typeface="Courier New"/>
              </a:rPr>
              <a:t> </a:t>
            </a:r>
            <a:r>
              <a:rPr b="1" lang="en-US" sz="1450">
                <a:solidFill>
                  <a:srgbClr val="267438"/>
                </a:solidFill>
                <a:latin typeface="Courier New"/>
                <a:ea typeface="Courier New"/>
                <a:cs typeface="Courier New"/>
                <a:sym typeface="Courier New"/>
              </a:rPr>
              <a:t>whenUseMockAnnotation_thenMockIsInjected</a:t>
            </a:r>
            <a:r>
              <a:rPr lang="en-US" sz="1450">
                <a:solidFill>
                  <a:schemeClr val="dk1"/>
                </a:solidFill>
                <a:latin typeface="Courier New"/>
                <a:ea typeface="Courier New"/>
                <a:cs typeface="Courier New"/>
                <a:sym typeface="Courier New"/>
              </a:rPr>
              <a:t>() {</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    mockedList.add(</a:t>
            </a:r>
            <a:r>
              <a:rPr lang="en-US" sz="1450">
                <a:solidFill>
                  <a:srgbClr val="4E9359"/>
                </a:solidFill>
                <a:latin typeface="Courier New"/>
                <a:ea typeface="Courier New"/>
                <a:cs typeface="Courier New"/>
                <a:sym typeface="Courier New"/>
              </a:rPr>
              <a:t>"one"</a:t>
            </a:r>
            <a:r>
              <a:rPr lang="en-US" sz="1450">
                <a:solidFill>
                  <a:schemeClr val="dk1"/>
                </a:solidFill>
                <a:latin typeface="Courier New"/>
                <a:ea typeface="Courier New"/>
                <a:cs typeface="Courier New"/>
                <a:sym typeface="Courier New"/>
              </a:rPr>
              <a:t>);</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    Mockito.verify(mockedList).add(</a:t>
            </a:r>
            <a:r>
              <a:rPr lang="en-US" sz="1450">
                <a:solidFill>
                  <a:srgbClr val="4E9359"/>
                </a:solidFill>
                <a:latin typeface="Courier New"/>
                <a:ea typeface="Courier New"/>
                <a:cs typeface="Courier New"/>
                <a:sym typeface="Courier New"/>
              </a:rPr>
              <a:t>"one"</a:t>
            </a:r>
            <a:r>
              <a:rPr lang="en-US" sz="1450">
                <a:solidFill>
                  <a:schemeClr val="dk1"/>
                </a:solidFill>
                <a:latin typeface="Courier New"/>
                <a:ea typeface="Courier New"/>
                <a:cs typeface="Courier New"/>
                <a:sym typeface="Courier New"/>
              </a:rPr>
              <a:t>);</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    assertEquals(</a:t>
            </a:r>
            <a:r>
              <a:rPr lang="en-US" sz="1450">
                <a:solidFill>
                  <a:srgbClr val="4E9359"/>
                </a:solidFill>
                <a:latin typeface="Courier New"/>
                <a:ea typeface="Courier New"/>
                <a:cs typeface="Courier New"/>
                <a:sym typeface="Courier New"/>
              </a:rPr>
              <a:t>0</a:t>
            </a:r>
            <a:r>
              <a:rPr lang="en-US" sz="1450">
                <a:solidFill>
                  <a:schemeClr val="dk1"/>
                </a:solidFill>
                <a:latin typeface="Courier New"/>
                <a:ea typeface="Courier New"/>
                <a:cs typeface="Courier New"/>
                <a:sym typeface="Courier New"/>
              </a:rPr>
              <a:t>, mockedList.size());</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    Mockito.when(mockedList.size()).thenReturn(</a:t>
            </a:r>
            <a:r>
              <a:rPr lang="en-US" sz="1450">
                <a:solidFill>
                  <a:srgbClr val="4E9359"/>
                </a:solidFill>
                <a:latin typeface="Courier New"/>
                <a:ea typeface="Courier New"/>
                <a:cs typeface="Courier New"/>
                <a:sym typeface="Courier New"/>
              </a:rPr>
              <a:t>100</a:t>
            </a:r>
            <a:r>
              <a:rPr lang="en-US" sz="1450">
                <a:solidFill>
                  <a:schemeClr val="dk1"/>
                </a:solidFill>
                <a:latin typeface="Courier New"/>
                <a:ea typeface="Courier New"/>
                <a:cs typeface="Courier New"/>
                <a:sym typeface="Courier New"/>
              </a:rPr>
              <a:t>);</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    assertEquals(</a:t>
            </a:r>
            <a:r>
              <a:rPr lang="en-US" sz="1450">
                <a:solidFill>
                  <a:srgbClr val="4E9359"/>
                </a:solidFill>
                <a:latin typeface="Courier New"/>
                <a:ea typeface="Courier New"/>
                <a:cs typeface="Courier New"/>
                <a:sym typeface="Courier New"/>
              </a:rPr>
              <a:t>100</a:t>
            </a:r>
            <a:r>
              <a:rPr lang="en-US" sz="1450">
                <a:solidFill>
                  <a:schemeClr val="dk1"/>
                </a:solidFill>
                <a:latin typeface="Courier New"/>
                <a:ea typeface="Courier New"/>
                <a:cs typeface="Courier New"/>
                <a:sym typeface="Courier New"/>
              </a:rPr>
              <a:t>, mockedList.size());</a:t>
            </a:r>
            <a:endParaRPr sz="14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450">
                <a:solidFill>
                  <a:schemeClr val="dk1"/>
                </a:solidFill>
                <a:latin typeface="Courier New"/>
                <a:ea typeface="Courier New"/>
                <a:cs typeface="Courier New"/>
                <a:sym typeface="Courier New"/>
              </a:rPr>
              <a:t>}</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Spy</a:t>
            </a:r>
            <a:endParaRPr/>
          </a:p>
        </p:txBody>
      </p:sp>
      <p:sp>
        <p:nvSpPr>
          <p:cNvPr id="238" name="Google Shape;238;p26"/>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9" name="Google Shape;239;p26"/>
          <p:cNvSpPr txBox="1"/>
          <p:nvPr/>
        </p:nvSpPr>
        <p:spPr>
          <a:xfrm>
            <a:off x="695150" y="1797175"/>
            <a:ext cx="7508400" cy="1200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rgbClr val="374151"/>
              </a:buClr>
              <a:buSzPts val="2000"/>
              <a:buFont typeface="Calibri"/>
              <a:buChar char="●"/>
            </a:pPr>
            <a:r>
              <a:rPr lang="en-US" sz="2000">
                <a:solidFill>
                  <a:srgbClr val="374151"/>
                </a:solidFill>
                <a:latin typeface="Calibri"/>
                <a:ea typeface="Calibri"/>
                <a:cs typeface="Calibri"/>
                <a:sym typeface="Calibri"/>
              </a:rPr>
              <a:t>A spy </a:t>
            </a:r>
            <a:r>
              <a:rPr lang="en-US" sz="2000" u="sng">
                <a:solidFill>
                  <a:srgbClr val="374151"/>
                </a:solidFill>
                <a:latin typeface="Calibri"/>
                <a:ea typeface="Calibri"/>
                <a:cs typeface="Calibri"/>
                <a:sym typeface="Calibri"/>
              </a:rPr>
              <a:t>wraps a real object</a:t>
            </a:r>
            <a:r>
              <a:rPr lang="en-US" sz="2000">
                <a:solidFill>
                  <a:srgbClr val="374151"/>
                </a:solidFill>
                <a:latin typeface="Calibri"/>
                <a:ea typeface="Calibri"/>
                <a:cs typeface="Calibri"/>
                <a:sym typeface="Calibri"/>
              </a:rPr>
              <a:t> used by the class under test.</a:t>
            </a:r>
            <a:endParaRPr sz="2000">
              <a:solidFill>
                <a:srgbClr val="374151"/>
              </a:solidFill>
              <a:latin typeface="Calibri"/>
              <a:ea typeface="Calibri"/>
              <a:cs typeface="Calibri"/>
              <a:sym typeface="Calibri"/>
            </a:endParaRPr>
          </a:p>
          <a:p>
            <a:pPr indent="-355600" lvl="0" marL="457200" rtl="0" algn="l">
              <a:lnSpc>
                <a:spcPct val="115000"/>
              </a:lnSpc>
              <a:spcBef>
                <a:spcPts val="0"/>
              </a:spcBef>
              <a:spcAft>
                <a:spcPts val="0"/>
              </a:spcAft>
              <a:buClr>
                <a:srgbClr val="374151"/>
              </a:buClr>
              <a:buSzPts val="2000"/>
              <a:buFont typeface="Calibri"/>
              <a:buChar char="●"/>
            </a:pPr>
            <a:r>
              <a:rPr lang="en-US" sz="2000">
                <a:solidFill>
                  <a:srgbClr val="374151"/>
                </a:solidFill>
                <a:latin typeface="Calibri"/>
                <a:ea typeface="Calibri"/>
                <a:cs typeface="Calibri"/>
                <a:sym typeface="Calibri"/>
              </a:rPr>
              <a:t>It records interactions with the object, allowing verification of method calls and arguments.</a:t>
            </a:r>
            <a:endParaRPr sz="2000">
              <a:solidFill>
                <a:srgbClr val="374151"/>
              </a:solidFill>
              <a:latin typeface="Calibri"/>
              <a:ea typeface="Calibri"/>
              <a:cs typeface="Calibri"/>
              <a:sym typeface="Calibri"/>
            </a:endParaRPr>
          </a:p>
        </p:txBody>
      </p:sp>
      <p:graphicFrame>
        <p:nvGraphicFramePr>
          <p:cNvPr id="240" name="Google Shape;240;p26"/>
          <p:cNvGraphicFramePr/>
          <p:nvPr/>
        </p:nvGraphicFramePr>
        <p:xfrm>
          <a:off x="329388" y="3474175"/>
          <a:ext cx="3000000" cy="3000000"/>
        </p:xfrm>
        <a:graphic>
          <a:graphicData uri="http://schemas.openxmlformats.org/drawingml/2006/table">
            <a:tbl>
              <a:tblPr>
                <a:noFill/>
                <a:tableStyleId>{1CE528C9-285E-49A1-AE23-CF25BE502DC5}</a:tableStyleId>
              </a:tblPr>
              <a:tblGrid>
                <a:gridCol w="2075825"/>
              </a:tblGrid>
              <a:tr h="552800">
                <a:tc>
                  <a:txBody>
                    <a:bodyPr/>
                    <a:lstStyle/>
                    <a:p>
                      <a:pPr indent="0" lvl="0" marL="0" rtl="0" algn="ctr">
                        <a:spcBef>
                          <a:spcPts val="0"/>
                        </a:spcBef>
                        <a:spcAft>
                          <a:spcPts val="0"/>
                        </a:spcAft>
                        <a:buNone/>
                      </a:pPr>
                      <a:r>
                        <a:rPr lang="en-US" sz="1600">
                          <a:solidFill>
                            <a:srgbClr val="1F7199"/>
                          </a:solidFill>
                        </a:rPr>
                        <a:t>Setup (Arrange)</a:t>
                      </a:r>
                      <a:endParaRPr sz="1600">
                        <a:solidFill>
                          <a:srgbClr val="1F7199"/>
                        </a:solidFill>
                      </a:endParaRPr>
                    </a:p>
                  </a:txBody>
                  <a:tcPr marT="91425" marB="91425" marR="91425" marL="91425" anchor="ctr"/>
                </a:tc>
              </a:tr>
              <a:tr h="552800">
                <a:tc>
                  <a:txBody>
                    <a:bodyPr/>
                    <a:lstStyle/>
                    <a:p>
                      <a:pPr indent="0" lvl="0" marL="0" rtl="0" algn="ctr">
                        <a:spcBef>
                          <a:spcPts val="0"/>
                        </a:spcBef>
                        <a:spcAft>
                          <a:spcPts val="0"/>
                        </a:spcAft>
                        <a:buNone/>
                      </a:pPr>
                      <a:r>
                        <a:rPr lang="en-US" sz="1600">
                          <a:solidFill>
                            <a:srgbClr val="990000"/>
                          </a:solidFill>
                        </a:rPr>
                        <a:t>Invoke (Action)</a:t>
                      </a:r>
                      <a:endParaRPr sz="1600">
                        <a:solidFill>
                          <a:srgbClr val="990000"/>
                        </a:solidFill>
                      </a:endParaRPr>
                    </a:p>
                  </a:txBody>
                  <a:tcPr marT="91425" marB="91425" marR="91425" marL="91425" anchor="ctr"/>
                </a:tc>
              </a:tr>
              <a:tr h="552800">
                <a:tc>
                  <a:txBody>
                    <a:bodyPr/>
                    <a:lstStyle/>
                    <a:p>
                      <a:pPr indent="0" lvl="0" marL="0" rtl="0" algn="ctr">
                        <a:spcBef>
                          <a:spcPts val="0"/>
                        </a:spcBef>
                        <a:spcAft>
                          <a:spcPts val="0"/>
                        </a:spcAft>
                        <a:buNone/>
                      </a:pPr>
                      <a:r>
                        <a:rPr lang="en-US" sz="1600">
                          <a:solidFill>
                            <a:srgbClr val="38761D"/>
                          </a:solidFill>
                        </a:rPr>
                        <a:t>Assessment (Assertion)</a:t>
                      </a:r>
                      <a:endParaRPr sz="1600">
                        <a:solidFill>
                          <a:srgbClr val="38761D"/>
                        </a:solidFill>
                      </a:endParaRPr>
                    </a:p>
                  </a:txBody>
                  <a:tcPr marT="91425" marB="91425" marR="91425" marL="91425" anchor="ctr"/>
                </a:tc>
              </a:tr>
              <a:tr h="552800">
                <a:tc>
                  <a:txBody>
                    <a:bodyPr/>
                    <a:lstStyle/>
                    <a:p>
                      <a:pPr indent="0" lvl="0" marL="0" rtl="0" algn="ctr">
                        <a:spcBef>
                          <a:spcPts val="0"/>
                        </a:spcBef>
                        <a:spcAft>
                          <a:spcPts val="0"/>
                        </a:spcAft>
                        <a:buNone/>
                      </a:pPr>
                      <a:r>
                        <a:rPr lang="en-US" sz="1600">
                          <a:solidFill>
                            <a:srgbClr val="999999"/>
                          </a:solidFill>
                        </a:rPr>
                        <a:t>Teardown</a:t>
                      </a:r>
                      <a:endParaRPr sz="1600">
                        <a:solidFill>
                          <a:srgbClr val="999999"/>
                        </a:solidFill>
                      </a:endParaRPr>
                    </a:p>
                  </a:txBody>
                  <a:tcPr marT="91425" marB="91425" marR="91425" marL="91425" anchor="ctr"/>
                </a:tc>
              </a:tr>
            </a:tbl>
          </a:graphicData>
        </a:graphic>
      </p:graphicFrame>
      <p:sp>
        <p:nvSpPr>
          <p:cNvPr id="241" name="Google Shape;241;p26"/>
          <p:cNvSpPr/>
          <p:nvPr/>
        </p:nvSpPr>
        <p:spPr>
          <a:xfrm>
            <a:off x="3871263" y="3829725"/>
            <a:ext cx="1459500" cy="877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latin typeface="Calibri"/>
                <a:ea typeface="Calibri"/>
                <a:cs typeface="Calibri"/>
                <a:sym typeface="Calibri"/>
              </a:rPr>
              <a:t>Class</a:t>
            </a:r>
            <a:r>
              <a:rPr lang="en-US" sz="1800">
                <a:latin typeface="Calibri"/>
                <a:ea typeface="Calibri"/>
                <a:cs typeface="Calibri"/>
                <a:sym typeface="Calibri"/>
              </a:rPr>
              <a:t> Under Test</a:t>
            </a:r>
            <a:endParaRPr sz="1800">
              <a:latin typeface="Calibri"/>
              <a:ea typeface="Calibri"/>
              <a:cs typeface="Calibri"/>
              <a:sym typeface="Calibri"/>
            </a:endParaRPr>
          </a:p>
        </p:txBody>
      </p:sp>
      <p:sp>
        <p:nvSpPr>
          <p:cNvPr id="242" name="Google Shape;242;p26"/>
          <p:cNvSpPr/>
          <p:nvPr/>
        </p:nvSpPr>
        <p:spPr>
          <a:xfrm>
            <a:off x="6796813" y="3148625"/>
            <a:ext cx="1459500" cy="2862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latin typeface="Calibri"/>
                <a:ea typeface="Calibri"/>
                <a:cs typeface="Calibri"/>
                <a:sym typeface="Calibri"/>
              </a:rPr>
              <a:t>Spy </a:t>
            </a:r>
            <a:r>
              <a:rPr b="1" lang="en-US" sz="1800">
                <a:latin typeface="Calibri"/>
                <a:ea typeface="Calibri"/>
                <a:cs typeface="Calibri"/>
                <a:sym typeface="Calibri"/>
              </a:rPr>
              <a:t>Object</a:t>
            </a:r>
            <a:endParaRPr sz="1800">
              <a:latin typeface="Calibri"/>
              <a:ea typeface="Calibri"/>
              <a:cs typeface="Calibri"/>
              <a:sym typeface="Calibri"/>
            </a:endParaRPr>
          </a:p>
        </p:txBody>
      </p:sp>
      <p:cxnSp>
        <p:nvCxnSpPr>
          <p:cNvPr id="243" name="Google Shape;243;p26"/>
          <p:cNvCxnSpPr/>
          <p:nvPr/>
        </p:nvCxnSpPr>
        <p:spPr>
          <a:xfrm>
            <a:off x="2405213" y="3633075"/>
            <a:ext cx="4394400" cy="9000"/>
          </a:xfrm>
          <a:prstGeom prst="straightConnector1">
            <a:avLst/>
          </a:prstGeom>
          <a:noFill/>
          <a:ln cap="flat" cmpd="sng" w="9525">
            <a:solidFill>
              <a:schemeClr val="dk2"/>
            </a:solidFill>
            <a:prstDash val="solid"/>
            <a:round/>
            <a:headEnd len="med" w="med" type="none"/>
            <a:tailEnd len="med" w="med" type="triangle"/>
          </a:ln>
        </p:spPr>
      </p:cxnSp>
      <p:cxnSp>
        <p:nvCxnSpPr>
          <p:cNvPr id="244" name="Google Shape;244;p26"/>
          <p:cNvCxnSpPr/>
          <p:nvPr/>
        </p:nvCxnSpPr>
        <p:spPr>
          <a:xfrm>
            <a:off x="2421388" y="3784150"/>
            <a:ext cx="1446600" cy="180900"/>
          </a:xfrm>
          <a:prstGeom prst="bentConnector3">
            <a:avLst>
              <a:gd fmla="val 74100" name="adj1"/>
            </a:avLst>
          </a:prstGeom>
          <a:noFill/>
          <a:ln cap="flat" cmpd="sng" w="9525">
            <a:solidFill>
              <a:schemeClr val="dk2"/>
            </a:solidFill>
            <a:prstDash val="solid"/>
            <a:round/>
            <a:headEnd len="med" w="med" type="none"/>
            <a:tailEnd len="med" w="med" type="triangle"/>
          </a:ln>
        </p:spPr>
      </p:cxnSp>
      <p:cxnSp>
        <p:nvCxnSpPr>
          <p:cNvPr id="245" name="Google Shape;245;p26"/>
          <p:cNvCxnSpPr/>
          <p:nvPr/>
        </p:nvCxnSpPr>
        <p:spPr>
          <a:xfrm>
            <a:off x="2402488" y="4298063"/>
            <a:ext cx="1484400" cy="14700"/>
          </a:xfrm>
          <a:prstGeom prst="straightConnector1">
            <a:avLst/>
          </a:prstGeom>
          <a:noFill/>
          <a:ln cap="flat" cmpd="sng" w="9525">
            <a:solidFill>
              <a:schemeClr val="dk2"/>
            </a:solidFill>
            <a:prstDash val="solid"/>
            <a:round/>
            <a:headEnd len="med" w="med" type="none"/>
            <a:tailEnd len="med" w="med" type="triangle"/>
          </a:ln>
        </p:spPr>
      </p:cxnSp>
      <p:cxnSp>
        <p:nvCxnSpPr>
          <p:cNvPr id="246" name="Google Shape;246;p26"/>
          <p:cNvCxnSpPr/>
          <p:nvPr/>
        </p:nvCxnSpPr>
        <p:spPr>
          <a:xfrm>
            <a:off x="2393813" y="4843225"/>
            <a:ext cx="4431600" cy="25800"/>
          </a:xfrm>
          <a:prstGeom prst="straightConnector1">
            <a:avLst/>
          </a:prstGeom>
          <a:noFill/>
          <a:ln cap="flat" cmpd="sng" w="9525">
            <a:solidFill>
              <a:schemeClr val="dk2"/>
            </a:solidFill>
            <a:prstDash val="solid"/>
            <a:round/>
            <a:headEnd len="med" w="med" type="none"/>
            <a:tailEnd len="med" w="med" type="triangle"/>
          </a:ln>
        </p:spPr>
      </p:cxnSp>
      <p:sp>
        <p:nvSpPr>
          <p:cNvPr id="247" name="Google Shape;247;p26"/>
          <p:cNvSpPr txBox="1"/>
          <p:nvPr/>
        </p:nvSpPr>
        <p:spPr>
          <a:xfrm>
            <a:off x="3971163" y="3251250"/>
            <a:ext cx="8394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1F7199"/>
                </a:solidFill>
                <a:latin typeface="Calibri"/>
                <a:ea typeface="Calibri"/>
                <a:cs typeface="Calibri"/>
                <a:sym typeface="Calibri"/>
              </a:rPr>
              <a:t>Create</a:t>
            </a:r>
            <a:endParaRPr sz="1000">
              <a:solidFill>
                <a:srgbClr val="1F7199"/>
              </a:solidFill>
              <a:latin typeface="Calibri"/>
              <a:ea typeface="Calibri"/>
              <a:cs typeface="Calibri"/>
              <a:sym typeface="Calibri"/>
            </a:endParaRPr>
          </a:p>
        </p:txBody>
      </p:sp>
      <p:sp>
        <p:nvSpPr>
          <p:cNvPr id="248" name="Google Shape;248;p26"/>
          <p:cNvSpPr txBox="1"/>
          <p:nvPr/>
        </p:nvSpPr>
        <p:spPr>
          <a:xfrm>
            <a:off x="2548626" y="3689356"/>
            <a:ext cx="8394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1F7199"/>
                </a:solidFill>
                <a:latin typeface="Calibri"/>
                <a:ea typeface="Calibri"/>
                <a:cs typeface="Calibri"/>
                <a:sym typeface="Calibri"/>
              </a:rPr>
              <a:t>Initialize</a:t>
            </a:r>
            <a:endParaRPr sz="1000">
              <a:solidFill>
                <a:srgbClr val="1F7199"/>
              </a:solidFill>
              <a:latin typeface="Calibri"/>
              <a:ea typeface="Calibri"/>
              <a:cs typeface="Calibri"/>
              <a:sym typeface="Calibri"/>
            </a:endParaRPr>
          </a:p>
        </p:txBody>
      </p:sp>
      <p:sp>
        <p:nvSpPr>
          <p:cNvPr id="249" name="Google Shape;249;p26"/>
          <p:cNvSpPr txBox="1"/>
          <p:nvPr/>
        </p:nvSpPr>
        <p:spPr>
          <a:xfrm>
            <a:off x="2718538" y="4247569"/>
            <a:ext cx="8394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990000"/>
                </a:solidFill>
                <a:latin typeface="Calibri"/>
                <a:ea typeface="Calibri"/>
                <a:cs typeface="Calibri"/>
                <a:sym typeface="Calibri"/>
              </a:rPr>
              <a:t>Calls</a:t>
            </a:r>
            <a:endParaRPr sz="1000">
              <a:solidFill>
                <a:srgbClr val="990000"/>
              </a:solidFill>
              <a:latin typeface="Calibri"/>
              <a:ea typeface="Calibri"/>
              <a:cs typeface="Calibri"/>
              <a:sym typeface="Calibri"/>
            </a:endParaRPr>
          </a:p>
        </p:txBody>
      </p:sp>
      <p:sp>
        <p:nvSpPr>
          <p:cNvPr id="250" name="Google Shape;250;p26"/>
          <p:cNvSpPr txBox="1"/>
          <p:nvPr/>
        </p:nvSpPr>
        <p:spPr>
          <a:xfrm>
            <a:off x="3632463" y="4767475"/>
            <a:ext cx="19371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38761D"/>
                </a:solidFill>
                <a:latin typeface="Calibri"/>
                <a:ea typeface="Calibri"/>
                <a:cs typeface="Calibri"/>
                <a:sym typeface="Calibri"/>
              </a:rPr>
              <a:t>Verify</a:t>
            </a:r>
            <a:endParaRPr sz="1000">
              <a:solidFill>
                <a:srgbClr val="38761D"/>
              </a:solidFill>
              <a:latin typeface="Calibri"/>
              <a:ea typeface="Calibri"/>
              <a:cs typeface="Calibri"/>
              <a:sym typeface="Calibri"/>
            </a:endParaRPr>
          </a:p>
        </p:txBody>
      </p:sp>
      <p:cxnSp>
        <p:nvCxnSpPr>
          <p:cNvPr id="251" name="Google Shape;251;p26"/>
          <p:cNvCxnSpPr/>
          <p:nvPr/>
        </p:nvCxnSpPr>
        <p:spPr>
          <a:xfrm>
            <a:off x="5330763" y="4298063"/>
            <a:ext cx="1484400" cy="14700"/>
          </a:xfrm>
          <a:prstGeom prst="straightConnector1">
            <a:avLst/>
          </a:prstGeom>
          <a:noFill/>
          <a:ln cap="flat" cmpd="sng" w="9525">
            <a:solidFill>
              <a:schemeClr val="dk2"/>
            </a:solidFill>
            <a:prstDash val="solid"/>
            <a:round/>
            <a:headEnd len="med" w="med" type="none"/>
            <a:tailEnd len="med" w="med" type="triangle"/>
          </a:ln>
        </p:spPr>
      </p:cxnSp>
      <p:sp>
        <p:nvSpPr>
          <p:cNvPr id="252" name="Google Shape;252;p26"/>
          <p:cNvSpPr txBox="1"/>
          <p:nvPr/>
        </p:nvSpPr>
        <p:spPr>
          <a:xfrm>
            <a:off x="5280363" y="4214675"/>
            <a:ext cx="15852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990000"/>
                </a:solidFill>
                <a:latin typeface="Calibri"/>
                <a:ea typeface="Calibri"/>
                <a:cs typeface="Calibri"/>
                <a:sym typeface="Calibri"/>
              </a:rPr>
              <a:t>Uses</a:t>
            </a:r>
            <a:endParaRPr sz="1000">
              <a:solidFill>
                <a:srgbClr val="990000"/>
              </a:solidFill>
              <a:latin typeface="Calibri"/>
              <a:ea typeface="Calibri"/>
              <a:cs typeface="Calibri"/>
              <a:sym typeface="Calibri"/>
            </a:endParaRPr>
          </a:p>
        </p:txBody>
      </p:sp>
      <p:sp>
        <p:nvSpPr>
          <p:cNvPr id="253" name="Google Shape;253;p26"/>
          <p:cNvSpPr/>
          <p:nvPr/>
        </p:nvSpPr>
        <p:spPr>
          <a:xfrm>
            <a:off x="6949850" y="3829725"/>
            <a:ext cx="1157700" cy="19167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latin typeface="Calibri"/>
                <a:ea typeface="Calibri"/>
                <a:cs typeface="Calibri"/>
                <a:sym typeface="Calibri"/>
              </a:rPr>
              <a:t>Spied class</a:t>
            </a:r>
            <a:endParaRPr sz="18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Mockito - @Spy</a:t>
            </a:r>
            <a:endParaRPr/>
          </a:p>
        </p:txBody>
      </p:sp>
      <p:sp>
        <p:nvSpPr>
          <p:cNvPr id="260" name="Google Shape;260;p27"/>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61" name="Google Shape;261;p27"/>
          <p:cNvSpPr txBox="1"/>
          <p:nvPr/>
        </p:nvSpPr>
        <p:spPr>
          <a:xfrm>
            <a:off x="822950" y="2162450"/>
            <a:ext cx="7586400" cy="35094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350">
                <a:solidFill>
                  <a:srgbClr val="1F7199"/>
                </a:solidFill>
                <a:latin typeface="Courier New"/>
                <a:ea typeface="Courier New"/>
                <a:cs typeface="Courier New"/>
                <a:sym typeface="Courier New"/>
              </a:rPr>
              <a:t>@Spy</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List&lt;String&gt; spiedList = </a:t>
            </a:r>
            <a:r>
              <a:rPr lang="en-US" sz="1350">
                <a:solidFill>
                  <a:srgbClr val="63B175"/>
                </a:solidFill>
                <a:latin typeface="Courier New"/>
                <a:ea typeface="Courier New"/>
                <a:cs typeface="Courier New"/>
                <a:sym typeface="Courier New"/>
              </a:rPr>
              <a:t>new</a:t>
            </a:r>
            <a:r>
              <a:rPr lang="en-US" sz="1350">
                <a:solidFill>
                  <a:schemeClr val="dk1"/>
                </a:solidFill>
                <a:latin typeface="Courier New"/>
                <a:ea typeface="Courier New"/>
                <a:cs typeface="Courier New"/>
                <a:sym typeface="Courier New"/>
              </a:rPr>
              <a:t> </a:t>
            </a:r>
            <a:r>
              <a:rPr b="1" lang="en-US" sz="1350">
                <a:solidFill>
                  <a:srgbClr val="267438"/>
                </a:solidFill>
                <a:latin typeface="Courier New"/>
                <a:ea typeface="Courier New"/>
                <a:cs typeface="Courier New"/>
                <a:sym typeface="Courier New"/>
              </a:rPr>
              <a:t>ArrayList</a:t>
            </a:r>
            <a:r>
              <a:rPr lang="en-US" sz="1350">
                <a:solidFill>
                  <a:schemeClr val="dk1"/>
                </a:solidFill>
                <a:latin typeface="Courier New"/>
                <a:ea typeface="Courier New"/>
                <a:cs typeface="Courier New"/>
                <a:sym typeface="Courier New"/>
              </a:rPr>
              <a:t>&lt;String&gt;();</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rgbClr val="1F7199"/>
                </a:solidFill>
                <a:latin typeface="Courier New"/>
                <a:ea typeface="Courier New"/>
                <a:cs typeface="Courier New"/>
                <a:sym typeface="Courier New"/>
              </a:rPr>
              <a:t>@Test</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rgbClr val="63B175"/>
                </a:solidFill>
                <a:latin typeface="Courier New"/>
                <a:ea typeface="Courier New"/>
                <a:cs typeface="Courier New"/>
                <a:sym typeface="Courier New"/>
              </a:rPr>
              <a:t>public</a:t>
            </a:r>
            <a:r>
              <a:rPr lang="en-US" sz="1350">
                <a:solidFill>
                  <a:schemeClr val="dk1"/>
                </a:solidFill>
                <a:latin typeface="Courier New"/>
                <a:ea typeface="Courier New"/>
                <a:cs typeface="Courier New"/>
                <a:sym typeface="Courier New"/>
              </a:rPr>
              <a:t> </a:t>
            </a:r>
            <a:r>
              <a:rPr lang="en-US" sz="1350">
                <a:solidFill>
                  <a:srgbClr val="63B175"/>
                </a:solidFill>
                <a:latin typeface="Courier New"/>
                <a:ea typeface="Courier New"/>
                <a:cs typeface="Courier New"/>
                <a:sym typeface="Courier New"/>
              </a:rPr>
              <a:t>void</a:t>
            </a:r>
            <a:r>
              <a:rPr lang="en-US" sz="1350">
                <a:solidFill>
                  <a:schemeClr val="dk1"/>
                </a:solidFill>
                <a:latin typeface="Courier New"/>
                <a:ea typeface="Courier New"/>
                <a:cs typeface="Courier New"/>
                <a:sym typeface="Courier New"/>
              </a:rPr>
              <a:t> </a:t>
            </a:r>
            <a:r>
              <a:rPr b="1" lang="en-US" sz="1350">
                <a:solidFill>
                  <a:srgbClr val="267438"/>
                </a:solidFill>
                <a:latin typeface="Courier New"/>
                <a:ea typeface="Courier New"/>
                <a:cs typeface="Courier New"/>
                <a:sym typeface="Courier New"/>
              </a:rPr>
              <a:t>whenUseSpyAnnotation_thenSpyIsInjectedCorrectly</a:t>
            </a:r>
            <a:r>
              <a:rPr lang="en-US" sz="1350">
                <a:solidFill>
                  <a:schemeClr val="dk1"/>
                </a:solidFill>
                <a:latin typeface="Courier New"/>
                <a:ea typeface="Courier New"/>
                <a:cs typeface="Courier New"/>
                <a:sym typeface="Courier New"/>
              </a:rPr>
              <a:t>() {</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spiedList.add(</a:t>
            </a:r>
            <a:r>
              <a:rPr lang="en-US" sz="1350">
                <a:solidFill>
                  <a:srgbClr val="4E9359"/>
                </a:solidFill>
                <a:latin typeface="Courier New"/>
                <a:ea typeface="Courier New"/>
                <a:cs typeface="Courier New"/>
                <a:sym typeface="Courier New"/>
              </a:rPr>
              <a:t>"one"</a:t>
            </a:r>
            <a:r>
              <a:rPr lang="en-US" sz="1350">
                <a:solidFill>
                  <a:schemeClr val="dk1"/>
                </a:solidFill>
                <a:latin typeface="Courier New"/>
                <a:ea typeface="Courier New"/>
                <a:cs typeface="Courier New"/>
                <a:sym typeface="Courier New"/>
              </a:rPr>
              <a:t>);</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spiedList.add(</a:t>
            </a:r>
            <a:r>
              <a:rPr lang="en-US" sz="1350">
                <a:solidFill>
                  <a:srgbClr val="4E9359"/>
                </a:solidFill>
                <a:latin typeface="Courier New"/>
                <a:ea typeface="Courier New"/>
                <a:cs typeface="Courier New"/>
                <a:sym typeface="Courier New"/>
              </a:rPr>
              <a:t>"two"</a:t>
            </a:r>
            <a:r>
              <a:rPr lang="en-US" sz="1350">
                <a:solidFill>
                  <a:schemeClr val="dk1"/>
                </a:solidFill>
                <a:latin typeface="Courier New"/>
                <a:ea typeface="Courier New"/>
                <a:cs typeface="Courier New"/>
                <a:sym typeface="Courier New"/>
              </a:rPr>
              <a:t>);</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Mockito.verify(spiedList).add(</a:t>
            </a:r>
            <a:r>
              <a:rPr lang="en-US" sz="1350">
                <a:solidFill>
                  <a:srgbClr val="4E9359"/>
                </a:solidFill>
                <a:latin typeface="Courier New"/>
                <a:ea typeface="Courier New"/>
                <a:cs typeface="Courier New"/>
                <a:sym typeface="Courier New"/>
              </a:rPr>
              <a:t>"one"</a:t>
            </a:r>
            <a:r>
              <a:rPr lang="en-US" sz="1350">
                <a:solidFill>
                  <a:schemeClr val="dk1"/>
                </a:solidFill>
                <a:latin typeface="Courier New"/>
                <a:ea typeface="Courier New"/>
                <a:cs typeface="Courier New"/>
                <a:sym typeface="Courier New"/>
              </a:rPr>
              <a:t>);</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Mockito.verify(spiedList).add(</a:t>
            </a:r>
            <a:r>
              <a:rPr lang="en-US" sz="1350">
                <a:solidFill>
                  <a:srgbClr val="4E9359"/>
                </a:solidFill>
                <a:latin typeface="Courier New"/>
                <a:ea typeface="Courier New"/>
                <a:cs typeface="Courier New"/>
                <a:sym typeface="Courier New"/>
              </a:rPr>
              <a:t>"two"</a:t>
            </a:r>
            <a:r>
              <a:rPr lang="en-US" sz="1350">
                <a:solidFill>
                  <a:schemeClr val="dk1"/>
                </a:solidFill>
                <a:latin typeface="Courier New"/>
                <a:ea typeface="Courier New"/>
                <a:cs typeface="Courier New"/>
                <a:sym typeface="Courier New"/>
              </a:rPr>
              <a:t>);</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assertEquals(</a:t>
            </a:r>
            <a:r>
              <a:rPr lang="en-US" sz="1350">
                <a:solidFill>
                  <a:srgbClr val="4E9359"/>
                </a:solidFill>
                <a:latin typeface="Courier New"/>
                <a:ea typeface="Courier New"/>
                <a:cs typeface="Courier New"/>
                <a:sym typeface="Courier New"/>
              </a:rPr>
              <a:t>2</a:t>
            </a:r>
            <a:r>
              <a:rPr lang="en-US" sz="1350">
                <a:solidFill>
                  <a:schemeClr val="dk1"/>
                </a:solidFill>
                <a:latin typeface="Courier New"/>
                <a:ea typeface="Courier New"/>
                <a:cs typeface="Courier New"/>
                <a:sym typeface="Courier New"/>
              </a:rPr>
              <a:t>, spiedList.size());</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Mockito.doReturn(</a:t>
            </a:r>
            <a:r>
              <a:rPr lang="en-US" sz="1350">
                <a:solidFill>
                  <a:srgbClr val="4E9359"/>
                </a:solidFill>
                <a:latin typeface="Courier New"/>
                <a:ea typeface="Courier New"/>
                <a:cs typeface="Courier New"/>
                <a:sym typeface="Courier New"/>
              </a:rPr>
              <a:t>100</a:t>
            </a:r>
            <a:r>
              <a:rPr lang="en-US" sz="1350">
                <a:solidFill>
                  <a:schemeClr val="dk1"/>
                </a:solidFill>
                <a:latin typeface="Courier New"/>
                <a:ea typeface="Courier New"/>
                <a:cs typeface="Courier New"/>
                <a:sym typeface="Courier New"/>
              </a:rPr>
              <a:t>).when(spiedList).size();</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    assertEquals(</a:t>
            </a:r>
            <a:r>
              <a:rPr lang="en-US" sz="1350">
                <a:solidFill>
                  <a:srgbClr val="4E9359"/>
                </a:solidFill>
                <a:latin typeface="Courier New"/>
                <a:ea typeface="Courier New"/>
                <a:cs typeface="Courier New"/>
                <a:sym typeface="Courier New"/>
              </a:rPr>
              <a:t>100</a:t>
            </a:r>
            <a:r>
              <a:rPr lang="en-US" sz="1350">
                <a:solidFill>
                  <a:schemeClr val="dk1"/>
                </a:solidFill>
                <a:latin typeface="Courier New"/>
                <a:ea typeface="Courier New"/>
                <a:cs typeface="Courier New"/>
                <a:sym typeface="Courier New"/>
              </a:rPr>
              <a:t>, spiedList.size());</a:t>
            </a:r>
            <a:endParaRPr sz="13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350">
                <a:solidFill>
                  <a:schemeClr val="dk1"/>
                </a:solidFill>
                <a:latin typeface="Courier New"/>
                <a:ea typeface="Courier New"/>
                <a:cs typeface="Courier New"/>
                <a:sym typeface="Courier New"/>
              </a:rPr>
              <a:t>}</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8"/>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Demo - Junit5 + Mockito</a:t>
            </a:r>
            <a:endParaRPr/>
          </a:p>
        </p:txBody>
      </p:sp>
      <p:sp>
        <p:nvSpPr>
          <p:cNvPr id="268" name="Google Shape;268;p28"/>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69" name="Google Shape;269;p28"/>
          <p:cNvSpPr/>
          <p:nvPr/>
        </p:nvSpPr>
        <p:spPr>
          <a:xfrm>
            <a:off x="6599700" y="1911450"/>
            <a:ext cx="1809600" cy="6975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270" name="Google Shape;270;p28"/>
          <p:cNvGrpSpPr/>
          <p:nvPr/>
        </p:nvGrpSpPr>
        <p:grpSpPr>
          <a:xfrm>
            <a:off x="750952" y="1622351"/>
            <a:ext cx="8393204" cy="4472044"/>
            <a:chOff x="1126325" y="1808350"/>
            <a:chExt cx="7552600" cy="4195950"/>
          </a:xfrm>
        </p:grpSpPr>
        <p:pic>
          <p:nvPicPr>
            <p:cNvPr id="271" name="Google Shape;271;p28"/>
            <p:cNvPicPr preferRelativeResize="0"/>
            <p:nvPr/>
          </p:nvPicPr>
          <p:blipFill rotWithShape="1">
            <a:blip r:embed="rId3">
              <a:alphaModFix/>
            </a:blip>
            <a:srcRect b="11107" l="7309" r="7894" t="10779"/>
            <a:stretch/>
          </p:blipFill>
          <p:spPr>
            <a:xfrm>
              <a:off x="1126325" y="1911450"/>
              <a:ext cx="7064475" cy="4092850"/>
            </a:xfrm>
            <a:prstGeom prst="rect">
              <a:avLst/>
            </a:prstGeom>
            <a:noFill/>
            <a:ln>
              <a:noFill/>
            </a:ln>
          </p:spPr>
        </p:pic>
        <p:sp>
          <p:nvSpPr>
            <p:cNvPr id="272" name="Google Shape;272;p28"/>
            <p:cNvSpPr/>
            <p:nvPr/>
          </p:nvSpPr>
          <p:spPr>
            <a:xfrm>
              <a:off x="6958125" y="1808350"/>
              <a:ext cx="1720800" cy="538200"/>
            </a:xfrm>
            <a:prstGeom prst="roundRect">
              <a:avLst>
                <a:gd fmla="val 16667" name="adj"/>
              </a:avLst>
            </a:prstGeom>
            <a:solidFill>
              <a:schemeClr val="lt1"/>
            </a:solidFill>
            <a:ln>
              <a:noFill/>
            </a:ln>
          </p:spPr>
          <p:txBody>
            <a:bodyPr anchorCtr="0" anchor="ctr" bIns="93850" lIns="93850" spcFirstLastPara="1" rIns="93850" wrap="square" tIns="93850">
              <a:noAutofit/>
            </a:bodyPr>
            <a:lstStyle/>
            <a:p>
              <a:pPr indent="0" lvl="0" marL="0" rtl="0" algn="ctr">
                <a:spcBef>
                  <a:spcPts val="0"/>
                </a:spcBef>
                <a:spcAft>
                  <a:spcPts val="0"/>
                </a:spcAft>
                <a:buNone/>
              </a:pPr>
              <a:r>
                <a:t/>
              </a:r>
              <a:endParaRPr sz="1436">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Demo2 - Junit5 + Mockito</a:t>
            </a:r>
            <a:endParaRPr/>
          </a:p>
        </p:txBody>
      </p:sp>
      <p:sp>
        <p:nvSpPr>
          <p:cNvPr id="279" name="Google Shape;279;p29"/>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grpSp>
        <p:nvGrpSpPr>
          <p:cNvPr id="280" name="Google Shape;280;p29"/>
          <p:cNvGrpSpPr/>
          <p:nvPr/>
        </p:nvGrpSpPr>
        <p:grpSpPr>
          <a:xfrm>
            <a:off x="894800" y="1842975"/>
            <a:ext cx="8003025" cy="4376775"/>
            <a:chOff x="894800" y="1842975"/>
            <a:chExt cx="8003025" cy="4376775"/>
          </a:xfrm>
        </p:grpSpPr>
        <p:pic>
          <p:nvPicPr>
            <p:cNvPr id="281" name="Google Shape;281;p29"/>
            <p:cNvPicPr preferRelativeResize="0"/>
            <p:nvPr/>
          </p:nvPicPr>
          <p:blipFill>
            <a:blip r:embed="rId3">
              <a:alphaModFix/>
            </a:blip>
            <a:stretch>
              <a:fillRect/>
            </a:stretch>
          </p:blipFill>
          <p:spPr>
            <a:xfrm>
              <a:off x="894800" y="1842975"/>
              <a:ext cx="7709951" cy="4376775"/>
            </a:xfrm>
            <a:prstGeom prst="rect">
              <a:avLst/>
            </a:prstGeom>
            <a:noFill/>
            <a:ln>
              <a:noFill/>
            </a:ln>
          </p:spPr>
        </p:pic>
        <p:sp>
          <p:nvSpPr>
            <p:cNvPr id="282" name="Google Shape;282;p29"/>
            <p:cNvSpPr/>
            <p:nvPr/>
          </p:nvSpPr>
          <p:spPr>
            <a:xfrm>
              <a:off x="6751625" y="1845900"/>
              <a:ext cx="2146200" cy="85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Testing Recipe </a:t>
            </a:r>
            <a:r>
              <a:rPr lang="en-US"/>
              <a:t>(AAA Pattern)</a:t>
            </a:r>
            <a:endParaRPr/>
          </a:p>
        </p:txBody>
      </p:sp>
      <p:sp>
        <p:nvSpPr>
          <p:cNvPr id="289" name="Google Shape;289;p30"/>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
        <p:nvSpPr>
          <p:cNvPr id="290" name="Google Shape;290;p30"/>
          <p:cNvSpPr txBox="1"/>
          <p:nvPr/>
        </p:nvSpPr>
        <p:spPr>
          <a:xfrm>
            <a:off x="1028750" y="2150975"/>
            <a:ext cx="7132200" cy="3724800"/>
          </a:xfrm>
          <a:prstGeom prst="rect">
            <a:avLst/>
          </a:prstGeom>
          <a:noFill/>
          <a:ln>
            <a:noFill/>
          </a:ln>
        </p:spPr>
        <p:txBody>
          <a:bodyPr anchorCtr="0" anchor="t" bIns="91425" lIns="91425" spcFirstLastPara="1" rIns="91425" wrap="square" tIns="91425">
            <a:spAutoFit/>
          </a:bodyPr>
          <a:lstStyle/>
          <a:p>
            <a:pPr indent="-355600" lvl="0" marL="457200" rtl="0" algn="l">
              <a:lnSpc>
                <a:spcPct val="150000"/>
              </a:lnSpc>
              <a:spcBef>
                <a:spcPts val="0"/>
              </a:spcBef>
              <a:spcAft>
                <a:spcPts val="0"/>
              </a:spcAft>
              <a:buClr>
                <a:srgbClr val="3F3F3F"/>
              </a:buClr>
              <a:buSzPts val="2000"/>
              <a:buFont typeface="Calibri"/>
              <a:buAutoNum type="arabicParenR"/>
            </a:pPr>
            <a:r>
              <a:rPr b="1" lang="en-US" sz="2000">
                <a:solidFill>
                  <a:srgbClr val="3F3F3F"/>
                </a:solidFill>
                <a:latin typeface="Calibri"/>
                <a:ea typeface="Calibri"/>
                <a:cs typeface="Calibri"/>
                <a:sym typeface="Calibri"/>
              </a:rPr>
              <a:t>Arrange</a:t>
            </a:r>
            <a:endParaRPr b="1" sz="2000">
              <a:solidFill>
                <a:srgbClr val="3F3F3F"/>
              </a:solidFill>
              <a:latin typeface="Calibri"/>
              <a:ea typeface="Calibri"/>
              <a:cs typeface="Calibri"/>
              <a:sym typeface="Calibri"/>
            </a:endParaRPr>
          </a:p>
          <a:p>
            <a:pPr indent="-355600" lvl="2" marL="1371600" rtl="0" algn="l">
              <a:lnSpc>
                <a:spcPct val="150000"/>
              </a:lnSpc>
              <a:spcBef>
                <a:spcPts val="0"/>
              </a:spcBef>
              <a:spcAft>
                <a:spcPts val="0"/>
              </a:spcAft>
              <a:buClr>
                <a:srgbClr val="3F3F3F"/>
              </a:buClr>
              <a:buSzPts val="2000"/>
              <a:buFont typeface="Calibri"/>
              <a:buAutoNum type="romanLcParenR"/>
            </a:pPr>
            <a:r>
              <a:rPr lang="en-US" sz="2000" u="sng">
                <a:solidFill>
                  <a:srgbClr val="3F3F3F"/>
                </a:solidFill>
                <a:latin typeface="Calibri"/>
                <a:ea typeface="Calibri"/>
                <a:cs typeface="Calibri"/>
                <a:sym typeface="Calibri"/>
              </a:rPr>
              <a:t>Set up</a:t>
            </a:r>
            <a:r>
              <a:rPr lang="en-US" sz="2000">
                <a:solidFill>
                  <a:srgbClr val="3F3F3F"/>
                </a:solidFill>
                <a:latin typeface="Calibri"/>
                <a:ea typeface="Calibri"/>
                <a:cs typeface="Calibri"/>
                <a:sym typeface="Calibri"/>
              </a:rPr>
              <a:t>: Instantiate necessary classes.</a:t>
            </a:r>
            <a:endParaRPr sz="2000">
              <a:solidFill>
                <a:srgbClr val="3F3F3F"/>
              </a:solidFill>
              <a:latin typeface="Calibri"/>
              <a:ea typeface="Calibri"/>
              <a:cs typeface="Calibri"/>
              <a:sym typeface="Calibri"/>
            </a:endParaRPr>
          </a:p>
          <a:p>
            <a:pPr indent="-355600" lvl="2" marL="1371600" rtl="0" algn="l">
              <a:lnSpc>
                <a:spcPct val="150000"/>
              </a:lnSpc>
              <a:spcBef>
                <a:spcPts val="0"/>
              </a:spcBef>
              <a:spcAft>
                <a:spcPts val="0"/>
              </a:spcAft>
              <a:buClr>
                <a:srgbClr val="3F3F3F"/>
              </a:buClr>
              <a:buSzPts val="2000"/>
              <a:buFont typeface="Calibri"/>
              <a:buAutoNum type="romanLcParenR"/>
            </a:pPr>
            <a:r>
              <a:rPr lang="en-US" sz="2000" u="sng">
                <a:solidFill>
                  <a:srgbClr val="3F3F3F"/>
                </a:solidFill>
                <a:latin typeface="Calibri"/>
                <a:ea typeface="Calibri"/>
                <a:cs typeface="Calibri"/>
                <a:sym typeface="Calibri"/>
              </a:rPr>
              <a:t>Stubbing</a:t>
            </a:r>
            <a:r>
              <a:rPr lang="en-US" sz="2000">
                <a:solidFill>
                  <a:srgbClr val="3F3F3F"/>
                </a:solidFill>
                <a:latin typeface="Calibri"/>
                <a:ea typeface="Calibri"/>
                <a:cs typeface="Calibri"/>
                <a:sym typeface="Calibri"/>
              </a:rPr>
              <a:t>: Define behaviours for mocks/spies.</a:t>
            </a:r>
            <a:endParaRPr sz="2000">
              <a:solidFill>
                <a:srgbClr val="3F3F3F"/>
              </a:solidFill>
              <a:latin typeface="Calibri"/>
              <a:ea typeface="Calibri"/>
              <a:cs typeface="Calibri"/>
              <a:sym typeface="Calibri"/>
            </a:endParaRPr>
          </a:p>
          <a:p>
            <a:pPr indent="-355600" lvl="0" marL="457200" rtl="0" algn="l">
              <a:lnSpc>
                <a:spcPct val="150000"/>
              </a:lnSpc>
              <a:spcBef>
                <a:spcPts val="0"/>
              </a:spcBef>
              <a:spcAft>
                <a:spcPts val="0"/>
              </a:spcAft>
              <a:buClr>
                <a:srgbClr val="3F3F3F"/>
              </a:buClr>
              <a:buSzPts val="2000"/>
              <a:buFont typeface="Calibri"/>
              <a:buAutoNum type="arabicParenR"/>
            </a:pPr>
            <a:r>
              <a:rPr b="1" lang="en-US" sz="2000">
                <a:solidFill>
                  <a:srgbClr val="3F3F3F"/>
                </a:solidFill>
                <a:latin typeface="Calibri"/>
                <a:ea typeface="Calibri"/>
                <a:cs typeface="Calibri"/>
                <a:sym typeface="Calibri"/>
              </a:rPr>
              <a:t>Act</a:t>
            </a:r>
            <a:endParaRPr b="1" sz="2000">
              <a:solidFill>
                <a:srgbClr val="3F3F3F"/>
              </a:solidFill>
              <a:latin typeface="Calibri"/>
              <a:ea typeface="Calibri"/>
              <a:cs typeface="Calibri"/>
              <a:sym typeface="Calibri"/>
            </a:endParaRPr>
          </a:p>
          <a:p>
            <a:pPr indent="-355600" lvl="2" marL="1371600" rtl="0" algn="l">
              <a:lnSpc>
                <a:spcPct val="150000"/>
              </a:lnSpc>
              <a:spcBef>
                <a:spcPts val="0"/>
              </a:spcBef>
              <a:spcAft>
                <a:spcPts val="0"/>
              </a:spcAft>
              <a:buClr>
                <a:srgbClr val="3F3F3F"/>
              </a:buClr>
              <a:buSzPts val="2000"/>
              <a:buFont typeface="Calibri"/>
              <a:buAutoNum type="romanLcParenR"/>
            </a:pPr>
            <a:r>
              <a:rPr lang="en-US" sz="2000" u="sng">
                <a:solidFill>
                  <a:srgbClr val="3F3F3F"/>
                </a:solidFill>
                <a:latin typeface="Calibri"/>
                <a:ea typeface="Calibri"/>
                <a:cs typeface="Calibri"/>
                <a:sym typeface="Calibri"/>
              </a:rPr>
              <a:t>Act</a:t>
            </a:r>
            <a:r>
              <a:rPr lang="en-US" sz="2000">
                <a:solidFill>
                  <a:srgbClr val="3F3F3F"/>
                </a:solidFill>
                <a:latin typeface="Calibri"/>
                <a:ea typeface="Calibri"/>
                <a:cs typeface="Calibri"/>
                <a:sym typeface="Calibri"/>
              </a:rPr>
              <a:t>: Call the method under test.</a:t>
            </a:r>
            <a:endParaRPr sz="2000">
              <a:solidFill>
                <a:srgbClr val="3F3F3F"/>
              </a:solidFill>
              <a:latin typeface="Calibri"/>
              <a:ea typeface="Calibri"/>
              <a:cs typeface="Calibri"/>
              <a:sym typeface="Calibri"/>
            </a:endParaRPr>
          </a:p>
          <a:p>
            <a:pPr indent="-355600" lvl="0" marL="457200" rtl="0" algn="l">
              <a:lnSpc>
                <a:spcPct val="150000"/>
              </a:lnSpc>
              <a:spcBef>
                <a:spcPts val="0"/>
              </a:spcBef>
              <a:spcAft>
                <a:spcPts val="0"/>
              </a:spcAft>
              <a:buClr>
                <a:srgbClr val="3F3F3F"/>
              </a:buClr>
              <a:buSzPts val="2000"/>
              <a:buFont typeface="Calibri"/>
              <a:buAutoNum type="arabicParenR"/>
            </a:pPr>
            <a:r>
              <a:rPr b="1" lang="en-US" sz="2000">
                <a:solidFill>
                  <a:srgbClr val="3F3F3F"/>
                </a:solidFill>
                <a:latin typeface="Calibri"/>
                <a:ea typeface="Calibri"/>
                <a:cs typeface="Calibri"/>
                <a:sym typeface="Calibri"/>
              </a:rPr>
              <a:t>Assert</a:t>
            </a:r>
            <a:endParaRPr b="1" sz="2000">
              <a:solidFill>
                <a:srgbClr val="3F3F3F"/>
              </a:solidFill>
              <a:latin typeface="Calibri"/>
              <a:ea typeface="Calibri"/>
              <a:cs typeface="Calibri"/>
              <a:sym typeface="Calibri"/>
            </a:endParaRPr>
          </a:p>
          <a:p>
            <a:pPr indent="-355600" lvl="2" marL="1371600" rtl="0" algn="l">
              <a:lnSpc>
                <a:spcPct val="150000"/>
              </a:lnSpc>
              <a:spcBef>
                <a:spcPts val="0"/>
              </a:spcBef>
              <a:spcAft>
                <a:spcPts val="0"/>
              </a:spcAft>
              <a:buClr>
                <a:srgbClr val="3F3F3F"/>
              </a:buClr>
              <a:buSzPts val="2000"/>
              <a:buFont typeface="Calibri"/>
              <a:buAutoNum type="romanLcParenR"/>
            </a:pPr>
            <a:r>
              <a:rPr lang="en-US" sz="2000" u="sng">
                <a:solidFill>
                  <a:srgbClr val="3F3F3F"/>
                </a:solidFill>
                <a:latin typeface="Calibri"/>
                <a:ea typeface="Calibri"/>
                <a:cs typeface="Calibri"/>
                <a:sym typeface="Calibri"/>
              </a:rPr>
              <a:t>Verify</a:t>
            </a:r>
            <a:r>
              <a:rPr lang="en-US" sz="2000">
                <a:solidFill>
                  <a:srgbClr val="3F3F3F"/>
                </a:solidFill>
                <a:latin typeface="Calibri"/>
                <a:ea typeface="Calibri"/>
                <a:cs typeface="Calibri"/>
                <a:sym typeface="Calibri"/>
              </a:rPr>
              <a:t>: Verify the interactions.</a:t>
            </a:r>
            <a:endParaRPr sz="2000">
              <a:solidFill>
                <a:srgbClr val="3F3F3F"/>
              </a:solidFill>
              <a:latin typeface="Calibri"/>
              <a:ea typeface="Calibri"/>
              <a:cs typeface="Calibri"/>
              <a:sym typeface="Calibri"/>
            </a:endParaRPr>
          </a:p>
          <a:p>
            <a:pPr indent="-355600" lvl="2" marL="1371600" rtl="0" algn="l">
              <a:lnSpc>
                <a:spcPct val="150000"/>
              </a:lnSpc>
              <a:spcBef>
                <a:spcPts val="0"/>
              </a:spcBef>
              <a:spcAft>
                <a:spcPts val="0"/>
              </a:spcAft>
              <a:buClr>
                <a:srgbClr val="3F3F3F"/>
              </a:buClr>
              <a:buSzPts val="2000"/>
              <a:buFont typeface="Calibri"/>
              <a:buAutoNum type="romanLcParenR"/>
            </a:pPr>
            <a:r>
              <a:rPr lang="en-US" sz="2000" u="sng">
                <a:solidFill>
                  <a:srgbClr val="3F3F3F"/>
                </a:solidFill>
                <a:latin typeface="Calibri"/>
                <a:ea typeface="Calibri"/>
                <a:cs typeface="Calibri"/>
                <a:sym typeface="Calibri"/>
              </a:rPr>
              <a:t>Assertions</a:t>
            </a:r>
            <a:r>
              <a:rPr lang="en-US" sz="2000">
                <a:solidFill>
                  <a:srgbClr val="3F3F3F"/>
                </a:solidFill>
                <a:latin typeface="Calibri"/>
                <a:ea typeface="Calibri"/>
                <a:cs typeface="Calibri"/>
                <a:sym typeface="Calibri"/>
              </a:rPr>
              <a:t>: Assert outputs.</a:t>
            </a:r>
            <a:endParaRPr sz="2000">
              <a:solidFill>
                <a:srgbClr val="3F3F3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When to use Mocks vs Spies?</a:t>
            </a:r>
            <a:endParaRPr/>
          </a:p>
        </p:txBody>
      </p:sp>
      <p:sp>
        <p:nvSpPr>
          <p:cNvPr id="297" name="Google Shape;297;p31"/>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8" name="Google Shape;298;p31"/>
          <p:cNvSpPr txBox="1"/>
          <p:nvPr/>
        </p:nvSpPr>
        <p:spPr>
          <a:xfrm>
            <a:off x="837750" y="2436625"/>
            <a:ext cx="7468500" cy="30015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rgbClr val="374151"/>
              </a:buClr>
              <a:buSzPts val="2000"/>
              <a:buFont typeface="Calibri"/>
              <a:buChar char="●"/>
            </a:pPr>
            <a:r>
              <a:rPr b="1" lang="en-US" sz="2000">
                <a:solidFill>
                  <a:srgbClr val="374151"/>
                </a:solidFill>
                <a:latin typeface="Calibri"/>
                <a:ea typeface="Calibri"/>
                <a:cs typeface="Calibri"/>
                <a:sym typeface="Calibri"/>
              </a:rPr>
              <a:t>Mocks</a:t>
            </a:r>
            <a:r>
              <a:rPr lang="en-US" sz="2000">
                <a:solidFill>
                  <a:srgbClr val="374151"/>
                </a:solidFill>
                <a:latin typeface="Calibri"/>
                <a:ea typeface="Calibri"/>
                <a:cs typeface="Calibri"/>
                <a:sym typeface="Calibri"/>
              </a:rPr>
              <a:t> are ideal when you </a:t>
            </a:r>
            <a:r>
              <a:rPr lang="en-US" sz="2000" u="sng">
                <a:solidFill>
                  <a:srgbClr val="374151"/>
                </a:solidFill>
                <a:latin typeface="Calibri"/>
                <a:ea typeface="Calibri"/>
                <a:cs typeface="Calibri"/>
                <a:sym typeface="Calibri"/>
              </a:rPr>
              <a:t>don't have an implementation</a:t>
            </a:r>
            <a:r>
              <a:rPr lang="en-US" sz="2000">
                <a:solidFill>
                  <a:srgbClr val="374151"/>
                </a:solidFill>
                <a:latin typeface="Calibri"/>
                <a:ea typeface="Calibri"/>
                <a:cs typeface="Calibri"/>
                <a:sym typeface="Calibri"/>
              </a:rPr>
              <a:t>, need </a:t>
            </a:r>
            <a:r>
              <a:rPr lang="en-US" sz="2000" u="sng">
                <a:solidFill>
                  <a:srgbClr val="374151"/>
                </a:solidFill>
                <a:latin typeface="Calibri"/>
                <a:ea typeface="Calibri"/>
                <a:cs typeface="Calibri"/>
                <a:sym typeface="Calibri"/>
              </a:rPr>
              <a:t>complete control over the behavior</a:t>
            </a:r>
            <a:r>
              <a:rPr lang="en-US" sz="2000">
                <a:solidFill>
                  <a:srgbClr val="374151"/>
                </a:solidFill>
                <a:latin typeface="Calibri"/>
                <a:ea typeface="Calibri"/>
                <a:cs typeface="Calibri"/>
                <a:sym typeface="Calibri"/>
              </a:rPr>
              <a:t> of a dependency, or when the </a:t>
            </a:r>
            <a:r>
              <a:rPr lang="en-US" sz="2000" u="sng">
                <a:solidFill>
                  <a:srgbClr val="374151"/>
                </a:solidFill>
                <a:latin typeface="Calibri"/>
                <a:ea typeface="Calibri"/>
                <a:cs typeface="Calibri"/>
                <a:sym typeface="Calibri"/>
              </a:rPr>
              <a:t>real implementation is impractical</a:t>
            </a:r>
            <a:r>
              <a:rPr lang="en-US" sz="2000">
                <a:solidFill>
                  <a:srgbClr val="374151"/>
                </a:solidFill>
                <a:latin typeface="Calibri"/>
                <a:ea typeface="Calibri"/>
                <a:cs typeface="Calibri"/>
                <a:sym typeface="Calibri"/>
              </a:rPr>
              <a:t> for testing.</a:t>
            </a:r>
            <a:endParaRPr sz="2000">
              <a:solidFill>
                <a:srgbClr val="374151"/>
              </a:solidFill>
              <a:latin typeface="Calibri"/>
              <a:ea typeface="Calibri"/>
              <a:cs typeface="Calibri"/>
              <a:sym typeface="Calibri"/>
            </a:endParaRPr>
          </a:p>
          <a:p>
            <a:pPr indent="0" lvl="0" marL="457200" rtl="0" algn="l">
              <a:lnSpc>
                <a:spcPct val="115000"/>
              </a:lnSpc>
              <a:spcBef>
                <a:spcPts val="1500"/>
              </a:spcBef>
              <a:spcAft>
                <a:spcPts val="0"/>
              </a:spcAft>
              <a:buNone/>
            </a:pPr>
            <a:r>
              <a:t/>
            </a:r>
            <a:endParaRPr sz="2000">
              <a:solidFill>
                <a:srgbClr val="374151"/>
              </a:solidFill>
              <a:latin typeface="Calibri"/>
              <a:ea typeface="Calibri"/>
              <a:cs typeface="Calibri"/>
              <a:sym typeface="Calibri"/>
            </a:endParaRPr>
          </a:p>
          <a:p>
            <a:pPr indent="-355600" lvl="0" marL="457200" rtl="0" algn="l">
              <a:lnSpc>
                <a:spcPct val="115000"/>
              </a:lnSpc>
              <a:spcBef>
                <a:spcPts val="1500"/>
              </a:spcBef>
              <a:spcAft>
                <a:spcPts val="0"/>
              </a:spcAft>
              <a:buClr>
                <a:srgbClr val="374151"/>
              </a:buClr>
              <a:buSzPts val="2000"/>
              <a:buFont typeface="Calibri"/>
              <a:buChar char="●"/>
            </a:pPr>
            <a:r>
              <a:rPr b="1" lang="en-US" sz="2000">
                <a:solidFill>
                  <a:srgbClr val="374151"/>
                </a:solidFill>
                <a:latin typeface="Calibri"/>
                <a:ea typeface="Calibri"/>
                <a:cs typeface="Calibri"/>
                <a:sym typeface="Calibri"/>
              </a:rPr>
              <a:t>Spies</a:t>
            </a:r>
            <a:r>
              <a:rPr lang="en-US" sz="2000">
                <a:solidFill>
                  <a:srgbClr val="374151"/>
                </a:solidFill>
                <a:latin typeface="Calibri"/>
                <a:ea typeface="Calibri"/>
                <a:cs typeface="Calibri"/>
                <a:sym typeface="Calibri"/>
              </a:rPr>
              <a:t> are suitable when you </a:t>
            </a:r>
            <a:r>
              <a:rPr lang="en-US" sz="2000" u="sng">
                <a:solidFill>
                  <a:srgbClr val="374151"/>
                </a:solidFill>
                <a:latin typeface="Calibri"/>
                <a:ea typeface="Calibri"/>
                <a:cs typeface="Calibri"/>
                <a:sym typeface="Calibri"/>
              </a:rPr>
              <a:t>have a working implementation that you want to use</a:t>
            </a:r>
            <a:r>
              <a:rPr lang="en-US" sz="2000">
                <a:solidFill>
                  <a:srgbClr val="374151"/>
                </a:solidFill>
                <a:latin typeface="Calibri"/>
                <a:ea typeface="Calibri"/>
                <a:cs typeface="Calibri"/>
                <a:sym typeface="Calibri"/>
              </a:rPr>
              <a:t>, but you also </a:t>
            </a:r>
            <a:r>
              <a:rPr lang="en-US" sz="2000" u="sng">
                <a:solidFill>
                  <a:srgbClr val="374151"/>
                </a:solidFill>
                <a:latin typeface="Calibri"/>
                <a:ea typeface="Calibri"/>
                <a:cs typeface="Calibri"/>
                <a:sym typeface="Calibri"/>
              </a:rPr>
              <a:t>need to monitor or verify certain aspects of its behavior</a:t>
            </a:r>
            <a:r>
              <a:rPr lang="en-US" sz="2000">
                <a:solidFill>
                  <a:srgbClr val="374151"/>
                </a:solidFill>
                <a:latin typeface="Calibri"/>
                <a:ea typeface="Calibri"/>
                <a:cs typeface="Calibri"/>
                <a:sym typeface="Calibri"/>
              </a:rPr>
              <a:t>.</a:t>
            </a:r>
            <a:endParaRPr sz="2000">
              <a:solidFill>
                <a:srgbClr val="37415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2"/>
          <p:cNvSpPr txBox="1"/>
          <p:nvPr>
            <p:ph type="title"/>
          </p:nvPr>
        </p:nvSpPr>
        <p:spPr>
          <a:xfrm>
            <a:off x="822960" y="286604"/>
            <a:ext cx="83211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600"/>
              <a:buFont typeface="Calibri"/>
              <a:buNone/>
            </a:pPr>
            <a:r>
              <a:rPr lang="en-US" sz="4600"/>
              <a:t>Mockito Limitations</a:t>
            </a:r>
            <a:endParaRPr/>
          </a:p>
        </p:txBody>
      </p:sp>
      <p:sp>
        <p:nvSpPr>
          <p:cNvPr id="305" name="Google Shape;305;p32"/>
          <p:cNvSpPr txBox="1"/>
          <p:nvPr>
            <p:ph idx="12" type="sldNum"/>
          </p:nvPr>
        </p:nvSpPr>
        <p:spPr>
          <a:xfrm>
            <a:off x="7425344" y="6459786"/>
            <a:ext cx="984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06" name="Google Shape;306;p32"/>
          <p:cNvSpPr txBox="1"/>
          <p:nvPr>
            <p:ph idx="1" type="body"/>
          </p:nvPr>
        </p:nvSpPr>
        <p:spPr>
          <a:xfrm>
            <a:off x="819016" y="1988840"/>
            <a:ext cx="7907400" cy="3312300"/>
          </a:xfrm>
          <a:prstGeom prst="rect">
            <a:avLst/>
          </a:prstGeom>
          <a:noFill/>
          <a:ln>
            <a:noFill/>
          </a:ln>
        </p:spPr>
        <p:txBody>
          <a:bodyPr anchorCtr="0" anchor="t" bIns="45700" lIns="0" spcFirstLastPara="1" rIns="0" wrap="square" tIns="45700">
            <a:normAutofit/>
          </a:bodyPr>
          <a:lstStyle/>
          <a:p>
            <a:pPr indent="-368300" lvl="0" marL="457200" rtl="0" algn="l">
              <a:lnSpc>
                <a:spcPct val="150000"/>
              </a:lnSpc>
              <a:spcBef>
                <a:spcPts val="0"/>
              </a:spcBef>
              <a:spcAft>
                <a:spcPts val="0"/>
              </a:spcAft>
              <a:buClr>
                <a:srgbClr val="36393E"/>
              </a:buClr>
              <a:buSzPts val="2200"/>
              <a:buChar char="○"/>
            </a:pPr>
            <a:r>
              <a:rPr lang="en-US" sz="2200">
                <a:solidFill>
                  <a:srgbClr val="0E101A"/>
                </a:solidFill>
              </a:rPr>
              <a:t>It can’t mock </a:t>
            </a:r>
            <a:r>
              <a:rPr b="1" lang="en-US" sz="2200">
                <a:solidFill>
                  <a:srgbClr val="0E101A"/>
                </a:solidFill>
              </a:rPr>
              <a:t>private</a:t>
            </a:r>
            <a:r>
              <a:rPr lang="en-US" sz="2200">
                <a:solidFill>
                  <a:srgbClr val="0E101A"/>
                </a:solidFill>
              </a:rPr>
              <a:t> and </a:t>
            </a:r>
            <a:r>
              <a:rPr b="1" lang="en-US" sz="2200">
                <a:solidFill>
                  <a:srgbClr val="0E101A"/>
                </a:solidFill>
              </a:rPr>
              <a:t>static</a:t>
            </a:r>
            <a:r>
              <a:rPr lang="en-US" sz="2200">
                <a:solidFill>
                  <a:srgbClr val="0E101A"/>
                </a:solidFill>
              </a:rPr>
              <a:t> </a:t>
            </a:r>
            <a:r>
              <a:rPr b="1" lang="en-US" sz="2200">
                <a:solidFill>
                  <a:srgbClr val="0E101A"/>
                </a:solidFill>
              </a:rPr>
              <a:t>methods</a:t>
            </a:r>
            <a:r>
              <a:rPr lang="en-US" sz="2200">
                <a:solidFill>
                  <a:srgbClr val="0E101A"/>
                </a:solidFill>
              </a:rPr>
              <a:t>.</a:t>
            </a:r>
            <a:endParaRPr sz="2200">
              <a:solidFill>
                <a:srgbClr val="0E101A"/>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It can’t mock </a:t>
            </a:r>
            <a:r>
              <a:rPr b="1" lang="en-US" sz="2200">
                <a:solidFill>
                  <a:schemeClr val="dk1"/>
                </a:solidFill>
              </a:rPr>
              <a:t>private</a:t>
            </a:r>
            <a:r>
              <a:rPr lang="en-US" sz="2200">
                <a:solidFill>
                  <a:schemeClr val="dk1"/>
                </a:solidFill>
              </a:rPr>
              <a:t> </a:t>
            </a:r>
            <a:r>
              <a:rPr b="1" lang="en-US" sz="2200">
                <a:solidFill>
                  <a:schemeClr val="dk1"/>
                </a:solidFill>
              </a:rPr>
              <a:t>fields</a:t>
            </a:r>
            <a:r>
              <a:rPr lang="en-US" sz="2200">
                <a:solidFill>
                  <a:schemeClr val="dk1"/>
                </a:solidFill>
              </a:rPr>
              <a:t>.</a:t>
            </a:r>
            <a:endParaRPr sz="2200">
              <a:solidFill>
                <a:srgbClr val="0E101A"/>
              </a:solidFill>
            </a:endParaRPr>
          </a:p>
          <a:p>
            <a:pPr indent="-368300" lvl="0" marL="457200" rtl="0" algn="l">
              <a:lnSpc>
                <a:spcPct val="150000"/>
              </a:lnSpc>
              <a:spcBef>
                <a:spcPts val="0"/>
              </a:spcBef>
              <a:spcAft>
                <a:spcPts val="0"/>
              </a:spcAft>
              <a:buClr>
                <a:srgbClr val="0E101A"/>
              </a:buClr>
              <a:buSzPts val="2200"/>
              <a:buChar char="○"/>
            </a:pPr>
            <a:r>
              <a:rPr lang="en-US" sz="2200">
                <a:solidFill>
                  <a:srgbClr val="0E101A"/>
                </a:solidFill>
              </a:rPr>
              <a:t>It can’t mock </a:t>
            </a:r>
            <a:r>
              <a:rPr b="1" lang="en-US" sz="2200">
                <a:solidFill>
                  <a:srgbClr val="0E101A"/>
                </a:solidFill>
              </a:rPr>
              <a:t>constructors</a:t>
            </a:r>
            <a:r>
              <a:rPr lang="en-US" sz="2200">
                <a:solidFill>
                  <a:srgbClr val="0E101A"/>
                </a:solidFill>
              </a:rPr>
              <a:t>.</a:t>
            </a:r>
            <a:endParaRPr sz="2200">
              <a:solidFill>
                <a:srgbClr val="0E101A"/>
              </a:solidFill>
            </a:endParaRPr>
          </a:p>
          <a:p>
            <a:pPr indent="-368300" lvl="0" marL="457200" rtl="0" algn="l">
              <a:lnSpc>
                <a:spcPct val="150000"/>
              </a:lnSpc>
              <a:spcBef>
                <a:spcPts val="0"/>
              </a:spcBef>
              <a:spcAft>
                <a:spcPts val="0"/>
              </a:spcAft>
              <a:buClr>
                <a:srgbClr val="0E101A"/>
              </a:buClr>
              <a:buSzPts val="2200"/>
              <a:buChar char="○"/>
            </a:pPr>
            <a:r>
              <a:rPr lang="en-US" sz="2200">
                <a:solidFill>
                  <a:schemeClr val="dk1"/>
                </a:solidFill>
              </a:rPr>
              <a:t>It </a:t>
            </a:r>
            <a:r>
              <a:rPr lang="en-US" sz="2200">
                <a:solidFill>
                  <a:schemeClr val="dk1"/>
                </a:solidFill>
              </a:rPr>
              <a:t>can’t</a:t>
            </a:r>
            <a:r>
              <a:rPr lang="en-US" sz="2200">
                <a:solidFill>
                  <a:schemeClr val="dk1"/>
                </a:solidFill>
              </a:rPr>
              <a:t> mock </a:t>
            </a:r>
            <a:r>
              <a:rPr b="1" lang="en-US" sz="2200">
                <a:solidFill>
                  <a:schemeClr val="dk1"/>
                </a:solidFill>
              </a:rPr>
              <a:t>final</a:t>
            </a:r>
            <a:r>
              <a:rPr lang="en-US" sz="2200">
                <a:solidFill>
                  <a:schemeClr val="dk1"/>
                </a:solidFill>
              </a:rPr>
              <a:t> </a:t>
            </a:r>
            <a:r>
              <a:rPr b="1" lang="en-US" sz="2200">
                <a:solidFill>
                  <a:schemeClr val="dk1"/>
                </a:solidFill>
              </a:rPr>
              <a:t>methods</a:t>
            </a:r>
            <a:r>
              <a:rPr lang="en-US" sz="2200">
                <a:solidFill>
                  <a:schemeClr val="dk1"/>
                </a:solidFill>
              </a:rPr>
              <a:t> and </a:t>
            </a:r>
            <a:r>
              <a:rPr b="1" lang="en-US" sz="2200">
                <a:solidFill>
                  <a:schemeClr val="dk1"/>
                </a:solidFill>
              </a:rPr>
              <a:t>classes</a:t>
            </a:r>
            <a:r>
              <a:rPr lang="en-US" sz="2200">
                <a:solidFill>
                  <a:schemeClr val="dk1"/>
                </a:solidFill>
              </a:rPr>
              <a:t>.</a:t>
            </a:r>
            <a:endParaRPr b="1" i="1" sz="2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3F3F3F"/>
              </a:buClr>
              <a:buSzPts val="4600"/>
              <a:buFont typeface="Calibri"/>
              <a:buNone/>
            </a:pPr>
            <a:r>
              <a:rPr lang="en-US" sz="4600"/>
              <a:t>Designing for Testability</a:t>
            </a:r>
            <a:endParaRPr sz="4600"/>
          </a:p>
          <a:p>
            <a:pPr indent="0" lvl="0" marL="0" marR="0" rtl="0" algn="l">
              <a:lnSpc>
                <a:spcPct val="85000"/>
              </a:lnSpc>
              <a:spcBef>
                <a:spcPts val="0"/>
              </a:spcBef>
              <a:spcAft>
                <a:spcPts val="0"/>
              </a:spcAft>
              <a:buClr>
                <a:srgbClr val="3F3F3F"/>
              </a:buClr>
              <a:buSzPts val="4600"/>
              <a:buFont typeface="Calibri"/>
              <a:buNone/>
            </a:pPr>
            <a:r>
              <a:rPr lang="en-US" sz="3400"/>
              <a:t>Dependency Injection</a:t>
            </a:r>
            <a:endParaRPr sz="3400"/>
          </a:p>
        </p:txBody>
      </p:sp>
      <p:sp>
        <p:nvSpPr>
          <p:cNvPr id="313" name="Google Shape;313;p33"/>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pic>
        <p:nvPicPr>
          <p:cNvPr id="314" name="Google Shape;314;p33" title="Screenshot 2025-11-06 at 17.08.10.png"/>
          <p:cNvPicPr preferRelativeResize="0"/>
          <p:nvPr/>
        </p:nvPicPr>
        <p:blipFill>
          <a:blip r:embed="rId3">
            <a:alphaModFix/>
          </a:blip>
          <a:stretch>
            <a:fillRect/>
          </a:stretch>
        </p:blipFill>
        <p:spPr>
          <a:xfrm>
            <a:off x="453300" y="1857379"/>
            <a:ext cx="7248525" cy="1571625"/>
          </a:xfrm>
          <a:prstGeom prst="rect">
            <a:avLst/>
          </a:prstGeom>
          <a:noFill/>
          <a:ln>
            <a:noFill/>
          </a:ln>
        </p:spPr>
      </p:pic>
      <p:pic>
        <p:nvPicPr>
          <p:cNvPr id="315" name="Google Shape;315;p33" title="Screenshot 2025-11-06 at 17.08.15.png"/>
          <p:cNvPicPr preferRelativeResize="0"/>
          <p:nvPr/>
        </p:nvPicPr>
        <p:blipFill>
          <a:blip r:embed="rId4">
            <a:alphaModFix/>
          </a:blip>
          <a:stretch>
            <a:fillRect/>
          </a:stretch>
        </p:blipFill>
        <p:spPr>
          <a:xfrm>
            <a:off x="453300" y="3548979"/>
            <a:ext cx="7762875" cy="2095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4"/>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3F3F3F"/>
              </a:buClr>
              <a:buSzPts val="4600"/>
              <a:buFont typeface="Calibri"/>
              <a:buNone/>
            </a:pPr>
            <a:r>
              <a:rPr lang="en-US" sz="4600"/>
              <a:t>Designing for Testability</a:t>
            </a:r>
            <a:endParaRPr sz="4600"/>
          </a:p>
        </p:txBody>
      </p:sp>
      <p:sp>
        <p:nvSpPr>
          <p:cNvPr id="322" name="Google Shape;322;p34"/>
          <p:cNvSpPr txBox="1"/>
          <p:nvPr>
            <p:ph idx="1" type="body"/>
          </p:nvPr>
        </p:nvSpPr>
        <p:spPr>
          <a:xfrm>
            <a:off x="822959" y="1845734"/>
            <a:ext cx="7543800" cy="4023300"/>
          </a:xfrm>
          <a:prstGeom prst="rect">
            <a:avLst/>
          </a:prstGeom>
        </p:spPr>
        <p:txBody>
          <a:bodyPr anchorCtr="0" anchor="t" bIns="45700" lIns="0" spcFirstLastPara="1" rIns="0" wrap="square" tIns="45700">
            <a:normAutofit lnSpcReduction="10000"/>
          </a:bodyPr>
          <a:lstStyle/>
          <a:p>
            <a:pPr indent="-228600" lvl="0" marL="457200" rtl="0" algn="l">
              <a:lnSpc>
                <a:spcPct val="115000"/>
              </a:lnSpc>
              <a:spcBef>
                <a:spcPts val="1500"/>
              </a:spcBef>
              <a:spcAft>
                <a:spcPts val="0"/>
              </a:spcAft>
              <a:buClr>
                <a:srgbClr val="374151"/>
              </a:buClr>
              <a:buSzPts val="1700"/>
              <a:buFont typeface="Calibri"/>
              <a:buNone/>
            </a:pPr>
            <a:r>
              <a:rPr b="1" lang="en-US" sz="1700">
                <a:solidFill>
                  <a:srgbClr val="374151"/>
                </a:solidFill>
              </a:rPr>
              <a:t>Use constructors for injecting spies/mocks</a:t>
            </a:r>
            <a:r>
              <a:rPr b="1" lang="en-US" sz="1700">
                <a:solidFill>
                  <a:srgbClr val="374151"/>
                </a:solidFill>
              </a:rPr>
              <a:t>:</a:t>
            </a:r>
            <a:endParaRPr b="1" sz="1700">
              <a:solidFill>
                <a:srgbClr val="374151"/>
              </a:solidFill>
            </a:endParaRPr>
          </a:p>
          <a:p>
            <a:pPr indent="-336550" lvl="1" marL="914400" rtl="0" algn="l">
              <a:lnSpc>
                <a:spcPct val="115000"/>
              </a:lnSpc>
              <a:spcBef>
                <a:spcPts val="0"/>
              </a:spcBef>
              <a:spcAft>
                <a:spcPts val="0"/>
              </a:spcAft>
              <a:buClr>
                <a:srgbClr val="374151"/>
              </a:buClr>
              <a:buSzPts val="1700"/>
              <a:buFont typeface="Calibri"/>
              <a:buChar char="●"/>
            </a:pPr>
            <a:r>
              <a:rPr lang="en-US" sz="1700" u="sng">
                <a:solidFill>
                  <a:srgbClr val="374151"/>
                </a:solidFill>
              </a:rPr>
              <a:t>Use constructors or setters to inject dependencies.</a:t>
            </a:r>
            <a:endParaRPr sz="1700" u="sng">
              <a:solidFill>
                <a:srgbClr val="374151"/>
              </a:solidFill>
            </a:endParaRPr>
          </a:p>
          <a:p>
            <a:pPr indent="-336550" lvl="1" marL="914400" rtl="0" algn="l">
              <a:lnSpc>
                <a:spcPct val="115000"/>
              </a:lnSpc>
              <a:spcBef>
                <a:spcPts val="0"/>
              </a:spcBef>
              <a:spcAft>
                <a:spcPts val="0"/>
              </a:spcAft>
              <a:buClr>
                <a:srgbClr val="374151"/>
              </a:buClr>
              <a:buSzPts val="1700"/>
              <a:buFont typeface="Calibri"/>
              <a:buChar char="●"/>
            </a:pPr>
            <a:r>
              <a:rPr b="1" lang="en-US" sz="1700">
                <a:solidFill>
                  <a:srgbClr val="374151"/>
                </a:solidFill>
              </a:rPr>
              <a:t>Benefit:</a:t>
            </a:r>
            <a:r>
              <a:rPr lang="en-US" sz="1700">
                <a:solidFill>
                  <a:srgbClr val="374151"/>
                </a:solidFill>
              </a:rPr>
              <a:t> Simplifies mocking as dependencies can be easily replaced with mock objects.</a:t>
            </a:r>
            <a:endParaRPr sz="1700">
              <a:solidFill>
                <a:srgbClr val="374151"/>
              </a:solidFill>
            </a:endParaRPr>
          </a:p>
          <a:p>
            <a:pPr indent="-228600" lvl="0" marL="457200" rtl="0" algn="l">
              <a:lnSpc>
                <a:spcPct val="115000"/>
              </a:lnSpc>
              <a:spcBef>
                <a:spcPts val="0"/>
              </a:spcBef>
              <a:spcAft>
                <a:spcPts val="0"/>
              </a:spcAft>
              <a:buClr>
                <a:srgbClr val="374151"/>
              </a:buClr>
              <a:buSzPts val="1700"/>
              <a:buFont typeface="Calibri"/>
              <a:buNone/>
            </a:pPr>
            <a:r>
              <a:t/>
            </a:r>
            <a:endParaRPr sz="1700">
              <a:solidFill>
                <a:srgbClr val="374151"/>
              </a:solidFill>
            </a:endParaRPr>
          </a:p>
          <a:p>
            <a:pPr indent="-228600" lvl="0" marL="457200" rtl="0" algn="l">
              <a:lnSpc>
                <a:spcPct val="115000"/>
              </a:lnSpc>
              <a:spcBef>
                <a:spcPts val="0"/>
              </a:spcBef>
              <a:spcAft>
                <a:spcPts val="0"/>
              </a:spcAft>
              <a:buClr>
                <a:srgbClr val="374151"/>
              </a:buClr>
              <a:buSzPts val="1700"/>
              <a:buFont typeface="Calibri"/>
              <a:buNone/>
            </a:pPr>
            <a:r>
              <a:rPr b="1" lang="en-US" sz="1700">
                <a:solidFill>
                  <a:srgbClr val="374151"/>
                </a:solidFill>
              </a:rPr>
              <a:t>Favor Public and Protected Methods:</a:t>
            </a:r>
            <a:endParaRPr b="1" sz="1700">
              <a:solidFill>
                <a:srgbClr val="374151"/>
              </a:solidFill>
            </a:endParaRPr>
          </a:p>
          <a:p>
            <a:pPr indent="-336550" lvl="1" marL="914400" rtl="0" algn="l">
              <a:lnSpc>
                <a:spcPct val="115000"/>
              </a:lnSpc>
              <a:spcBef>
                <a:spcPts val="0"/>
              </a:spcBef>
              <a:spcAft>
                <a:spcPts val="0"/>
              </a:spcAft>
              <a:buClr>
                <a:srgbClr val="374151"/>
              </a:buClr>
              <a:buSzPts val="1700"/>
              <a:buFont typeface="Calibri"/>
              <a:buChar char="●"/>
            </a:pPr>
            <a:r>
              <a:rPr lang="en-US" sz="1700" u="sng">
                <a:solidFill>
                  <a:srgbClr val="374151"/>
                </a:solidFill>
              </a:rPr>
              <a:t>Avoid private methods; use public or protected methods where possible.</a:t>
            </a:r>
            <a:endParaRPr sz="1700" u="sng">
              <a:solidFill>
                <a:srgbClr val="374151"/>
              </a:solidFill>
            </a:endParaRPr>
          </a:p>
          <a:p>
            <a:pPr indent="-336550" lvl="1" marL="914400" rtl="0" algn="l">
              <a:lnSpc>
                <a:spcPct val="115000"/>
              </a:lnSpc>
              <a:spcBef>
                <a:spcPts val="0"/>
              </a:spcBef>
              <a:spcAft>
                <a:spcPts val="0"/>
              </a:spcAft>
              <a:buClr>
                <a:srgbClr val="374151"/>
              </a:buClr>
              <a:buSzPts val="1700"/>
              <a:buFont typeface="Calibri"/>
              <a:buChar char="●"/>
            </a:pPr>
            <a:r>
              <a:rPr b="1" lang="en-US" sz="1700">
                <a:solidFill>
                  <a:srgbClr val="374151"/>
                </a:solidFill>
              </a:rPr>
              <a:t>Benefit:</a:t>
            </a:r>
            <a:r>
              <a:rPr lang="en-US" sz="1700">
                <a:solidFill>
                  <a:srgbClr val="374151"/>
                </a:solidFill>
              </a:rPr>
              <a:t> Facilitates easier mocking and testing of class behaviors.</a:t>
            </a:r>
            <a:endParaRPr sz="1700">
              <a:solidFill>
                <a:srgbClr val="374151"/>
              </a:solidFill>
            </a:endParaRPr>
          </a:p>
          <a:p>
            <a:pPr indent="-228600" lvl="0" marL="457200" rtl="0" algn="l">
              <a:lnSpc>
                <a:spcPct val="115000"/>
              </a:lnSpc>
              <a:spcBef>
                <a:spcPts val="0"/>
              </a:spcBef>
              <a:spcAft>
                <a:spcPts val="0"/>
              </a:spcAft>
              <a:buClr>
                <a:srgbClr val="374151"/>
              </a:buClr>
              <a:buSzPts val="1700"/>
              <a:buFont typeface="Calibri"/>
              <a:buNone/>
            </a:pPr>
            <a:r>
              <a:t/>
            </a:r>
            <a:endParaRPr sz="1700">
              <a:solidFill>
                <a:srgbClr val="374151"/>
              </a:solidFill>
            </a:endParaRPr>
          </a:p>
          <a:p>
            <a:pPr indent="-228600" lvl="0" marL="457200" rtl="0" algn="l">
              <a:lnSpc>
                <a:spcPct val="115000"/>
              </a:lnSpc>
              <a:spcBef>
                <a:spcPts val="0"/>
              </a:spcBef>
              <a:spcAft>
                <a:spcPts val="0"/>
              </a:spcAft>
              <a:buClr>
                <a:srgbClr val="374151"/>
              </a:buClr>
              <a:buSzPts val="1700"/>
              <a:buFont typeface="Calibri"/>
              <a:buNone/>
            </a:pPr>
            <a:r>
              <a:rPr b="1" lang="en-US" sz="1700">
                <a:solidFill>
                  <a:srgbClr val="374151"/>
                </a:solidFill>
              </a:rPr>
              <a:t>Use Interfaces and Abstract Classes:</a:t>
            </a:r>
            <a:endParaRPr b="1" sz="1700">
              <a:solidFill>
                <a:srgbClr val="374151"/>
              </a:solidFill>
            </a:endParaRPr>
          </a:p>
          <a:p>
            <a:pPr indent="-336550" lvl="1" marL="914400" rtl="0" algn="l">
              <a:lnSpc>
                <a:spcPct val="115000"/>
              </a:lnSpc>
              <a:spcBef>
                <a:spcPts val="0"/>
              </a:spcBef>
              <a:spcAft>
                <a:spcPts val="0"/>
              </a:spcAft>
              <a:buClr>
                <a:srgbClr val="374151"/>
              </a:buClr>
              <a:buSzPts val="1700"/>
              <a:buFont typeface="Calibri"/>
              <a:buChar char="●"/>
            </a:pPr>
            <a:r>
              <a:rPr lang="en-US" sz="1700" u="sng">
                <a:solidFill>
                  <a:srgbClr val="374151"/>
                </a:solidFill>
              </a:rPr>
              <a:t>Design with interfaces or abstract classes that can be easily mocked.</a:t>
            </a:r>
            <a:endParaRPr sz="1700" u="sng">
              <a:solidFill>
                <a:srgbClr val="374151"/>
              </a:solidFill>
            </a:endParaRPr>
          </a:p>
          <a:p>
            <a:pPr indent="-336550" lvl="1" marL="914400" rtl="0" algn="l">
              <a:lnSpc>
                <a:spcPct val="115000"/>
              </a:lnSpc>
              <a:spcBef>
                <a:spcPts val="0"/>
              </a:spcBef>
              <a:spcAft>
                <a:spcPts val="0"/>
              </a:spcAft>
              <a:buClr>
                <a:srgbClr val="374151"/>
              </a:buClr>
              <a:buSzPts val="1700"/>
              <a:buFont typeface="Calibri"/>
              <a:buChar char="●"/>
            </a:pPr>
            <a:r>
              <a:rPr b="1" lang="en-US" sz="1700">
                <a:solidFill>
                  <a:srgbClr val="374151"/>
                </a:solidFill>
              </a:rPr>
              <a:t>Benefit:</a:t>
            </a:r>
            <a:r>
              <a:rPr lang="en-US" sz="1700">
                <a:solidFill>
                  <a:srgbClr val="374151"/>
                </a:solidFill>
              </a:rPr>
              <a:t> Increases flexibility and allows Mockito to create dynamic proxies.</a:t>
            </a:r>
            <a:endParaRPr sz="1700">
              <a:solidFill>
                <a:srgbClr val="374151"/>
              </a:solidFill>
            </a:endParaRPr>
          </a:p>
          <a:p>
            <a:pPr indent="0" lvl="0" marL="0" rtl="0" algn="l">
              <a:lnSpc>
                <a:spcPct val="115000"/>
              </a:lnSpc>
              <a:spcBef>
                <a:spcPts val="1500"/>
              </a:spcBef>
              <a:spcAft>
                <a:spcPts val="0"/>
              </a:spcAft>
              <a:buNone/>
            </a:pPr>
            <a:r>
              <a:t/>
            </a:r>
            <a:endParaRPr sz="2500"/>
          </a:p>
        </p:txBody>
      </p:sp>
      <p:sp>
        <p:nvSpPr>
          <p:cNvPr id="323" name="Google Shape;323;p34"/>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5"/>
          <p:cNvSpPr txBox="1"/>
          <p:nvPr>
            <p:ph type="title"/>
          </p:nvPr>
        </p:nvSpPr>
        <p:spPr>
          <a:xfrm>
            <a:off x="822960" y="286604"/>
            <a:ext cx="75438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@VisibleForTesting</a:t>
            </a:r>
            <a:endParaRPr/>
          </a:p>
        </p:txBody>
      </p:sp>
      <p:sp>
        <p:nvSpPr>
          <p:cNvPr id="330" name="Google Shape;330;p35"/>
          <p:cNvSpPr txBox="1"/>
          <p:nvPr>
            <p:ph idx="12" type="sldNum"/>
          </p:nvPr>
        </p:nvSpPr>
        <p:spPr>
          <a:xfrm>
            <a:off x="7425344" y="6459786"/>
            <a:ext cx="984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pic>
        <p:nvPicPr>
          <p:cNvPr id="331" name="Google Shape;331;p35"/>
          <p:cNvPicPr preferRelativeResize="0"/>
          <p:nvPr/>
        </p:nvPicPr>
        <p:blipFill>
          <a:blip r:embed="rId3">
            <a:alphaModFix/>
          </a:blip>
          <a:stretch>
            <a:fillRect/>
          </a:stretch>
        </p:blipFill>
        <p:spPr>
          <a:xfrm>
            <a:off x="573675" y="2095500"/>
            <a:ext cx="7996650" cy="2929850"/>
          </a:xfrm>
          <a:prstGeom prst="rect">
            <a:avLst/>
          </a:prstGeom>
          <a:noFill/>
          <a:ln>
            <a:noFill/>
          </a:ln>
        </p:spPr>
      </p:pic>
      <p:sp>
        <p:nvSpPr>
          <p:cNvPr id="332" name="Google Shape;332;p35"/>
          <p:cNvSpPr txBox="1"/>
          <p:nvPr/>
        </p:nvSpPr>
        <p:spPr>
          <a:xfrm>
            <a:off x="2334225" y="5121800"/>
            <a:ext cx="65784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en-US" sz="1000" u="sng">
                <a:solidFill>
                  <a:schemeClr val="accent2"/>
                </a:solidFill>
              </a:rPr>
              <a:t>https://javadoc.io/doc/org.jetbrains/annotations/22.0.0/org/jetbrains/annotations/VisibleForTesting.html</a:t>
            </a:r>
            <a:endParaRPr i="1" sz="1000" u="sng">
              <a:solidFill>
                <a:schemeClr val="accen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