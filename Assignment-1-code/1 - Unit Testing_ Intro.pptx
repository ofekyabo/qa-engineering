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6B573EC-A6EE-449D-B763-EF58181E34BA}">
  <a:tblStyle styleId="{96B573EC-A6EE-449D-B763-EF58181E34BA}" styleName="Table_0">
    <a:wholeTbl>
      <a:tcTxStyle b="off" i="off">
        <a:font>
          <a:latin typeface="Calibri"/>
          <a:ea typeface="Calibri"/>
          <a:cs typeface="Calibri"/>
        </a:font>
        <a:schemeClr val="dk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tcBdr>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tcBdr>
      </a:tcStyle>
    </a:band1H>
    <a:band2H>
      <a:tcTxStyle b="off" i="off"/>
    </a:band2H>
    <a:band1V>
      <a:tcTxStyle b="off"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cBdr>
      </a:tcStyle>
    </a:band1V>
    <a:band2V>
      <a:tcTxStyle b="off"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2"/>
              </a:solidFill>
              <a:prstDash val="solid"/>
              <a:round/>
              <a:headEnd len="sm" w="sm" type="none"/>
              <a:tailEnd len="sm" w="sm" type="none"/>
            </a:ln>
          </a:top>
        </a:tcBdr>
      </a:tcStyle>
    </a:lastRow>
    <a:seCell>
      <a:tcTxStyle b="off" i="off"/>
    </a:seCell>
    <a:swCell>
      <a:tcTxStyle b="off" i="off"/>
    </a:swCell>
    <a:firstRow>
      <a:tcTxStyle b="on" i="off">
        <a:font>
          <a:latin typeface="Calibri"/>
          <a:ea typeface="Calibri"/>
          <a:cs typeface="Calibri"/>
        </a:font>
        <a:schemeClr val="lt1"/>
      </a:tcTxStyle>
      <a:tcStyle>
        <a:fill>
          <a:solidFill>
            <a:schemeClr val="accent2"/>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unit.org/junit5/docs/current/user-guide/#writing-tests-assertions"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en-US"/>
              <a:t>				</a:t>
            </a:r>
            <a:endParaRPr/>
          </a:p>
        </p:txBody>
      </p:sp>
      <p:sp>
        <p:nvSpPr>
          <p:cNvPr id="113" name="Google Shape;11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71450" lvl="0" marL="171450" rtl="1" algn="r">
              <a:lnSpc>
                <a:spcPct val="100000"/>
              </a:lnSpc>
              <a:spcBef>
                <a:spcPts val="0"/>
              </a:spcBef>
              <a:spcAft>
                <a:spcPts val="0"/>
              </a:spcAft>
              <a:buSzPts val="1400"/>
              <a:buFont typeface="Arial"/>
              <a:buChar char="•"/>
            </a:pPr>
            <a:r>
              <a:rPr lang="en-US"/>
              <a:t>למערכות תוכנה יש תרחישים פוטנציאליים רבים, אבל זה לא מעשי לבדוק את כל השילובים. הבודקים חייבים לבחור בקפידה תרחישים שיכסו את הפונקציונליות הקריטית ביותר, תוך סיכון לפיקוח על מקרים פינתיים שעלולים להוביל לבעיות המופיעות רק בשימוש בעולם האמיתי.</a:t>
            </a:r>
            <a:endParaRPr/>
          </a:p>
          <a:p>
            <a:pPr indent="-171450" lvl="0" marL="171450" rtl="1" algn="r">
              <a:lnSpc>
                <a:spcPct val="100000"/>
              </a:lnSpc>
              <a:spcBef>
                <a:spcPts val="0"/>
              </a:spcBef>
              <a:spcAft>
                <a:spcPts val="0"/>
              </a:spcAft>
              <a:buSzPts val="1400"/>
              <a:buFont typeface="Arial"/>
              <a:buChar char="•"/>
            </a:pPr>
            <a:r>
              <a:rPr lang="en-US"/>
              <a:t>רכיבי תוכנה מקיימים אינטראקציה בדרכים מורכבות, מה שהופך את זה למאתגר לחזות כיצד שינויים בחלק אחד יכולים להשפיע על אחרים. באגים יכולים להתעורר באופן בלתי צפוי עקב אינטראקציות מורכבות אלה, ותלות באלמנטים חיצוניים מסבכת עוד יותר את המצב.</a:t>
            </a:r>
            <a:endParaRPr/>
          </a:p>
          <a:p>
            <a:pPr indent="0" lvl="0" marL="457200" rtl="1" algn="r">
              <a:lnSpc>
                <a:spcPct val="100000"/>
              </a:lnSpc>
              <a:spcBef>
                <a:spcPts val="0"/>
              </a:spcBef>
              <a:spcAft>
                <a:spcPts val="0"/>
              </a:spcAft>
              <a:buNone/>
            </a:pPr>
            <a:r>
              <a:t/>
            </a:r>
            <a:endParaRPr/>
          </a:p>
          <a:p>
            <a:pPr indent="0" lvl="0" marL="0" rtl="0" algn="l">
              <a:spcBef>
                <a:spcPts val="0"/>
              </a:spcBef>
              <a:spcAft>
                <a:spcPts val="0"/>
              </a:spcAft>
              <a:buNone/>
            </a:pPr>
            <a:r>
              <a:rPr lang="en-US"/>
              <a:t>Software systems have many potential scenarios, but it is impractical to test all combinations. Testers must carefully select scenarios that cover the most critical functionality, risking overlooking corner cases that could lead to problems that only appear in real-world use (Trade-off).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Software components interact in complex ways, making it challenging to predict how changes in one part can affect others. Bugs can arise unexpectedly due to these complex interactions, and dependencies on external elements further complicate the situation.</a:t>
            </a:r>
            <a:endParaRPr/>
          </a:p>
          <a:p>
            <a:pPr indent="0" lvl="0" marL="0" rtl="0" algn="l">
              <a:lnSpc>
                <a:spcPct val="100000"/>
              </a:lnSpc>
              <a:spcBef>
                <a:spcPts val="0"/>
              </a:spcBef>
              <a:spcAft>
                <a:spcPts val="0"/>
              </a:spcAft>
              <a:buNone/>
            </a:pPr>
            <a:r>
              <a:t/>
            </a:r>
            <a:endParaRPr/>
          </a:p>
        </p:txBody>
      </p:sp>
      <p:sp>
        <p:nvSpPr>
          <p:cNvPr id="129" name="Google Shape;129;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en-US"/>
              <a:t>Microsoft’s Zune player</a:t>
            </a:r>
            <a:endParaRPr/>
          </a:p>
          <a:p>
            <a:pPr indent="0" lvl="0" marL="0" rtl="1" algn="r">
              <a:lnSpc>
                <a:spcPct val="100000"/>
              </a:lnSpc>
              <a:spcBef>
                <a:spcPts val="0"/>
              </a:spcBef>
              <a:spcAft>
                <a:spcPts val="0"/>
              </a:spcAft>
              <a:buSzPts val="1400"/>
              <a:buNone/>
            </a:pPr>
            <a:r>
              <a:t/>
            </a:r>
            <a:endParaRPr/>
          </a:p>
          <a:p>
            <a:pPr indent="0" lvl="0" marL="0" rtl="1" algn="r">
              <a:lnSpc>
                <a:spcPct val="100000"/>
              </a:lnSpc>
              <a:spcBef>
                <a:spcPts val="0"/>
              </a:spcBef>
              <a:spcAft>
                <a:spcPts val="0"/>
              </a:spcAft>
              <a:buSzPts val="1400"/>
              <a:buNone/>
            </a:pPr>
            <a:r>
              <a:rPr lang="en-US"/>
              <a:t>בערב הסילבסטר של שנת 2008 כל נגני הזון הפסיקו לעבוד – קפאו לגמרי </a:t>
            </a:r>
            <a:endParaRPr/>
          </a:p>
          <a:p>
            <a:pPr indent="0" lvl="0" marL="0" rtl="1" algn="r">
              <a:lnSpc>
                <a:spcPct val="100000"/>
              </a:lnSpc>
              <a:spcBef>
                <a:spcPts val="0"/>
              </a:spcBef>
              <a:spcAft>
                <a:spcPts val="0"/>
              </a:spcAft>
              <a:buSzPts val="1400"/>
              <a:buNone/>
            </a:pPr>
            <a:r>
              <a:rPr lang="en-US"/>
              <a:t>הסיבה לכך נמצאת בקוד הבא, הוא די פשוט ואין לו שום קשר למוזיקה, אלא זה איזשהו קוד שרץ באתחול – מטרתו לעדכן את התאריך </a:t>
            </a:r>
            <a:endParaRPr/>
          </a:p>
          <a:p>
            <a:pPr indent="0" lvl="0" marL="0" rtl="1" algn="r">
              <a:lnSpc>
                <a:spcPct val="100000"/>
              </a:lnSpc>
              <a:spcBef>
                <a:spcPts val="0"/>
              </a:spcBef>
              <a:spcAft>
                <a:spcPts val="0"/>
              </a:spcAft>
              <a:buSzPts val="1400"/>
              <a:buNone/>
            </a:pPr>
            <a:r>
              <a:rPr lang="en-US"/>
              <a:t>הוא עושה זאת ע"י ספירת הימים והשנה מאז 1980 </a:t>
            </a:r>
            <a:endParaRPr/>
          </a:p>
          <a:p>
            <a:pPr indent="0" lvl="0" marL="0" rtl="1" algn="r">
              <a:lnSpc>
                <a:spcPct val="100000"/>
              </a:lnSpc>
              <a:spcBef>
                <a:spcPts val="0"/>
              </a:spcBef>
              <a:spcAft>
                <a:spcPts val="0"/>
              </a:spcAft>
              <a:buSzPts val="1400"/>
              <a:buNone/>
            </a:pPr>
            <a:r>
              <a:t/>
            </a:r>
            <a:endParaRPr/>
          </a:p>
          <a:p>
            <a:pPr indent="0" lvl="0" marL="0" rtl="1" algn="r">
              <a:lnSpc>
                <a:spcPct val="100000"/>
              </a:lnSpc>
              <a:spcBef>
                <a:spcPts val="0"/>
              </a:spcBef>
              <a:spcAft>
                <a:spcPts val="0"/>
              </a:spcAft>
              <a:buSzPts val="1400"/>
              <a:buNone/>
            </a:pPr>
            <a:r>
              <a:rPr lang="en-US"/>
              <a:t>** 2008 = שנה מעוברת (יום אחרון מס' 366)</a:t>
            </a:r>
            <a:endParaRPr/>
          </a:p>
          <a:p>
            <a:pPr indent="0" lvl="0" marL="0" rtl="1" algn="r">
              <a:lnSpc>
                <a:spcPct val="100000"/>
              </a:lnSpc>
              <a:spcBef>
                <a:spcPts val="0"/>
              </a:spcBef>
              <a:spcAft>
                <a:spcPts val="0"/>
              </a:spcAft>
              <a:buSzPts val="1400"/>
              <a:buNone/>
            </a:pPr>
            <a:r>
              <a:t/>
            </a:r>
            <a:endParaRPr/>
          </a:p>
          <a:p>
            <a:pPr indent="0" lvl="0" marL="0" rtl="0" algn="l">
              <a:spcBef>
                <a:spcPts val="0"/>
              </a:spcBef>
              <a:spcAft>
                <a:spcPts val="0"/>
              </a:spcAft>
              <a:buClr>
                <a:schemeClr val="dk1"/>
              </a:buClr>
              <a:buSzPts val="1100"/>
              <a:buFont typeface="Arial"/>
              <a:buNone/>
            </a:pPr>
            <a:r>
              <a:rPr lang="en-US"/>
              <a:t>On New Year's Eve of 2008, all the Zune music players stopped working - completely froze</a:t>
            </a:r>
            <a:endParaRPr/>
          </a:p>
          <a:p>
            <a:pPr indent="0" lvl="0" marL="0" rtl="0" algn="l">
              <a:spcBef>
                <a:spcPts val="0"/>
              </a:spcBef>
              <a:spcAft>
                <a:spcPts val="0"/>
              </a:spcAft>
              <a:buClr>
                <a:schemeClr val="dk1"/>
              </a:buClr>
              <a:buSzPts val="1100"/>
              <a:buFont typeface="Arial"/>
              <a:buNone/>
            </a:pPr>
            <a:r>
              <a:rPr lang="en-US"/>
              <a:t>The reason for this is in the following code, it's quite simple and has nothing to do with music, it's some kind of code that runs at startup in its internal clock - its purpose is to update the date of the system.</a:t>
            </a:r>
            <a:endParaRPr/>
          </a:p>
          <a:p>
            <a:pPr indent="0" lvl="0" marL="0" rtl="0" algn="l">
              <a:spcBef>
                <a:spcPts val="0"/>
              </a:spcBef>
              <a:spcAft>
                <a:spcPts val="0"/>
              </a:spcAft>
              <a:buClr>
                <a:schemeClr val="dk1"/>
              </a:buClr>
              <a:buSzPts val="1100"/>
              <a:buFont typeface="Arial"/>
              <a:buNone/>
            </a:pPr>
            <a:r>
              <a:rPr lang="en-US"/>
              <a:t>He does this by counting the days and the year since 1980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2008 = leap year (last day no. 366)</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i="1" lang="en-US" sz="1300">
                <a:solidFill>
                  <a:srgbClr val="121212"/>
                </a:solidFill>
                <a:highlight>
                  <a:srgbClr val="FFFFFF"/>
                </a:highlight>
                <a:latin typeface="Georgia"/>
                <a:ea typeface="Georgia"/>
                <a:cs typeface="Georgia"/>
                <a:sym typeface="Georgia"/>
              </a:rPr>
              <a:t>The Zune's real-time clock stores the time in terms of days and seconds since January 1st, 1980. When the Zune's clock is accessed, the driver turns the number of days into years/months/days and the number of seconds into hours/minutes/seconds. Likewise, when the clock is set, the driver does the opposite.</a:t>
            </a:r>
            <a:endParaRPr/>
          </a:p>
        </p:txBody>
      </p:sp>
      <p:sp>
        <p:nvSpPr>
          <p:cNvPr id="138" name="Google Shape;138;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en-US"/>
              <a:t>קיבלנו לולאה אינסופית</a:t>
            </a:r>
            <a:endParaRPr/>
          </a:p>
          <a:p>
            <a:pPr indent="0" lvl="0" marL="0" rtl="1" algn="r">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2008 -&gt; has 366 days</a:t>
            </a:r>
            <a:endParaRPr/>
          </a:p>
          <a:p>
            <a:pPr indent="0" lvl="0" marL="0" rtl="0" algn="l">
              <a:lnSpc>
                <a:spcPct val="100000"/>
              </a:lnSpc>
              <a:spcBef>
                <a:spcPts val="0"/>
              </a:spcBef>
              <a:spcAft>
                <a:spcPts val="0"/>
              </a:spcAft>
              <a:buSzPts val="1400"/>
              <a:buNone/>
            </a:pPr>
            <a:r>
              <a:rPr lang="en-US"/>
              <a:t>On 31 December of 2008, days = 366:</a:t>
            </a:r>
            <a:endParaRPr/>
          </a:p>
          <a:p>
            <a:pPr indent="0" lvl="0" marL="0" rtl="0" algn="l">
              <a:lnSpc>
                <a:spcPct val="100000"/>
              </a:lnSpc>
              <a:spcBef>
                <a:spcPts val="0"/>
              </a:spcBef>
              <a:spcAft>
                <a:spcPts val="0"/>
              </a:spcAft>
              <a:buSzPts val="1400"/>
              <a:buNone/>
            </a:pPr>
            <a:r>
              <a:rPr lang="en-US"/>
              <a:t>In =&gt; if(days &gt; 366), it will return False, and will force the cycle to restart, and run forever</a:t>
            </a:r>
            <a:endParaRPr/>
          </a:p>
        </p:txBody>
      </p:sp>
      <p:sp>
        <p:nvSpPr>
          <p:cNvPr id="146" name="Google Shape;146;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b="1" lang="en-US"/>
              <a:t>הכלים שאנו צריכים עבור למצוא את הבאג:</a:t>
            </a:r>
            <a:endParaRPr/>
          </a:p>
          <a:p>
            <a:pPr indent="-171450" lvl="0" marL="171450" rtl="1" algn="r">
              <a:lnSpc>
                <a:spcPct val="100000"/>
              </a:lnSpc>
              <a:spcBef>
                <a:spcPts val="0"/>
              </a:spcBef>
              <a:spcAft>
                <a:spcPts val="0"/>
              </a:spcAft>
              <a:buSzPts val="1400"/>
              <a:buFont typeface="Arial"/>
              <a:buChar char="•"/>
            </a:pPr>
            <a:r>
              <a:rPr lang="en-US"/>
              <a:t>ההבנה כיצד עובדים ימים ושנים חיונית</a:t>
            </a:r>
            <a:endParaRPr/>
          </a:p>
          <a:p>
            <a:pPr indent="-171450" lvl="0" marL="171450" rtl="1" algn="r">
              <a:lnSpc>
                <a:spcPct val="100000"/>
              </a:lnSpc>
              <a:spcBef>
                <a:spcPts val="0"/>
              </a:spcBef>
              <a:spcAft>
                <a:spcPts val="0"/>
              </a:spcAft>
              <a:buSzPts val="1400"/>
              <a:buFont typeface="Arial"/>
              <a:buChar char="•"/>
            </a:pPr>
            <a:r>
              <a:rPr lang="en-US"/>
              <a:t>ידע היכן שגיאות מתכנת נפוצות</a:t>
            </a:r>
            <a:endParaRPr/>
          </a:p>
          <a:p>
            <a:pPr indent="-171450" lvl="0" marL="171450" rtl="1" algn="r">
              <a:lnSpc>
                <a:spcPct val="100000"/>
              </a:lnSpc>
              <a:spcBef>
                <a:spcPts val="0"/>
              </a:spcBef>
              <a:spcAft>
                <a:spcPts val="0"/>
              </a:spcAft>
              <a:buSzPts val="1400"/>
              <a:buFont typeface="Calibri"/>
              <a:buChar char="-"/>
            </a:pPr>
            <a:r>
              <a:rPr lang="en-US"/>
              <a:t>תנאי גבול</a:t>
            </a:r>
            <a:endParaRPr/>
          </a:p>
          <a:p>
            <a:pPr indent="-171450" lvl="0" marL="171450" rtl="1" algn="r">
              <a:lnSpc>
                <a:spcPct val="100000"/>
              </a:lnSpc>
              <a:spcBef>
                <a:spcPts val="0"/>
              </a:spcBef>
              <a:spcAft>
                <a:spcPts val="0"/>
              </a:spcAft>
              <a:buSzPts val="1400"/>
              <a:buFont typeface="Calibri"/>
              <a:buChar char="-"/>
            </a:pPr>
            <a:r>
              <a:rPr lang="en-US"/>
              <a:t>ביטויים בוליאניים מורכבים</a:t>
            </a:r>
            <a:endParaRPr/>
          </a:p>
          <a:p>
            <a:pPr indent="-171450" lvl="0" marL="171450" rtl="1" algn="r">
              <a:lnSpc>
                <a:spcPct val="100000"/>
              </a:lnSpc>
              <a:spcBef>
                <a:spcPts val="0"/>
              </a:spcBef>
              <a:spcAft>
                <a:spcPts val="0"/>
              </a:spcAft>
              <a:buSzPts val="1400"/>
              <a:buFont typeface="Calibri"/>
              <a:buChar char="-"/>
            </a:pPr>
            <a:r>
              <a:rPr lang="en-US"/>
              <a:t>ערכים בלתי צפויים</a:t>
            </a:r>
            <a:endParaRPr/>
          </a:p>
          <a:p>
            <a:pPr indent="0" lvl="0" marL="0" rtl="1" algn="r">
              <a:lnSpc>
                <a:spcPct val="100000"/>
              </a:lnSpc>
              <a:spcBef>
                <a:spcPts val="0"/>
              </a:spcBef>
              <a:spcAft>
                <a:spcPts val="0"/>
              </a:spcAft>
              <a:buSzPts val="1400"/>
              <a:buFont typeface="Calibri"/>
              <a:buNone/>
            </a:pPr>
            <a:r>
              <a:t/>
            </a:r>
            <a:endParaRPr/>
          </a:p>
          <a:p>
            <a:pPr indent="0" lvl="0" marL="0" rtl="0" algn="l">
              <a:spcBef>
                <a:spcPts val="0"/>
              </a:spcBef>
              <a:spcAft>
                <a:spcPts val="0"/>
              </a:spcAft>
              <a:buClr>
                <a:schemeClr val="dk1"/>
              </a:buClr>
              <a:buSzPts val="1100"/>
              <a:buFont typeface="Arial"/>
              <a:buNone/>
            </a:pPr>
            <a:r>
              <a:rPr lang="en-US"/>
              <a:t>The tools we need to find the bug:</a:t>
            </a:r>
            <a:endParaRPr/>
          </a:p>
          <a:p>
            <a:pPr indent="0" lvl="0" marL="0" rtl="0" algn="l">
              <a:spcBef>
                <a:spcPts val="0"/>
              </a:spcBef>
              <a:spcAft>
                <a:spcPts val="0"/>
              </a:spcAft>
              <a:buClr>
                <a:schemeClr val="dk1"/>
              </a:buClr>
              <a:buSzPts val="1100"/>
              <a:buFont typeface="Arial"/>
              <a:buNone/>
            </a:pPr>
            <a:r>
              <a:rPr lang="en-US"/>
              <a:t>Understanding how days and years work is essential</a:t>
            </a:r>
            <a:endParaRPr/>
          </a:p>
          <a:p>
            <a:pPr indent="0" lvl="0" marL="0" rtl="0" algn="l">
              <a:spcBef>
                <a:spcPts val="0"/>
              </a:spcBef>
              <a:spcAft>
                <a:spcPts val="0"/>
              </a:spcAft>
              <a:buClr>
                <a:schemeClr val="dk1"/>
              </a:buClr>
              <a:buSzPts val="1100"/>
              <a:buFont typeface="Arial"/>
              <a:buNone/>
            </a:pPr>
            <a:r>
              <a:rPr lang="en-US"/>
              <a:t>Know where programmer errors are common</a:t>
            </a:r>
            <a:endParaRPr/>
          </a:p>
          <a:p>
            <a:pPr indent="0" lvl="0" marL="0" rtl="0" algn="l">
              <a:spcBef>
                <a:spcPts val="0"/>
              </a:spcBef>
              <a:spcAft>
                <a:spcPts val="0"/>
              </a:spcAft>
              <a:buClr>
                <a:schemeClr val="dk1"/>
              </a:buClr>
              <a:buSzPts val="1100"/>
              <a:buFont typeface="Arial"/>
              <a:buNone/>
            </a:pPr>
            <a:r>
              <a:rPr lang="en-US"/>
              <a:t>boundary conditions</a:t>
            </a:r>
            <a:endParaRPr/>
          </a:p>
          <a:p>
            <a:pPr indent="0" lvl="0" marL="0" rtl="0" algn="l">
              <a:spcBef>
                <a:spcPts val="0"/>
              </a:spcBef>
              <a:spcAft>
                <a:spcPts val="0"/>
              </a:spcAft>
              <a:buClr>
                <a:schemeClr val="dk1"/>
              </a:buClr>
              <a:buSzPts val="1100"/>
              <a:buFont typeface="Arial"/>
              <a:buNone/>
            </a:pPr>
            <a:r>
              <a:rPr lang="en-US"/>
              <a:t>Complex Boolean expressions</a:t>
            </a:r>
            <a:endParaRPr/>
          </a:p>
          <a:p>
            <a:pPr indent="0" lvl="0" marL="0" rtl="0" algn="l">
              <a:spcBef>
                <a:spcPts val="0"/>
              </a:spcBef>
              <a:spcAft>
                <a:spcPts val="0"/>
              </a:spcAft>
              <a:buClr>
                <a:schemeClr val="dk1"/>
              </a:buClr>
              <a:buSzPts val="1100"/>
              <a:buFont typeface="Arial"/>
              <a:buNone/>
            </a:pPr>
            <a:r>
              <a:rPr lang="en-US"/>
              <a:t>unexpected values</a:t>
            </a:r>
            <a:endParaRPr/>
          </a:p>
          <a:p>
            <a:pPr indent="0" lvl="0" marL="0" rtl="0" algn="l">
              <a:lnSpc>
                <a:spcPct val="100000"/>
              </a:lnSpc>
              <a:spcBef>
                <a:spcPts val="0"/>
              </a:spcBef>
              <a:spcAft>
                <a:spcPts val="0"/>
              </a:spcAft>
              <a:buSzPts val="1400"/>
              <a:buFont typeface="Calibri"/>
              <a:buNone/>
            </a:pPr>
            <a:r>
              <a:t/>
            </a:r>
            <a:endParaRPr/>
          </a:p>
        </p:txBody>
      </p:sp>
      <p:sp>
        <p:nvSpPr>
          <p:cNvPr id="155" name="Google Shape;15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rainy day = bad things don’t happen</a:t>
            </a:r>
            <a:endParaRPr b="1"/>
          </a:p>
          <a:p>
            <a:pPr indent="0" lvl="0" marL="0" rtl="0" algn="l">
              <a:lnSpc>
                <a:spcPct val="100000"/>
              </a:lnSpc>
              <a:spcBef>
                <a:spcPts val="0"/>
              </a:spcBef>
              <a:spcAft>
                <a:spcPts val="0"/>
              </a:spcAft>
              <a:buSzPts val="1400"/>
              <a:buNone/>
            </a:pPr>
            <a:r>
              <a:rPr b="1" lang="en-US"/>
              <a:t>sunny day = good things happen</a:t>
            </a:r>
            <a:endParaRPr b="1"/>
          </a:p>
        </p:txBody>
      </p:sp>
      <p:sp>
        <p:nvSpPr>
          <p:cNvPr id="163" name="Google Shape;163;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en-US"/>
              <a:t>בדיקה היא תהליך שיטתי ומבוקר המשמש להערכת הפונקציונליות, האיכות או הביצועים של מערכת, רכיב או יישום תוכנה.</a:t>
            </a:r>
            <a:endParaRPr/>
          </a:p>
          <a:p>
            <a:pPr indent="0" lvl="0" marL="0" rtl="1" algn="r">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Testing is a systematic and controlled process used to evaluate the functionality, quality or performance of a system, component or software application.</a:t>
            </a:r>
            <a:endParaRPr/>
          </a:p>
        </p:txBody>
      </p:sp>
      <p:sp>
        <p:nvSpPr>
          <p:cNvPr id="171" name="Google Shape;171;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t/>
            </a:r>
            <a:endParaRPr/>
          </a:p>
        </p:txBody>
      </p:sp>
      <p:sp>
        <p:nvSpPr>
          <p:cNvPr id="179" name="Google Shape;179;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t/>
            </a:r>
            <a:endParaRPr/>
          </a:p>
        </p:txBody>
      </p:sp>
      <p:sp>
        <p:nvSpPr>
          <p:cNvPr id="189" name="Google Shape;189;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t/>
            </a:r>
            <a:endParaRPr/>
          </a:p>
        </p:txBody>
      </p:sp>
      <p:sp>
        <p:nvSpPr>
          <p:cNvPr id="201" name="Google Shape;201;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t/>
            </a:r>
            <a:endParaRPr/>
          </a:p>
        </p:txBody>
      </p:sp>
      <p:sp>
        <p:nvSpPr>
          <p:cNvPr id="214" name="Google Shape;214;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t/>
            </a:r>
            <a:endParaRPr/>
          </a:p>
        </p:txBody>
      </p:sp>
      <p:sp>
        <p:nvSpPr>
          <p:cNvPr id="230" name="Google Shape;230;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t/>
            </a:r>
            <a:endParaRPr/>
          </a:p>
        </p:txBody>
      </p:sp>
      <p:sp>
        <p:nvSpPr>
          <p:cNvPr id="246" name="Google Shape;246;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1" marL="742950" marR="0" rtl="0" algn="r">
              <a:lnSpc>
                <a:spcPct val="77000"/>
              </a:lnSpc>
              <a:spcBef>
                <a:spcPts val="0"/>
              </a:spcBef>
              <a:spcAft>
                <a:spcPts val="0"/>
              </a:spcAft>
              <a:buClr>
                <a:srgbClr val="1F1F1F"/>
              </a:buClr>
              <a:buSzPts val="1530"/>
              <a:buFont typeface="Courier New"/>
              <a:buChar char="o"/>
            </a:pPr>
            <a:r>
              <a:rPr b="1" lang="en-US" sz="1300">
                <a:latin typeface="Calibri"/>
                <a:ea typeface="Calibri"/>
                <a:cs typeface="Calibri"/>
                <a:sym typeface="Calibri"/>
              </a:rPr>
              <a:t>Invocation</a:t>
            </a:r>
            <a:r>
              <a:rPr lang="en-US" sz="1300">
                <a:latin typeface="Calibri"/>
                <a:ea typeface="Calibri"/>
                <a:cs typeface="Calibri"/>
                <a:sym typeface="Calibri"/>
              </a:rPr>
              <a:t> - ביצוע של מקרה בדיקה בודד, בהינתן כמה ערכי קלט שסופקו, הפעל את התוכנה הנבדקת.</a:t>
            </a:r>
            <a:endParaRPr/>
          </a:p>
          <a:p>
            <a:pPr indent="-285750" lvl="1" marL="742950" marR="0" rtl="0" algn="r">
              <a:lnSpc>
                <a:spcPct val="77000"/>
              </a:lnSpc>
              <a:spcBef>
                <a:spcPts val="0"/>
              </a:spcBef>
              <a:spcAft>
                <a:spcPts val="0"/>
              </a:spcAft>
              <a:buClr>
                <a:srgbClr val="1F1F1F"/>
              </a:buClr>
              <a:buSzPts val="1530"/>
              <a:buFont typeface="Courier New"/>
              <a:buChar char="o"/>
            </a:pPr>
            <a:r>
              <a:rPr b="1" lang="en-US" sz="1300">
                <a:latin typeface="Calibri"/>
                <a:ea typeface="Calibri"/>
                <a:cs typeface="Calibri"/>
                <a:sym typeface="Calibri"/>
              </a:rPr>
              <a:t>הערכה</a:t>
            </a:r>
            <a:r>
              <a:rPr lang="en-US" sz="1300">
                <a:latin typeface="Calibri"/>
                <a:ea typeface="Calibri"/>
                <a:cs typeface="Calibri"/>
                <a:sym typeface="Calibri"/>
              </a:rPr>
              <a:t> - הפעולה של התבוננות בהתנהגות של אותה תוכנה הנבדקת, תיעוד פוטנציאלי של הפעולות שננקטו והשוואת התוצאות למה שצפוי לקרות.</a:t>
            </a:r>
            <a:endParaRPr/>
          </a:p>
          <a:p>
            <a:pPr indent="-285750" lvl="1" marL="742950" marR="0" rtl="0" algn="r">
              <a:lnSpc>
                <a:spcPct val="77000"/>
              </a:lnSpc>
              <a:spcBef>
                <a:spcPts val="0"/>
              </a:spcBef>
              <a:spcAft>
                <a:spcPts val="0"/>
              </a:spcAft>
              <a:buClr>
                <a:srgbClr val="1F1F1F"/>
              </a:buClr>
              <a:buSzPts val="1530"/>
              <a:buFont typeface="Courier New"/>
              <a:buChar char="o"/>
            </a:pPr>
            <a:r>
              <a:rPr b="1" lang="en-US" sz="1300">
                <a:latin typeface="Calibri"/>
                <a:ea typeface="Calibri"/>
                <a:cs typeface="Calibri"/>
                <a:sym typeface="Calibri"/>
              </a:rPr>
              <a:t>הגדרה</a:t>
            </a:r>
            <a:r>
              <a:rPr lang="en-US" sz="1300">
                <a:latin typeface="Calibri"/>
                <a:ea typeface="Calibri"/>
                <a:cs typeface="Calibri"/>
                <a:sym typeface="Calibri"/>
              </a:rPr>
              <a:t> היא הדרך שבה אתה מכניס את התוכנה בבדיקה למצב או לתנאים שבהם קלט הבדיקה יהיה הגיוני.</a:t>
            </a:r>
            <a:endParaRPr/>
          </a:p>
          <a:p>
            <a:pPr indent="-285750" lvl="1" marL="742950" marR="0" rtl="0" algn="r">
              <a:lnSpc>
                <a:spcPct val="77000"/>
              </a:lnSpc>
              <a:spcBef>
                <a:spcPts val="0"/>
              </a:spcBef>
              <a:spcAft>
                <a:spcPts val="0"/>
              </a:spcAft>
              <a:buClr>
                <a:srgbClr val="1F1F1F"/>
              </a:buClr>
              <a:buSzPts val="1530"/>
              <a:buFont typeface="Courier New"/>
              <a:buChar char="o"/>
            </a:pPr>
            <a:r>
              <a:rPr b="1" lang="en-US" sz="1300">
                <a:latin typeface="Calibri"/>
                <a:ea typeface="Calibri"/>
                <a:cs typeface="Calibri"/>
                <a:sym typeface="Calibri"/>
              </a:rPr>
              <a:t>פירוק</a:t>
            </a:r>
            <a:r>
              <a:rPr lang="en-US" sz="1300">
                <a:latin typeface="Calibri"/>
                <a:ea typeface="Calibri"/>
                <a:cs typeface="Calibri"/>
                <a:sym typeface="Calibri"/>
              </a:rPr>
              <a:t> - הצד ההפוך של ההגדרה, בדרך כלל, לא אכפת לך במיוחד ממה שקורה לאחר הבדיקות, אבל יש מספר מקרים שבהם אולי תרצה לוודא שמה שעשית לא יחזיק מעמד מעבר לבדיקה (דוגמאות סגירת חיבורי מסד נתונים, סגירת נקודות אחיזה של קבצים פתוחים, מחיקת נתונים שהוספת או שחזור נתונים שמחקת</a:t>
            </a:r>
            <a:endParaRPr sz="1300">
              <a:latin typeface="Calibri"/>
              <a:ea typeface="Calibri"/>
              <a:cs typeface="Calibri"/>
              <a:sym typeface="Calibri"/>
            </a:endParaRPr>
          </a:p>
          <a:p>
            <a:pPr indent="0" lvl="0" marL="914400" marR="0" rtl="0" algn="r">
              <a:lnSpc>
                <a:spcPct val="77000"/>
              </a:lnSpc>
              <a:spcBef>
                <a:spcPts val="0"/>
              </a:spcBef>
              <a:spcAft>
                <a:spcPts val="0"/>
              </a:spcAft>
              <a:buNone/>
            </a:pPr>
            <a:r>
              <a:t/>
            </a:r>
            <a:endParaRPr sz="1300"/>
          </a:p>
          <a:p>
            <a:pPr indent="0" lvl="0" marL="914400" marR="0" rtl="0" algn="r">
              <a:lnSpc>
                <a:spcPct val="77000"/>
              </a:lnSpc>
              <a:spcBef>
                <a:spcPts val="0"/>
              </a:spcBef>
              <a:spcAft>
                <a:spcPts val="0"/>
              </a:spcAft>
              <a:buNone/>
            </a:pPr>
            <a:r>
              <a:t/>
            </a:r>
            <a:endParaRPr sz="1300"/>
          </a:p>
          <a:p>
            <a:pPr indent="-325755" lvl="1" marL="914400" rtl="0" algn="l">
              <a:lnSpc>
                <a:spcPct val="77000"/>
              </a:lnSpc>
              <a:spcBef>
                <a:spcPts val="0"/>
              </a:spcBef>
              <a:spcAft>
                <a:spcPts val="0"/>
              </a:spcAft>
              <a:buClr>
                <a:srgbClr val="1F1F1F"/>
              </a:buClr>
              <a:buSzPts val="1530"/>
              <a:buFont typeface="Courier New"/>
              <a:buChar char="o"/>
            </a:pPr>
            <a:r>
              <a:rPr b="1" lang="en-US" sz="1300" u="sng">
                <a:solidFill>
                  <a:srgbClr val="1F1F1F"/>
                </a:solidFill>
              </a:rPr>
              <a:t>Invocation</a:t>
            </a:r>
            <a:r>
              <a:rPr b="1" lang="en-US" sz="1300">
                <a:solidFill>
                  <a:srgbClr val="1F1F1F"/>
                </a:solidFill>
              </a:rPr>
              <a:t> - </a:t>
            </a:r>
            <a:r>
              <a:rPr lang="en-US" sz="1300">
                <a:solidFill>
                  <a:srgbClr val="1F1F1F"/>
                </a:solidFill>
              </a:rPr>
              <a:t>the execution of a single test case, given some provided input values, execute the software under test. </a:t>
            </a:r>
            <a:endParaRPr sz="1300"/>
          </a:p>
          <a:p>
            <a:pPr indent="-325755" lvl="1" marL="914400" rtl="0" algn="l">
              <a:lnSpc>
                <a:spcPct val="77000"/>
              </a:lnSpc>
              <a:spcBef>
                <a:spcPts val="0"/>
              </a:spcBef>
              <a:spcAft>
                <a:spcPts val="0"/>
              </a:spcAft>
              <a:buClr>
                <a:srgbClr val="1F1F1F"/>
              </a:buClr>
              <a:buSzPts val="1530"/>
              <a:buFont typeface="Courier New"/>
              <a:buChar char="o"/>
            </a:pPr>
            <a:r>
              <a:rPr b="1" lang="en-US" sz="1300" u="sng">
                <a:solidFill>
                  <a:srgbClr val="1F1F1F"/>
                </a:solidFill>
              </a:rPr>
              <a:t>Assessment</a:t>
            </a:r>
            <a:r>
              <a:rPr b="1" lang="en-US" sz="1300">
                <a:solidFill>
                  <a:srgbClr val="1F1F1F"/>
                </a:solidFill>
              </a:rPr>
              <a:t> - </a:t>
            </a:r>
            <a:r>
              <a:rPr lang="en-US" sz="1300">
                <a:solidFill>
                  <a:srgbClr val="1F1F1F"/>
                </a:solidFill>
              </a:rPr>
              <a:t>the act of observing the behavior of that software under test, potentially documenting the actions that were taken, and comparing the results with what was expected to happen. </a:t>
            </a:r>
            <a:endParaRPr sz="1300">
              <a:solidFill>
                <a:srgbClr val="1F1F1F"/>
              </a:solidFill>
            </a:endParaRPr>
          </a:p>
          <a:p>
            <a:pPr indent="-325755" lvl="1" marL="914400" rtl="0" algn="l">
              <a:lnSpc>
                <a:spcPct val="77000"/>
              </a:lnSpc>
              <a:spcBef>
                <a:spcPts val="0"/>
              </a:spcBef>
              <a:spcAft>
                <a:spcPts val="0"/>
              </a:spcAft>
              <a:buClr>
                <a:srgbClr val="1F1F1F"/>
              </a:buClr>
              <a:buSzPts val="1530"/>
              <a:buFont typeface="Courier New"/>
              <a:buChar char="o"/>
            </a:pPr>
            <a:r>
              <a:rPr b="1" lang="en-US" sz="1300" u="sng">
                <a:solidFill>
                  <a:srgbClr val="1F1F1F"/>
                </a:solidFill>
              </a:rPr>
              <a:t>Setup</a:t>
            </a:r>
            <a:r>
              <a:rPr b="1" lang="en-US" sz="1300">
                <a:solidFill>
                  <a:srgbClr val="1F1F1F"/>
                </a:solidFill>
              </a:rPr>
              <a:t> - </a:t>
            </a:r>
            <a:r>
              <a:rPr lang="en-US" sz="1300">
                <a:solidFill>
                  <a:srgbClr val="1F1F1F"/>
                </a:solidFill>
              </a:rPr>
              <a:t>how you put the software under test into the state or conditions under which the test input would make sense. </a:t>
            </a:r>
            <a:endParaRPr sz="1300">
              <a:solidFill>
                <a:srgbClr val="1F1F1F"/>
              </a:solidFill>
            </a:endParaRPr>
          </a:p>
          <a:p>
            <a:pPr indent="-325755" lvl="1" marL="914400" rtl="0" algn="l">
              <a:lnSpc>
                <a:spcPct val="77000"/>
              </a:lnSpc>
              <a:spcBef>
                <a:spcPts val="0"/>
              </a:spcBef>
              <a:spcAft>
                <a:spcPts val="0"/>
              </a:spcAft>
              <a:buClr>
                <a:srgbClr val="1F1F1F"/>
              </a:buClr>
              <a:buSzPts val="1530"/>
              <a:buFont typeface="Courier New"/>
              <a:buChar char="o"/>
            </a:pPr>
            <a:r>
              <a:rPr b="1" lang="en-US" sz="1300" u="sng">
                <a:solidFill>
                  <a:srgbClr val="1F1F1F"/>
                </a:solidFill>
              </a:rPr>
              <a:t>Teardown</a:t>
            </a:r>
            <a:r>
              <a:rPr b="1" lang="en-US" sz="1300">
                <a:solidFill>
                  <a:srgbClr val="1F1F1F"/>
                </a:solidFill>
              </a:rPr>
              <a:t> - </a:t>
            </a:r>
            <a:r>
              <a:rPr lang="en-US" sz="1300">
                <a:solidFill>
                  <a:srgbClr val="1F1F1F"/>
                </a:solidFill>
              </a:rPr>
              <a:t>the opposite side of the setup, normally, you don't particularly care about what happens after the tests but there are a number of instances where you might want to make sure that whatever you've done doesn't last beyond the test (examples closing database connections, closing open file handles, deleting data you've added or restoring data you've deleted)</a:t>
            </a:r>
            <a:r>
              <a:rPr lang="en-US" sz="1300"/>
              <a:t>)</a:t>
            </a:r>
            <a:endParaRPr sz="1300"/>
          </a:p>
        </p:txBody>
      </p:sp>
      <p:sp>
        <p:nvSpPr>
          <p:cNvPr id="265" name="Google Shape;265;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71450" lvl="1" marL="742950" marR="0" rtl="0" algn="r">
              <a:lnSpc>
                <a:spcPct val="107000"/>
              </a:lnSpc>
              <a:spcBef>
                <a:spcPts val="0"/>
              </a:spcBef>
              <a:spcAft>
                <a:spcPts val="0"/>
              </a:spcAft>
              <a:buClr>
                <a:schemeClr val="dk1"/>
              </a:buClr>
              <a:buSzPts val="1800"/>
              <a:buFont typeface="Courier New"/>
              <a:buNone/>
            </a:pPr>
            <a:r>
              <a:rPr lang="en-US" sz="1500">
                <a:latin typeface="Calibri"/>
                <a:ea typeface="Calibri"/>
                <a:cs typeface="Calibri"/>
                <a:sym typeface="Calibri"/>
              </a:rPr>
              <a:t>בדיקת יחידות היא שיטת פיתוח תוכנה שבה רכיבים בודדים, כגון פונקציות, שיטות או מחלקות, נבדקים בבודדים כדי להבטיח שהם פועלים כהלכה.</a:t>
            </a:r>
            <a:endParaRPr sz="1500">
              <a:latin typeface="Calibri"/>
              <a:ea typeface="Calibri"/>
              <a:cs typeface="Calibri"/>
              <a:sym typeface="Calibri"/>
            </a:endParaRPr>
          </a:p>
          <a:p>
            <a:pPr indent="-171450" lvl="1" marL="742950" marR="0" rtl="0" algn="r">
              <a:lnSpc>
                <a:spcPct val="107000"/>
              </a:lnSpc>
              <a:spcBef>
                <a:spcPts val="0"/>
              </a:spcBef>
              <a:spcAft>
                <a:spcPts val="0"/>
              </a:spcAft>
              <a:buClr>
                <a:schemeClr val="dk1"/>
              </a:buClr>
              <a:buSzPts val="1800"/>
              <a:buFont typeface="Courier New"/>
              <a:buNone/>
            </a:pPr>
            <a:r>
              <a:rPr lang="en-US" sz="1500">
                <a:latin typeface="Calibri"/>
                <a:ea typeface="Calibri"/>
                <a:cs typeface="Calibri"/>
                <a:sym typeface="Calibri"/>
              </a:rPr>
              <a:t>המטרה היא לאמת שכל יחידת קוד מייצרת את הפלט הצפוי עבור תשומות ותנאים נתונים. </a:t>
            </a:r>
            <a:endParaRPr sz="1500">
              <a:latin typeface="Calibri"/>
              <a:ea typeface="Calibri"/>
              <a:cs typeface="Calibri"/>
              <a:sym typeface="Calibri"/>
            </a:endParaRPr>
          </a:p>
          <a:p>
            <a:pPr indent="-171450" lvl="1" marL="742950" marR="0" rtl="0" algn="r">
              <a:lnSpc>
                <a:spcPct val="107000"/>
              </a:lnSpc>
              <a:spcBef>
                <a:spcPts val="0"/>
              </a:spcBef>
              <a:spcAft>
                <a:spcPts val="0"/>
              </a:spcAft>
              <a:buClr>
                <a:schemeClr val="dk1"/>
              </a:buClr>
              <a:buSzPts val="1800"/>
              <a:buFont typeface="Courier New"/>
              <a:buNone/>
            </a:pPr>
            <a:r>
              <a:rPr lang="en-US" sz="1500">
                <a:latin typeface="Calibri"/>
                <a:ea typeface="Calibri"/>
                <a:cs typeface="Calibri"/>
                <a:sym typeface="Calibri"/>
              </a:rPr>
              <a:t>תרגול זה עוזר לזהות באגים ושגיאות בשלב מוקדם של תהליך הפיתוח, ומקל על תיקון הבעיות לפני שהן הופכות מורכבות ויקרות יותר לפתרון</a:t>
            </a:r>
            <a:endParaRPr sz="1500">
              <a:latin typeface="Calibri"/>
              <a:ea typeface="Calibri"/>
              <a:cs typeface="Calibri"/>
              <a:sym typeface="Calibri"/>
            </a:endParaRPr>
          </a:p>
          <a:p>
            <a:pPr indent="-171450" lvl="1" marL="742950" marR="0" rtl="0" algn="r">
              <a:lnSpc>
                <a:spcPct val="107000"/>
              </a:lnSpc>
              <a:spcBef>
                <a:spcPts val="0"/>
              </a:spcBef>
              <a:spcAft>
                <a:spcPts val="0"/>
              </a:spcAft>
              <a:buClr>
                <a:schemeClr val="dk1"/>
              </a:buClr>
              <a:buSzPts val="1800"/>
              <a:buFont typeface="Courier New"/>
              <a:buNone/>
            </a:pPr>
            <a:r>
              <a:t/>
            </a:r>
            <a:endParaRPr sz="1500"/>
          </a:p>
          <a:p>
            <a:pPr indent="-171450" lvl="0" marL="742950" rtl="0" algn="l">
              <a:lnSpc>
                <a:spcPct val="107000"/>
              </a:lnSpc>
              <a:spcBef>
                <a:spcPts val="0"/>
              </a:spcBef>
              <a:spcAft>
                <a:spcPts val="0"/>
              </a:spcAft>
              <a:buClr>
                <a:schemeClr val="dk1"/>
              </a:buClr>
              <a:buSzPts val="1100"/>
              <a:buFont typeface="Arial"/>
              <a:buNone/>
            </a:pPr>
            <a:r>
              <a:rPr lang="en-US" sz="1500"/>
              <a:t>Unit testing is a method of software development in which individual components, such as functions, methods, or classes, are tested individually to ensure that they function correctly.</a:t>
            </a:r>
            <a:endParaRPr sz="1500"/>
          </a:p>
          <a:p>
            <a:pPr indent="-171450" lvl="0" marL="742950" rtl="0" algn="l">
              <a:lnSpc>
                <a:spcPct val="107000"/>
              </a:lnSpc>
              <a:spcBef>
                <a:spcPts val="0"/>
              </a:spcBef>
              <a:spcAft>
                <a:spcPts val="0"/>
              </a:spcAft>
              <a:buClr>
                <a:schemeClr val="dk1"/>
              </a:buClr>
              <a:buSzPts val="1100"/>
              <a:buFont typeface="Arial"/>
              <a:buNone/>
            </a:pPr>
            <a:r>
              <a:rPr lang="en-US" sz="1500"/>
              <a:t>The goal is to verify that each unit of code produces the expected output for given inputs and conditions.</a:t>
            </a:r>
            <a:endParaRPr sz="1500"/>
          </a:p>
          <a:p>
            <a:pPr indent="-171450" lvl="0" marL="742950" rtl="0" algn="l">
              <a:lnSpc>
                <a:spcPct val="107000"/>
              </a:lnSpc>
              <a:spcBef>
                <a:spcPts val="0"/>
              </a:spcBef>
              <a:spcAft>
                <a:spcPts val="0"/>
              </a:spcAft>
              <a:buClr>
                <a:schemeClr val="dk1"/>
              </a:buClr>
              <a:buSzPts val="1100"/>
              <a:buFont typeface="Arial"/>
              <a:buNone/>
            </a:pPr>
            <a:r>
              <a:rPr lang="en-US" sz="1500"/>
              <a:t>This practice helps identify bugs and errors early in the development process, making it easier to fix problems before they become more complex and expensive to fix.</a:t>
            </a:r>
            <a:endParaRPr sz="1500">
              <a:latin typeface="Calibri"/>
              <a:ea typeface="Calibri"/>
              <a:cs typeface="Calibri"/>
              <a:sym typeface="Calibri"/>
            </a:endParaRPr>
          </a:p>
        </p:txBody>
      </p:sp>
      <p:sp>
        <p:nvSpPr>
          <p:cNvPr id="273" name="Google Shape;273;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71450" lvl="1" marL="742950" marR="0" rtl="0" algn="l">
              <a:lnSpc>
                <a:spcPct val="107000"/>
              </a:lnSpc>
              <a:spcBef>
                <a:spcPts val="0"/>
              </a:spcBef>
              <a:spcAft>
                <a:spcPts val="0"/>
              </a:spcAft>
              <a:buClr>
                <a:schemeClr val="dk1"/>
              </a:buClr>
              <a:buSzPts val="1800"/>
              <a:buFont typeface="Courier New"/>
              <a:buNone/>
            </a:pPr>
            <a:r>
              <a:t/>
            </a:r>
            <a:endParaRPr sz="1800">
              <a:latin typeface="Calibri"/>
              <a:ea typeface="Calibri"/>
              <a:cs typeface="Calibri"/>
              <a:sym typeface="Calibri"/>
            </a:endParaRPr>
          </a:p>
        </p:txBody>
      </p:sp>
      <p:sp>
        <p:nvSpPr>
          <p:cNvPr id="282" name="Google Shape;282;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1" algn="r">
              <a:lnSpc>
                <a:spcPct val="107000"/>
              </a:lnSpc>
              <a:spcBef>
                <a:spcPts val="0"/>
              </a:spcBef>
              <a:spcAft>
                <a:spcPts val="0"/>
              </a:spcAft>
              <a:buClr>
                <a:schemeClr val="dk1"/>
              </a:buClr>
              <a:buSzPts val="1800"/>
              <a:buFont typeface="Courier New"/>
              <a:buNone/>
            </a:pPr>
            <a:r>
              <a:rPr lang="en-US" sz="1600">
                <a:latin typeface="Calibri"/>
                <a:ea typeface="Calibri"/>
                <a:cs typeface="Calibri"/>
                <a:sym typeface="Calibri"/>
              </a:rPr>
              <a:t>לשים לב להודעות אינפורמטיביות כך שיהיה קל לדעת מה לא עבר (במיוחד עבור מי שלא כתב את הקוד)</a:t>
            </a:r>
            <a:endParaRPr sz="1000"/>
          </a:p>
          <a:p>
            <a:pPr indent="0" lvl="1" marL="457200" marR="0" rtl="1" algn="r">
              <a:lnSpc>
                <a:spcPct val="107000"/>
              </a:lnSpc>
              <a:spcBef>
                <a:spcPts val="0"/>
              </a:spcBef>
              <a:spcAft>
                <a:spcPts val="0"/>
              </a:spcAft>
              <a:buClr>
                <a:schemeClr val="dk1"/>
              </a:buClr>
              <a:buSzPts val="1800"/>
              <a:buFont typeface="Courier New"/>
              <a:buNone/>
            </a:pPr>
            <a:r>
              <a:rPr lang="en-US" sz="1600">
                <a:latin typeface="Calibri"/>
                <a:ea typeface="Calibri"/>
                <a:cs typeface="Calibri"/>
                <a:sym typeface="Calibri"/>
              </a:rPr>
              <a:t>דוקומנטציה  </a:t>
            </a:r>
            <a:r>
              <a:rPr lang="en-US" sz="1600" u="sng">
                <a:solidFill>
                  <a:schemeClr val="hlink"/>
                </a:solidFill>
                <a:hlinkClick r:id="rId2"/>
              </a:rPr>
              <a:t>JUnit 5 User Guide</a:t>
            </a:r>
            <a:endParaRPr sz="1600"/>
          </a:p>
          <a:p>
            <a:pPr indent="0" lvl="1" marL="457200" marR="0" rtl="1" algn="r">
              <a:lnSpc>
                <a:spcPct val="107000"/>
              </a:lnSpc>
              <a:spcBef>
                <a:spcPts val="0"/>
              </a:spcBef>
              <a:spcAft>
                <a:spcPts val="0"/>
              </a:spcAft>
              <a:buClr>
                <a:schemeClr val="dk1"/>
              </a:buClr>
              <a:buSzPts val="1800"/>
              <a:buFont typeface="Courier New"/>
              <a:buNone/>
            </a:pPr>
            <a:r>
              <a:t/>
            </a:r>
            <a:endParaRPr sz="1600"/>
          </a:p>
          <a:p>
            <a:pPr indent="0" lvl="0" marL="457200" rtl="0" algn="l">
              <a:lnSpc>
                <a:spcPct val="107000"/>
              </a:lnSpc>
              <a:spcBef>
                <a:spcPts val="0"/>
              </a:spcBef>
              <a:spcAft>
                <a:spcPts val="0"/>
              </a:spcAft>
              <a:buClr>
                <a:schemeClr val="dk1"/>
              </a:buClr>
              <a:buSzPts val="1100"/>
              <a:buFont typeface="Arial"/>
              <a:buNone/>
            </a:pPr>
            <a:r>
              <a:rPr lang="en-US" sz="1600"/>
              <a:t>Pay attention to informative messages so that it is easy to know what did not go through (especially for those who did not write the code)</a:t>
            </a:r>
            <a:endParaRPr sz="1600"/>
          </a:p>
          <a:p>
            <a:pPr indent="0" lvl="0" marL="457200" rtl="0" algn="l">
              <a:lnSpc>
                <a:spcPct val="107000"/>
              </a:lnSpc>
              <a:spcBef>
                <a:spcPts val="0"/>
              </a:spcBef>
              <a:spcAft>
                <a:spcPts val="0"/>
              </a:spcAft>
              <a:buClr>
                <a:schemeClr val="dk1"/>
              </a:buClr>
              <a:buSzPts val="1100"/>
              <a:buFont typeface="Arial"/>
              <a:buNone/>
            </a:pPr>
            <a:r>
              <a:rPr lang="en-US" sz="1600"/>
              <a:t>Documentation JUnit 5 User Guide</a:t>
            </a:r>
            <a:endParaRPr sz="1600"/>
          </a:p>
          <a:p>
            <a:pPr indent="0" lvl="1" marL="457200" marR="0" rtl="0" algn="l">
              <a:lnSpc>
                <a:spcPct val="107000"/>
              </a:lnSpc>
              <a:spcBef>
                <a:spcPts val="0"/>
              </a:spcBef>
              <a:spcAft>
                <a:spcPts val="0"/>
              </a:spcAft>
              <a:buClr>
                <a:schemeClr val="dk1"/>
              </a:buClr>
              <a:buSzPts val="1800"/>
              <a:buFont typeface="Courier New"/>
              <a:buNone/>
            </a:pPr>
            <a:r>
              <a:t/>
            </a:r>
            <a:endParaRPr sz="1600"/>
          </a:p>
        </p:txBody>
      </p:sp>
      <p:sp>
        <p:nvSpPr>
          <p:cNvPr id="291" name="Google Shape;291;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a7ee00c8ef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a7ee00c8ef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1" algn="r">
              <a:spcBef>
                <a:spcPts val="0"/>
              </a:spcBef>
              <a:spcAft>
                <a:spcPts val="0"/>
              </a:spcAft>
              <a:buClr>
                <a:schemeClr val="dk1"/>
              </a:buClr>
              <a:buSzPts val="1100"/>
              <a:buFont typeface="Arial"/>
              <a:buNone/>
            </a:pPr>
            <a:r>
              <a:rPr lang="en-US" sz="1700" u="sng">
                <a:solidFill>
                  <a:srgbClr val="374151"/>
                </a:solidFill>
              </a:rPr>
              <a:t>להבהיר שיש עוד קונבנציות מקובלות בתחום, אבל זו הקונבנציה של הקורס והם צריכים לשמור עליה.</a:t>
            </a:r>
            <a:endParaRPr sz="1700" u="sng">
              <a:solidFill>
                <a:srgbClr val="374151"/>
              </a:solidFill>
            </a:endParaRPr>
          </a:p>
          <a:p>
            <a:pPr indent="0" lvl="0" marL="0" rtl="0" algn="l">
              <a:spcBef>
                <a:spcPts val="0"/>
              </a:spcBef>
              <a:spcAft>
                <a:spcPts val="0"/>
              </a:spcAft>
              <a:buClr>
                <a:schemeClr val="dk1"/>
              </a:buClr>
              <a:buSzPts val="1100"/>
              <a:buFont typeface="Arial"/>
              <a:buNone/>
            </a:pPr>
            <a:r>
              <a:rPr lang="en-US" sz="2200" u="sng">
                <a:solidFill>
                  <a:srgbClr val="374151"/>
                </a:solidFill>
              </a:rPr>
              <a:t>Clearly describes:</a:t>
            </a:r>
            <a:endParaRPr sz="2200" u="sng">
              <a:solidFill>
                <a:srgbClr val="374151"/>
              </a:solidFill>
            </a:endParaRPr>
          </a:p>
          <a:p>
            <a:pPr indent="-355600" lvl="0" marL="457200" rtl="0" algn="l">
              <a:spcBef>
                <a:spcPts val="0"/>
              </a:spcBef>
              <a:spcAft>
                <a:spcPts val="0"/>
              </a:spcAft>
              <a:buClr>
                <a:srgbClr val="374151"/>
              </a:buClr>
              <a:buSzPts val="2000"/>
              <a:buFont typeface="Calibri"/>
              <a:buChar char="○"/>
            </a:pPr>
            <a:r>
              <a:rPr lang="en-US" sz="2000">
                <a:solidFill>
                  <a:srgbClr val="374151"/>
                </a:solidFill>
              </a:rPr>
              <a:t>what is being tested</a:t>
            </a:r>
            <a:endParaRPr sz="2000">
              <a:solidFill>
                <a:srgbClr val="374151"/>
              </a:solidFill>
            </a:endParaRPr>
          </a:p>
          <a:p>
            <a:pPr indent="-355600" lvl="0" marL="457200" rtl="0" algn="l">
              <a:spcBef>
                <a:spcPts val="0"/>
              </a:spcBef>
              <a:spcAft>
                <a:spcPts val="0"/>
              </a:spcAft>
              <a:buClr>
                <a:srgbClr val="374151"/>
              </a:buClr>
              <a:buSzPts val="2000"/>
              <a:buFont typeface="Calibri"/>
              <a:buChar char="○"/>
            </a:pPr>
            <a:r>
              <a:rPr lang="en-US" sz="2000">
                <a:solidFill>
                  <a:srgbClr val="374151"/>
                </a:solidFill>
              </a:rPr>
              <a:t>under what conditions</a:t>
            </a:r>
            <a:endParaRPr sz="2000">
              <a:solidFill>
                <a:srgbClr val="374151"/>
              </a:solidFill>
            </a:endParaRPr>
          </a:p>
          <a:p>
            <a:pPr indent="-355600" lvl="0" marL="457200" rtl="0" algn="l">
              <a:spcBef>
                <a:spcPts val="0"/>
              </a:spcBef>
              <a:spcAft>
                <a:spcPts val="0"/>
              </a:spcAft>
              <a:buClr>
                <a:srgbClr val="374151"/>
              </a:buClr>
              <a:buSzPts val="2000"/>
              <a:buFont typeface="Calibri"/>
              <a:buChar char="○"/>
            </a:pPr>
            <a:r>
              <a:rPr lang="en-US" sz="2000">
                <a:solidFill>
                  <a:srgbClr val="374151"/>
                </a:solidFill>
              </a:rPr>
              <a:t>what is the expected outcome</a:t>
            </a:r>
            <a:endParaRPr sz="2200"/>
          </a:p>
          <a:p>
            <a:pPr indent="0" lvl="0" marL="0" rtl="0" algn="l">
              <a:spcBef>
                <a:spcPts val="0"/>
              </a:spcBef>
              <a:spcAft>
                <a:spcPts val="0"/>
              </a:spcAft>
              <a:buNone/>
            </a:pPr>
            <a:r>
              <a:t/>
            </a:r>
            <a:endParaRPr/>
          </a:p>
        </p:txBody>
      </p:sp>
      <p:sp>
        <p:nvSpPr>
          <p:cNvPr id="308" name="Google Shape;308;g2a7ee00c8ef_0_1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a7ee00c8ef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a7ee00c8ef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g2a7ee00c8ef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1" algn="r">
              <a:lnSpc>
                <a:spcPct val="87000"/>
              </a:lnSpc>
              <a:spcBef>
                <a:spcPts val="0"/>
              </a:spcBef>
              <a:spcAft>
                <a:spcPts val="0"/>
              </a:spcAft>
              <a:buClr>
                <a:schemeClr val="dk1"/>
              </a:buClr>
              <a:buSzPts val="2800"/>
              <a:buFont typeface="Courier New"/>
              <a:buNone/>
            </a:pPr>
            <a:r>
              <a:rPr b="0" i="0" lang="en-US" sz="2170">
                <a:latin typeface="Arial"/>
                <a:ea typeface="Arial"/>
                <a:cs typeface="Arial"/>
                <a:sym typeface="Arial"/>
              </a:rPr>
              <a:t>Unlike JUnit 4’s </a:t>
            </a:r>
            <a:r>
              <a:rPr lang="en-US" sz="2170"/>
              <a:t>@Test</a:t>
            </a:r>
            <a:r>
              <a:rPr b="0" i="0" lang="en-US" sz="2170">
                <a:latin typeface="Arial"/>
                <a:ea typeface="Arial"/>
                <a:cs typeface="Arial"/>
                <a:sym typeface="Arial"/>
              </a:rPr>
              <a:t> annotation, this annotation does not declare any attributes</a:t>
            </a:r>
            <a:endParaRPr sz="930"/>
          </a:p>
          <a:p>
            <a:pPr indent="0" lvl="1" marL="457200" marR="0" rtl="1" algn="r">
              <a:lnSpc>
                <a:spcPct val="87000"/>
              </a:lnSpc>
              <a:spcBef>
                <a:spcPts val="0"/>
              </a:spcBef>
              <a:spcAft>
                <a:spcPts val="0"/>
              </a:spcAft>
              <a:buClr>
                <a:schemeClr val="dk1"/>
              </a:buClr>
              <a:buSzPts val="2800"/>
              <a:buFont typeface="Courier New"/>
              <a:buNone/>
            </a:pPr>
            <a:r>
              <a:t/>
            </a:r>
            <a:endParaRPr b="0" i="0" sz="2170">
              <a:latin typeface="Arial"/>
              <a:ea typeface="Arial"/>
              <a:cs typeface="Arial"/>
              <a:sym typeface="Arial"/>
            </a:endParaRPr>
          </a:p>
          <a:p>
            <a:pPr indent="0" lvl="1" marL="457200" marR="0" rtl="1" algn="r">
              <a:lnSpc>
                <a:spcPct val="87000"/>
              </a:lnSpc>
              <a:spcBef>
                <a:spcPts val="0"/>
              </a:spcBef>
              <a:spcAft>
                <a:spcPts val="0"/>
              </a:spcAft>
              <a:buClr>
                <a:schemeClr val="dk1"/>
              </a:buClr>
              <a:buSzPts val="2800"/>
              <a:buFont typeface="Courier New"/>
              <a:buNone/>
            </a:pPr>
            <a:r>
              <a:rPr b="0" i="0" lang="en-US" sz="2170">
                <a:latin typeface="Arial"/>
                <a:ea typeface="Arial"/>
                <a:cs typeface="Arial"/>
                <a:sym typeface="Arial"/>
              </a:rPr>
              <a:t>Before and after all\each </a:t>
            </a:r>
            <a:r>
              <a:rPr lang="en-US" sz="2170">
                <a:solidFill>
                  <a:srgbClr val="000000"/>
                </a:solidFill>
                <a:latin typeface="Calibri"/>
                <a:ea typeface="Calibri"/>
                <a:cs typeface="Calibri"/>
                <a:sym typeface="Calibri"/>
              </a:rPr>
              <a:t>@Test, @RepeatedTest, @ParameterizedTest, or @TestFactory methods</a:t>
            </a:r>
            <a:endParaRPr b="0" i="0" sz="2170">
              <a:latin typeface="Arial"/>
              <a:ea typeface="Arial"/>
              <a:cs typeface="Arial"/>
              <a:sym typeface="Arial"/>
            </a:endParaRPr>
          </a:p>
          <a:p>
            <a:pPr indent="0" lvl="1" marL="457200" marR="0" rtl="1" algn="r">
              <a:lnSpc>
                <a:spcPct val="87000"/>
              </a:lnSpc>
              <a:spcBef>
                <a:spcPts val="0"/>
              </a:spcBef>
              <a:spcAft>
                <a:spcPts val="0"/>
              </a:spcAft>
              <a:buClr>
                <a:schemeClr val="dk1"/>
              </a:buClr>
              <a:buSzPts val="2800"/>
              <a:buFont typeface="Courier New"/>
              <a:buNone/>
            </a:pPr>
            <a:r>
              <a:t/>
            </a:r>
            <a:endParaRPr b="0" i="0" sz="2170">
              <a:latin typeface="Arial"/>
              <a:ea typeface="Arial"/>
              <a:cs typeface="Arial"/>
              <a:sym typeface="Arial"/>
            </a:endParaRPr>
          </a:p>
          <a:p>
            <a:pPr indent="0" lvl="1" marL="457200" marR="0" rtl="1" algn="r">
              <a:lnSpc>
                <a:spcPct val="87000"/>
              </a:lnSpc>
              <a:spcBef>
                <a:spcPts val="0"/>
              </a:spcBef>
              <a:spcAft>
                <a:spcPts val="0"/>
              </a:spcAft>
              <a:buClr>
                <a:srgbClr val="000000"/>
              </a:buClr>
              <a:buSzPts val="1800"/>
              <a:buFont typeface="Courier New"/>
              <a:buNone/>
            </a:pPr>
            <a:r>
              <a:rPr lang="en-US" sz="1395">
                <a:solidFill>
                  <a:srgbClr val="000000"/>
                </a:solidFill>
              </a:rPr>
              <a:t>BeforeEach</a:t>
            </a:r>
            <a:r>
              <a:rPr b="0" i="0" lang="en-US" sz="2170">
                <a:solidFill>
                  <a:srgbClr val="000000"/>
                </a:solidFill>
                <a:latin typeface="Arial"/>
                <a:ea typeface="Arial"/>
                <a:cs typeface="Arial"/>
                <a:sym typeface="Arial"/>
              </a:rPr>
              <a:t> = Before in JUnit 4</a:t>
            </a:r>
            <a:endParaRPr sz="930"/>
          </a:p>
          <a:p>
            <a:pPr indent="0" lvl="1" marL="457200" marR="0" rtl="1" algn="r">
              <a:lnSpc>
                <a:spcPct val="87000"/>
              </a:lnSpc>
              <a:spcBef>
                <a:spcPts val="0"/>
              </a:spcBef>
              <a:spcAft>
                <a:spcPts val="0"/>
              </a:spcAft>
              <a:buClr>
                <a:srgbClr val="000000"/>
              </a:buClr>
              <a:buSzPts val="2800"/>
              <a:buFont typeface="Courier New"/>
              <a:buNone/>
            </a:pPr>
            <a:r>
              <a:rPr b="0" i="0" lang="en-US" sz="2170">
                <a:solidFill>
                  <a:srgbClr val="000000"/>
                </a:solidFill>
                <a:latin typeface="Arial"/>
                <a:ea typeface="Arial"/>
                <a:cs typeface="Arial"/>
                <a:sym typeface="Arial"/>
              </a:rPr>
              <a:t>AfterEach = After in JUnit 4</a:t>
            </a:r>
            <a:endParaRPr/>
          </a:p>
          <a:p>
            <a:pPr indent="0" lvl="1" marL="457200" marR="0" rtl="1" algn="r">
              <a:lnSpc>
                <a:spcPct val="87000"/>
              </a:lnSpc>
              <a:spcBef>
                <a:spcPts val="0"/>
              </a:spcBef>
              <a:spcAft>
                <a:spcPts val="0"/>
              </a:spcAft>
              <a:buClr>
                <a:srgbClr val="000000"/>
              </a:buClr>
              <a:buSzPts val="2800"/>
              <a:buFont typeface="Courier New"/>
              <a:buNone/>
            </a:pPr>
            <a:r>
              <a:t/>
            </a:r>
            <a:endParaRPr b="0" i="0" sz="2170">
              <a:solidFill>
                <a:srgbClr val="000000"/>
              </a:solidFill>
              <a:latin typeface="Arial"/>
              <a:ea typeface="Arial"/>
              <a:cs typeface="Arial"/>
              <a:sym typeface="Arial"/>
            </a:endParaRPr>
          </a:p>
          <a:p>
            <a:pPr indent="0" lvl="1" marL="457200" marR="0" rtl="1" algn="r">
              <a:lnSpc>
                <a:spcPct val="87000"/>
              </a:lnSpc>
              <a:spcBef>
                <a:spcPts val="0"/>
              </a:spcBef>
              <a:spcAft>
                <a:spcPts val="0"/>
              </a:spcAft>
              <a:buClr>
                <a:srgbClr val="000000"/>
              </a:buClr>
              <a:buSzPts val="2800"/>
              <a:buFont typeface="Courier New"/>
              <a:buNone/>
            </a:pPr>
            <a:r>
              <a:rPr b="0" i="0" lang="en-US" sz="2170">
                <a:solidFill>
                  <a:srgbClr val="000000"/>
                </a:solidFill>
                <a:latin typeface="Arial"/>
                <a:ea typeface="Arial"/>
                <a:cs typeface="Arial"/>
                <a:sym typeface="Arial"/>
              </a:rPr>
              <a:t>Used on static methods:</a:t>
            </a:r>
            <a:endParaRPr sz="930"/>
          </a:p>
          <a:p>
            <a:pPr indent="0" lvl="1" marL="457200" marR="0" rtl="1" algn="r">
              <a:lnSpc>
                <a:spcPct val="87000"/>
              </a:lnSpc>
              <a:spcBef>
                <a:spcPts val="0"/>
              </a:spcBef>
              <a:spcAft>
                <a:spcPts val="0"/>
              </a:spcAft>
              <a:buClr>
                <a:srgbClr val="000000"/>
              </a:buClr>
              <a:buSzPts val="1800"/>
              <a:buFont typeface="Courier New"/>
              <a:buNone/>
            </a:pPr>
            <a:r>
              <a:rPr lang="en-US" sz="1395">
                <a:solidFill>
                  <a:srgbClr val="000000"/>
                </a:solidFill>
              </a:rPr>
              <a:t>BeforeAll</a:t>
            </a:r>
            <a:r>
              <a:rPr lang="en-US" sz="1395">
                <a:solidFill>
                  <a:srgbClr val="000000"/>
                </a:solidFill>
                <a:latin typeface="Calibri"/>
                <a:ea typeface="Calibri"/>
                <a:cs typeface="Calibri"/>
                <a:sym typeface="Calibri"/>
              </a:rPr>
              <a:t> = BeforeClass in JUnit 4</a:t>
            </a:r>
            <a:endParaRPr sz="930"/>
          </a:p>
          <a:p>
            <a:pPr indent="0" lvl="1" marL="457200" marR="0" rtl="1" algn="r">
              <a:lnSpc>
                <a:spcPct val="87000"/>
              </a:lnSpc>
              <a:spcBef>
                <a:spcPts val="0"/>
              </a:spcBef>
              <a:spcAft>
                <a:spcPts val="0"/>
              </a:spcAft>
              <a:buClr>
                <a:srgbClr val="000000"/>
              </a:buClr>
              <a:buSzPts val="1800"/>
              <a:buFont typeface="Courier New"/>
              <a:buNone/>
            </a:pPr>
            <a:r>
              <a:rPr lang="en-US" sz="1395">
                <a:solidFill>
                  <a:srgbClr val="000000"/>
                </a:solidFill>
              </a:rPr>
              <a:t>AfterAll</a:t>
            </a:r>
            <a:r>
              <a:rPr lang="en-US" sz="1395">
                <a:solidFill>
                  <a:srgbClr val="000000"/>
                </a:solidFill>
                <a:latin typeface="Calibri"/>
                <a:ea typeface="Calibri"/>
                <a:cs typeface="Calibri"/>
                <a:sym typeface="Calibri"/>
              </a:rPr>
              <a:t> = AfterClass in JUnit 4</a:t>
            </a:r>
            <a:endParaRPr sz="930"/>
          </a:p>
          <a:p>
            <a:pPr indent="0" lvl="1" marL="457200" marR="0" rtl="1" algn="r">
              <a:lnSpc>
                <a:spcPct val="87000"/>
              </a:lnSpc>
              <a:spcBef>
                <a:spcPts val="0"/>
              </a:spcBef>
              <a:spcAft>
                <a:spcPts val="0"/>
              </a:spcAft>
              <a:buClr>
                <a:schemeClr val="dk1"/>
              </a:buClr>
              <a:buSzPts val="1800"/>
              <a:buFont typeface="Courier New"/>
              <a:buNone/>
            </a:pPr>
            <a:r>
              <a:t/>
            </a:r>
            <a:endParaRPr sz="1395">
              <a:latin typeface="Calibri"/>
              <a:ea typeface="Calibri"/>
              <a:cs typeface="Calibri"/>
              <a:sym typeface="Calibri"/>
            </a:endParaRPr>
          </a:p>
        </p:txBody>
      </p:sp>
      <p:sp>
        <p:nvSpPr>
          <p:cNvPr id="331" name="Google Shape;331;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a665e19c3e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g2a665e19c3e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1" algn="r">
              <a:lnSpc>
                <a:spcPct val="107000"/>
              </a:lnSpc>
              <a:spcBef>
                <a:spcPts val="0"/>
              </a:spcBef>
              <a:spcAft>
                <a:spcPts val="0"/>
              </a:spcAft>
              <a:buClr>
                <a:schemeClr val="dk1"/>
              </a:buClr>
              <a:buSzPts val="1800"/>
              <a:buFont typeface="Courier New"/>
              <a:buNone/>
            </a:pPr>
            <a:r>
              <a:t/>
            </a:r>
            <a:endParaRPr sz="1800">
              <a:latin typeface="Calibri"/>
              <a:ea typeface="Calibri"/>
              <a:cs typeface="Calibri"/>
              <a:sym typeface="Calibri"/>
            </a:endParaRPr>
          </a:p>
        </p:txBody>
      </p:sp>
      <p:sp>
        <p:nvSpPr>
          <p:cNvPr id="339" name="Google Shape;339;g2a665e19c3e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a7ee00c8ef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a7ee00c8ef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317500" lvl="0" marL="457200" rtl="1" algn="r">
              <a:spcBef>
                <a:spcPts val="0"/>
              </a:spcBef>
              <a:spcAft>
                <a:spcPts val="0"/>
              </a:spcAft>
              <a:buSzPts val="1400"/>
              <a:buChar char="●"/>
            </a:pPr>
            <a:r>
              <a:rPr lang="en-US"/>
              <a:t>לבדוק אותה התנהגות בלבד שיש בפונקציה</a:t>
            </a:r>
            <a:endParaRPr/>
          </a:p>
          <a:p>
            <a:pPr indent="-317500" lvl="0" marL="457200" rtl="1" algn="r">
              <a:spcBef>
                <a:spcPts val="0"/>
              </a:spcBef>
              <a:spcAft>
                <a:spcPts val="0"/>
              </a:spcAft>
              <a:buSzPts val="1400"/>
              <a:buChar char="●"/>
            </a:pPr>
            <a:r>
              <a:rPr lang="en-US"/>
              <a:t>אנו לא נוכל לדעת מה הORACLE מה הEXPECTED OUTPUT</a:t>
            </a:r>
            <a:endParaRPr/>
          </a:p>
        </p:txBody>
      </p:sp>
      <p:sp>
        <p:nvSpPr>
          <p:cNvPr id="348" name="Google Shape;348;g2a7ee00c8ef_0_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2"/>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
          <p:cNvSpPr txBox="1"/>
          <p:nvPr>
            <p:ph type="ctr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
          <p:cNvSpPr txBox="1"/>
          <p:nvPr>
            <p:ph idx="1" type="subTitle"/>
          </p:nvPr>
        </p:nvSpPr>
        <p:spPr>
          <a:xfrm>
            <a:off x="825038" y="4455621"/>
            <a:ext cx="75438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2"/>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27" name="Shape 27"/>
        <p:cNvGrpSpPr/>
        <p:nvPr/>
      </p:nvGrpSpPr>
      <p:grpSpPr>
        <a:xfrm>
          <a:off x="0" y="0"/>
          <a:ext cx="0" cy="0"/>
          <a:chOff x="0" y="0"/>
          <a:chExt cx="0" cy="0"/>
        </a:xfrm>
      </p:grpSpPr>
      <p:sp>
        <p:nvSpPr>
          <p:cNvPr id="28" name="Google Shape;28;p3"/>
          <p:cNvSpPr/>
          <p:nvPr/>
        </p:nvSpPr>
        <p:spPr>
          <a:xfrm>
            <a:off x="13" y="0"/>
            <a:ext cx="3038093"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
          <p:cNvSpPr/>
          <p:nvPr/>
        </p:nvSpPr>
        <p:spPr>
          <a:xfrm>
            <a:off x="3030053" y="0"/>
            <a:ext cx="48006"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
          <p:cNvSpPr txBox="1"/>
          <p:nvPr>
            <p:ph type="title"/>
          </p:nvPr>
        </p:nvSpPr>
        <p:spPr>
          <a:xfrm>
            <a:off x="342900" y="594359"/>
            <a:ext cx="24003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
          <p:cNvSpPr txBox="1"/>
          <p:nvPr>
            <p:ph idx="1" type="body"/>
          </p:nvPr>
        </p:nvSpPr>
        <p:spPr>
          <a:xfrm>
            <a:off x="3600450" y="731520"/>
            <a:ext cx="486918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2" name="Google Shape;32;p3"/>
          <p:cNvSpPr txBox="1"/>
          <p:nvPr>
            <p:ph idx="2" type="body"/>
          </p:nvPr>
        </p:nvSpPr>
        <p:spPr>
          <a:xfrm>
            <a:off x="342900" y="2926080"/>
            <a:ext cx="24003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33" name="Google Shape;33;p3"/>
          <p:cNvSpPr txBox="1"/>
          <p:nvPr>
            <p:ph idx="10" type="dt"/>
          </p:nvPr>
        </p:nvSpPr>
        <p:spPr>
          <a:xfrm>
            <a:off x="349134" y="6459786"/>
            <a:ext cx="196388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
          <p:cNvSpPr txBox="1"/>
          <p:nvPr>
            <p:ph idx="11" type="ftr"/>
          </p:nvPr>
        </p:nvSpPr>
        <p:spPr>
          <a:xfrm>
            <a:off x="3600450" y="6459786"/>
            <a:ext cx="348615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9" name="Google Shape;39;p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42" name="Shape 42"/>
        <p:cNvGrpSpPr/>
        <p:nvPr/>
      </p:nvGrpSpPr>
      <p:grpSpPr>
        <a:xfrm>
          <a:off x="0" y="0"/>
          <a:ext cx="0" cy="0"/>
          <a:chOff x="0" y="0"/>
          <a:chExt cx="0" cy="0"/>
        </a:xfrm>
      </p:grpSpPr>
      <p:sp>
        <p:nvSpPr>
          <p:cNvPr id="43" name="Google Shape;43;p5"/>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
          <p:cNvSpPr txBox="1"/>
          <p:nvPr>
            <p:ph type="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
          <p:cNvSpPr txBox="1"/>
          <p:nvPr>
            <p:ph idx="1" type="body"/>
          </p:nvPr>
        </p:nvSpPr>
        <p:spPr>
          <a:xfrm>
            <a:off x="822960" y="4453128"/>
            <a:ext cx="75438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7" name="Google Shape;47;p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50" name="Google Shape;50;p5"/>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6"/>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
          <p:cNvSpPr txBox="1"/>
          <p:nvPr>
            <p:ph idx="1" type="body"/>
          </p:nvPr>
        </p:nvSpPr>
        <p:spPr>
          <a:xfrm>
            <a:off x="822960" y="1845735"/>
            <a:ext cx="3703320" cy="402335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4" name="Google Shape;54;p6"/>
          <p:cNvSpPr txBox="1"/>
          <p:nvPr>
            <p:ph idx="2" type="body"/>
          </p:nvPr>
        </p:nvSpPr>
        <p:spPr>
          <a:xfrm>
            <a:off x="4663440" y="1845735"/>
            <a:ext cx="370332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
          <p:cNvSpPr txBox="1"/>
          <p:nvPr>
            <p:ph idx="1" type="body"/>
          </p:nvPr>
        </p:nvSpPr>
        <p:spPr>
          <a:xfrm>
            <a:off x="82296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1" name="Google Shape;61;p7"/>
          <p:cNvSpPr txBox="1"/>
          <p:nvPr>
            <p:ph idx="2" type="body"/>
          </p:nvPr>
        </p:nvSpPr>
        <p:spPr>
          <a:xfrm>
            <a:off x="822960" y="2582335"/>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2" name="Google Shape;62;p7"/>
          <p:cNvSpPr txBox="1"/>
          <p:nvPr>
            <p:ph idx="3" type="body"/>
          </p:nvPr>
        </p:nvSpPr>
        <p:spPr>
          <a:xfrm>
            <a:off x="466344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3" name="Google Shape;63;p7"/>
          <p:cNvSpPr txBox="1"/>
          <p:nvPr>
            <p:ph idx="4" type="body"/>
          </p:nvPr>
        </p:nvSpPr>
        <p:spPr>
          <a:xfrm>
            <a:off x="4663440" y="2582334"/>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4" name="Google Shape;64;p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2" name="Shape 72"/>
        <p:cNvGrpSpPr/>
        <p:nvPr/>
      </p:nvGrpSpPr>
      <p:grpSpPr>
        <a:xfrm>
          <a:off x="0" y="0"/>
          <a:ext cx="0" cy="0"/>
          <a:chOff x="0" y="0"/>
          <a:chExt cx="0" cy="0"/>
        </a:xfrm>
      </p:grpSpPr>
      <p:sp>
        <p:nvSpPr>
          <p:cNvPr id="73" name="Google Shape;73;p9"/>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9"/>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10"/>
          <p:cNvSpPr/>
          <p:nvPr/>
        </p:nvSpPr>
        <p:spPr>
          <a:xfrm>
            <a:off x="0" y="4953000"/>
            <a:ext cx="9141619"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0"/>
          <p:cNvSpPr/>
          <p:nvPr/>
        </p:nvSpPr>
        <p:spPr>
          <a:xfrm>
            <a:off x="12" y="491507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0"/>
          <p:cNvSpPr txBox="1"/>
          <p:nvPr>
            <p:ph type="title"/>
          </p:nvPr>
        </p:nvSpPr>
        <p:spPr>
          <a:xfrm>
            <a:off x="822960" y="5074920"/>
            <a:ext cx="7589520"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0"/>
          <p:cNvSpPr/>
          <p:nvPr>
            <p:ph idx="2" type="pic"/>
          </p:nvPr>
        </p:nvSpPr>
        <p:spPr>
          <a:xfrm>
            <a:off x="12" y="0"/>
            <a:ext cx="9143989" cy="4915076"/>
          </a:xfrm>
          <a:prstGeom prst="rect">
            <a:avLst/>
          </a:prstGeom>
          <a:solidFill>
            <a:srgbClr val="BECAD4"/>
          </a:solidFill>
          <a:ln>
            <a:noFill/>
          </a:ln>
        </p:spPr>
      </p:sp>
      <p:sp>
        <p:nvSpPr>
          <p:cNvPr id="83" name="Google Shape;83;p10"/>
          <p:cNvSpPr txBox="1"/>
          <p:nvPr>
            <p:ph idx="1" type="body"/>
          </p:nvPr>
        </p:nvSpPr>
        <p:spPr>
          <a:xfrm>
            <a:off x="822960" y="5907024"/>
            <a:ext cx="7589520"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1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1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1"/>
          <p:cNvSpPr txBox="1"/>
          <p:nvPr>
            <p:ph idx="1" type="body"/>
          </p:nvPr>
        </p:nvSpPr>
        <p:spPr>
          <a:xfrm rot="5400000">
            <a:off x="2583179" y="85514"/>
            <a:ext cx="4023360" cy="7543801"/>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1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12"/>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2"/>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2"/>
          <p:cNvSpPr txBox="1"/>
          <p:nvPr>
            <p:ph type="title"/>
          </p:nvPr>
        </p:nvSpPr>
        <p:spPr>
          <a:xfrm rot="5400000">
            <a:off x="4649564" y="2306414"/>
            <a:ext cx="5759898" cy="1971675"/>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2"/>
          <p:cNvSpPr txBox="1"/>
          <p:nvPr>
            <p:ph idx="1" type="body"/>
          </p:nvPr>
        </p:nvSpPr>
        <p:spPr>
          <a:xfrm rot="5400000">
            <a:off x="649064" y="391889"/>
            <a:ext cx="5759898" cy="5800725"/>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1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6400800"/>
            <a:ext cx="9144001"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
          <p:cNvSpPr/>
          <p:nvPr/>
        </p:nvSpPr>
        <p:spPr>
          <a:xfrm>
            <a:off x="0" y="6334316"/>
            <a:ext cx="9144001" cy="66484"/>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1"/>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 name="Google Shape;16;p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1"/>
          <p:cNvCxnSpPr/>
          <p:nvPr/>
        </p:nvCxnSpPr>
        <p:spPr>
          <a:xfrm>
            <a:off x="895149" y="1737845"/>
            <a:ext cx="747522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noamtars@post.bgu.ac.i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baeldung.com/java-unit-testing-best-practice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3"/>
          <p:cNvSpPr txBox="1"/>
          <p:nvPr>
            <p:ph type="ctrTitle"/>
          </p:nvPr>
        </p:nvSpPr>
        <p:spPr>
          <a:xfrm>
            <a:off x="-36512" y="758952"/>
            <a:ext cx="9180512" cy="3566160"/>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262626"/>
              </a:buClr>
              <a:buSzPts val="7200"/>
              <a:buFont typeface="Calibri"/>
              <a:buNone/>
            </a:pPr>
            <a:r>
              <a:rPr lang="en-US" sz="7200"/>
              <a:t>Software Quality Engineering</a:t>
            </a:r>
            <a:endParaRPr/>
          </a:p>
        </p:txBody>
      </p:sp>
      <p:sp>
        <p:nvSpPr>
          <p:cNvPr id="107" name="Google Shape;107;p1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sp>
        <p:nvSpPr>
          <p:cNvPr id="108" name="Google Shape;108;p13"/>
          <p:cNvSpPr txBox="1"/>
          <p:nvPr>
            <p:ph idx="1" type="subTitle"/>
          </p:nvPr>
        </p:nvSpPr>
        <p:spPr>
          <a:xfrm>
            <a:off x="822961" y="4455621"/>
            <a:ext cx="7543800" cy="11430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ctr">
              <a:lnSpc>
                <a:spcPct val="90000"/>
              </a:lnSpc>
              <a:spcBef>
                <a:spcPts val="0"/>
              </a:spcBef>
              <a:spcAft>
                <a:spcPts val="0"/>
              </a:spcAft>
              <a:buSzPct val="100000"/>
              <a:buNone/>
            </a:pPr>
            <a:r>
              <a:rPr lang="en-US"/>
              <a:t>PRACTICAL SESSION NO. 1</a:t>
            </a:r>
            <a:endParaRPr/>
          </a:p>
          <a:p>
            <a:pPr indent="0" lvl="0" marL="0" rtl="0" algn="ctr">
              <a:lnSpc>
                <a:spcPct val="90000"/>
              </a:lnSpc>
              <a:spcBef>
                <a:spcPts val="1400"/>
              </a:spcBef>
              <a:spcAft>
                <a:spcPts val="0"/>
              </a:spcAft>
              <a:buSzPct val="100000"/>
              <a:buNone/>
            </a:pPr>
            <a:r>
              <a:rPr lang="en-US"/>
              <a:t>UNIT TESTING - INTRODUCTION</a:t>
            </a:r>
            <a:endParaRPr/>
          </a:p>
          <a:p>
            <a:pPr indent="0" lvl="0" marL="0" rtl="0" algn="ctr">
              <a:lnSpc>
                <a:spcPct val="90000"/>
              </a:lnSpc>
              <a:spcBef>
                <a:spcPts val="1400"/>
              </a:spcBef>
              <a:spcAft>
                <a:spcPts val="0"/>
              </a:spcAft>
              <a:buSzPct val="100000"/>
              <a:buNone/>
            </a:pPr>
            <a:r>
              <a:t/>
            </a:r>
            <a:endParaRPr/>
          </a:p>
        </p:txBody>
      </p:sp>
      <p:sp>
        <p:nvSpPr>
          <p:cNvPr id="109" name="Google Shape;109;p13"/>
          <p:cNvSpPr/>
          <p:nvPr/>
        </p:nvSpPr>
        <p:spPr>
          <a:xfrm>
            <a:off x="2300392" y="5898993"/>
            <a:ext cx="4543216" cy="40011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alibri"/>
                <a:ea typeface="Calibri"/>
                <a:cs typeface="Calibri"/>
                <a:sym typeface="Calibri"/>
              </a:rPr>
              <a:t>Based on Introduction to Software Testing by University of Minnesota on Coursera and </a:t>
            </a:r>
            <a:r>
              <a:rPr b="0" i="0" lang="en-US" sz="1000" u="none" cap="none" strike="noStrike">
                <a:solidFill>
                  <a:srgbClr val="4A4A4A"/>
                </a:solidFill>
                <a:latin typeface="Arial"/>
                <a:ea typeface="Arial"/>
                <a:cs typeface="Arial"/>
                <a:sym typeface="Arial"/>
              </a:rPr>
              <a:t>Unit tests with Mockito – Tutorial </a:t>
            </a:r>
            <a:r>
              <a:rPr b="0" i="0" lang="en-US" sz="1000" u="none" cap="none" strike="noStrike">
                <a:solidFill>
                  <a:schemeClr val="dk1"/>
                </a:solidFill>
                <a:latin typeface="Calibri"/>
                <a:ea typeface="Calibri"/>
                <a:cs typeface="Calibri"/>
                <a:sym typeface="Calibri"/>
              </a:rPr>
              <a:t>on Vogella</a:t>
            </a:r>
            <a:endParaRPr b="0" i="0" sz="10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4"/>
          <p:cNvSpPr txBox="1"/>
          <p:nvPr>
            <p:ph type="title"/>
          </p:nvPr>
        </p:nvSpPr>
        <p:spPr>
          <a:xfrm>
            <a:off x="342900" y="594359"/>
            <a:ext cx="2400300" cy="22860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FFFFFF"/>
              </a:buClr>
              <a:buSzPts val="3600"/>
              <a:buFont typeface="Calibri"/>
              <a:buNone/>
            </a:pPr>
            <a:r>
              <a:rPr lang="en-US"/>
              <a:t>Intro</a:t>
            </a:r>
            <a:endParaRPr/>
          </a:p>
        </p:txBody>
      </p:sp>
      <p:sp>
        <p:nvSpPr>
          <p:cNvPr id="116" name="Google Shape;116;p14"/>
          <p:cNvSpPr txBox="1"/>
          <p:nvPr>
            <p:ph idx="1" type="body"/>
          </p:nvPr>
        </p:nvSpPr>
        <p:spPr>
          <a:xfrm>
            <a:off x="3322990" y="800100"/>
            <a:ext cx="5525244" cy="5257800"/>
          </a:xfrm>
          <a:prstGeom prst="rect">
            <a:avLst/>
          </a:prstGeom>
          <a:noFill/>
          <a:ln>
            <a:noFill/>
          </a:ln>
        </p:spPr>
        <p:txBody>
          <a:bodyPr anchorCtr="0" anchor="t" bIns="45700" lIns="0" spcFirstLastPara="1" rIns="0" wrap="square" tIns="45700">
            <a:normAutofit fontScale="92500" lnSpcReduction="20000"/>
          </a:bodyPr>
          <a:lstStyle/>
          <a:p>
            <a:pPr indent="-117475" lvl="0" marL="91440" rtl="0" algn="l">
              <a:lnSpc>
                <a:spcPct val="150000"/>
              </a:lnSpc>
              <a:spcBef>
                <a:spcPts val="0"/>
              </a:spcBef>
              <a:spcAft>
                <a:spcPts val="0"/>
              </a:spcAft>
              <a:buSzPct val="100000"/>
              <a:buFont typeface="Noto Sans Symbols"/>
              <a:buChar char="❑"/>
            </a:pPr>
            <a:r>
              <a:rPr lang="en-US"/>
              <a:t> Lecturer: Dr. Achiya Elyasaf</a:t>
            </a:r>
            <a:endParaRPr/>
          </a:p>
          <a:p>
            <a:pPr indent="-117475" lvl="0" marL="91440" rtl="0" algn="l">
              <a:lnSpc>
                <a:spcPct val="150000"/>
              </a:lnSpc>
              <a:spcBef>
                <a:spcPts val="1400"/>
              </a:spcBef>
              <a:spcAft>
                <a:spcPts val="0"/>
              </a:spcAft>
              <a:buSzPct val="100000"/>
              <a:buFont typeface="Noto Sans Symbols"/>
              <a:buChar char="❑"/>
            </a:pPr>
            <a:r>
              <a:rPr lang="en-US"/>
              <a:t> Teaching Assistants: </a:t>
            </a:r>
            <a:endParaRPr/>
          </a:p>
          <a:p>
            <a:pPr indent="-346075" lvl="1" marL="914400" rtl="0" algn="l">
              <a:lnSpc>
                <a:spcPct val="150000"/>
              </a:lnSpc>
              <a:spcBef>
                <a:spcPts val="1400"/>
              </a:spcBef>
              <a:spcAft>
                <a:spcPts val="0"/>
              </a:spcAft>
              <a:buSzPct val="111111"/>
              <a:buFont typeface="Noto Sans Symbols"/>
              <a:buChar char="◦"/>
            </a:pPr>
            <a:r>
              <a:rPr lang="en-US"/>
              <a:t>Noam Tarshish</a:t>
            </a:r>
            <a:endParaRPr/>
          </a:p>
          <a:p>
            <a:pPr indent="-334327" lvl="1" marL="914400" rtl="0" algn="l">
              <a:lnSpc>
                <a:spcPct val="150000"/>
              </a:lnSpc>
              <a:spcBef>
                <a:spcPts val="1400"/>
              </a:spcBef>
              <a:spcAft>
                <a:spcPts val="0"/>
              </a:spcAft>
              <a:buSzPct val="100000"/>
              <a:buChar char="◦"/>
            </a:pPr>
            <a:r>
              <a:rPr lang="en-US"/>
              <a:t>Maxim Bragilovski</a:t>
            </a:r>
            <a:endParaRPr/>
          </a:p>
          <a:p>
            <a:pPr indent="-117475" lvl="0" marL="91440" rtl="0" algn="l">
              <a:lnSpc>
                <a:spcPct val="150000"/>
              </a:lnSpc>
              <a:spcBef>
                <a:spcPts val="1400"/>
              </a:spcBef>
              <a:spcAft>
                <a:spcPts val="0"/>
              </a:spcAft>
              <a:buSzPct val="100000"/>
              <a:buFont typeface="Noto Sans Symbols"/>
              <a:buChar char="❑"/>
            </a:pPr>
            <a:r>
              <a:rPr lang="en-US"/>
              <a:t> Assignments - 30%</a:t>
            </a:r>
            <a:endParaRPr/>
          </a:p>
          <a:p>
            <a:pPr indent="-117475" lvl="0" marL="91440" rtl="0" algn="l">
              <a:lnSpc>
                <a:spcPct val="150000"/>
              </a:lnSpc>
              <a:spcBef>
                <a:spcPts val="1400"/>
              </a:spcBef>
              <a:spcAft>
                <a:spcPts val="0"/>
              </a:spcAft>
              <a:buSzPct val="100000"/>
              <a:buFont typeface="Noto Sans Symbols"/>
              <a:buChar char="❑"/>
            </a:pPr>
            <a:r>
              <a:rPr lang="en-US"/>
              <a:t> Exam - 70%</a:t>
            </a:r>
            <a:endParaRPr/>
          </a:p>
          <a:p>
            <a:pPr indent="-117475" lvl="0" marL="91440" rtl="0" algn="l">
              <a:lnSpc>
                <a:spcPct val="150000"/>
              </a:lnSpc>
              <a:spcBef>
                <a:spcPts val="1400"/>
              </a:spcBef>
              <a:spcAft>
                <a:spcPts val="0"/>
              </a:spcAft>
              <a:buSzPct val="100000"/>
              <a:buFont typeface="Noto Sans Symbols"/>
              <a:buChar char="❑"/>
            </a:pPr>
            <a:r>
              <a:rPr lang="en-US"/>
              <a:t> Office hours - scheduled by email </a:t>
            </a:r>
            <a:endParaRPr/>
          </a:p>
          <a:p>
            <a:pPr indent="-346075" lvl="1" marL="914400" rtl="0" algn="l">
              <a:lnSpc>
                <a:spcPct val="150000"/>
              </a:lnSpc>
              <a:spcBef>
                <a:spcPts val="1400"/>
              </a:spcBef>
              <a:spcAft>
                <a:spcPts val="0"/>
              </a:spcAft>
              <a:buSzPct val="111111"/>
              <a:buFont typeface="Noto Sans Symbols"/>
              <a:buChar char="◦"/>
            </a:pPr>
            <a:r>
              <a:rPr lang="en-US"/>
              <a:t> Noam - </a:t>
            </a:r>
            <a:r>
              <a:rPr lang="en-US" u="sng">
                <a:solidFill>
                  <a:schemeClr val="hlink"/>
                </a:solidFill>
                <a:hlinkClick r:id="rId3"/>
              </a:rPr>
              <a:t>noamtars@post.bgu.ac.il</a:t>
            </a:r>
            <a:endParaRPr/>
          </a:p>
          <a:p>
            <a:pPr indent="-334327" lvl="1" marL="914400" rtl="0" algn="l">
              <a:lnSpc>
                <a:spcPct val="150000"/>
              </a:lnSpc>
              <a:spcBef>
                <a:spcPts val="1400"/>
              </a:spcBef>
              <a:spcAft>
                <a:spcPts val="0"/>
              </a:spcAft>
              <a:buSzPct val="100000"/>
              <a:buChar char="◦"/>
            </a:pPr>
            <a:r>
              <a:rPr lang="en-US"/>
              <a:t>Maxim- </a:t>
            </a:r>
            <a:r>
              <a:rPr lang="en-US" u="sng">
                <a:solidFill>
                  <a:schemeClr val="hlink"/>
                </a:solidFill>
              </a:rPr>
              <a:t>maximbr@post.bgu.ac.il</a:t>
            </a:r>
            <a:endParaRPr u="sng">
              <a:solidFill>
                <a:schemeClr val="hlink"/>
              </a:solidFill>
            </a:endParaRPr>
          </a:p>
          <a:p>
            <a:pPr indent="0" lvl="0" marL="91440" rtl="0" algn="l">
              <a:lnSpc>
                <a:spcPct val="90000"/>
              </a:lnSpc>
              <a:spcBef>
                <a:spcPts val="1400"/>
              </a:spcBef>
              <a:spcAft>
                <a:spcPts val="0"/>
              </a:spcAft>
              <a:buSzPct val="100000"/>
              <a:buFont typeface="Noto Sans Symbols"/>
              <a:buNone/>
            </a:pPr>
            <a:r>
              <a:t/>
            </a:r>
            <a:endParaRPr/>
          </a:p>
        </p:txBody>
      </p:sp>
      <p:sp>
        <p:nvSpPr>
          <p:cNvPr id="117" name="Google Shape;117;p1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5"/>
          <p:cNvSpPr txBox="1"/>
          <p:nvPr>
            <p:ph type="title"/>
          </p:nvPr>
        </p:nvSpPr>
        <p:spPr>
          <a:xfrm>
            <a:off x="342900" y="594359"/>
            <a:ext cx="2400300" cy="22860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FFFFFF"/>
              </a:buClr>
              <a:buSzPts val="3600"/>
              <a:buFont typeface="Calibri"/>
              <a:buNone/>
            </a:pPr>
            <a:r>
              <a:rPr lang="en-US"/>
              <a:t>Agenda</a:t>
            </a:r>
            <a:endParaRPr/>
          </a:p>
        </p:txBody>
      </p:sp>
      <p:sp>
        <p:nvSpPr>
          <p:cNvPr id="124" name="Google Shape;124;p15"/>
          <p:cNvSpPr txBox="1"/>
          <p:nvPr>
            <p:ph idx="1" type="body"/>
          </p:nvPr>
        </p:nvSpPr>
        <p:spPr>
          <a:xfrm>
            <a:off x="3600450" y="731520"/>
            <a:ext cx="4869180" cy="5257800"/>
          </a:xfrm>
          <a:prstGeom prst="rect">
            <a:avLst/>
          </a:prstGeom>
          <a:noFill/>
          <a:ln>
            <a:noFill/>
          </a:ln>
        </p:spPr>
        <p:txBody>
          <a:bodyPr anchorCtr="0" anchor="t" bIns="45700" lIns="0" spcFirstLastPara="1" rIns="0" wrap="square" tIns="45700">
            <a:normAutofit/>
          </a:bodyPr>
          <a:lstStyle/>
          <a:p>
            <a:pPr indent="-127000" lvl="0" marL="91440" marR="0" rtl="0" algn="l">
              <a:lnSpc>
                <a:spcPct val="150000"/>
              </a:lnSpc>
              <a:spcBef>
                <a:spcPts val="0"/>
              </a:spcBef>
              <a:spcAft>
                <a:spcPts val="0"/>
              </a:spcAft>
              <a:buSzPts val="2000"/>
              <a:buFont typeface="Noto Sans Symbols"/>
              <a:buChar char="❑"/>
            </a:pPr>
            <a:r>
              <a:rPr lang="en-US" sz="1800"/>
              <a:t> Why is software testing challenging?</a:t>
            </a:r>
            <a:endParaRPr sz="1800"/>
          </a:p>
          <a:p>
            <a:pPr indent="-127000" lvl="0" marL="91440" marR="0" rtl="0" algn="l">
              <a:lnSpc>
                <a:spcPct val="150000"/>
              </a:lnSpc>
              <a:spcBef>
                <a:spcPts val="0"/>
              </a:spcBef>
              <a:spcAft>
                <a:spcPts val="0"/>
              </a:spcAft>
              <a:buSzPts val="2000"/>
              <a:buFont typeface="Noto Sans Symbols"/>
              <a:buChar char="❑"/>
            </a:pPr>
            <a:r>
              <a:rPr lang="en-US" sz="1800"/>
              <a:t> Example: The Zune Killer Bug</a:t>
            </a:r>
            <a:endParaRPr sz="1800"/>
          </a:p>
          <a:p>
            <a:pPr indent="-127000" lvl="0" marL="91440" marR="0" rtl="0" algn="l">
              <a:lnSpc>
                <a:spcPct val="150000"/>
              </a:lnSpc>
              <a:spcBef>
                <a:spcPts val="0"/>
              </a:spcBef>
              <a:spcAft>
                <a:spcPts val="0"/>
              </a:spcAft>
              <a:buSzPts val="2000"/>
              <a:buFont typeface="Noto Sans Symbols"/>
              <a:buChar char="❑"/>
            </a:pPr>
            <a:r>
              <a:rPr lang="en-US" sz="1800"/>
              <a:t> What is a Test?</a:t>
            </a:r>
            <a:endParaRPr sz="1800"/>
          </a:p>
          <a:p>
            <a:pPr indent="-127000" lvl="0" marL="91440" marR="0" rtl="0" algn="l">
              <a:lnSpc>
                <a:spcPct val="150000"/>
              </a:lnSpc>
              <a:spcBef>
                <a:spcPts val="0"/>
              </a:spcBef>
              <a:spcAft>
                <a:spcPts val="0"/>
              </a:spcAft>
              <a:buSzPts val="2000"/>
              <a:buFont typeface="Noto Sans Symbols"/>
              <a:buChar char="❑"/>
            </a:pPr>
            <a:r>
              <a:rPr lang="en-US" sz="1800"/>
              <a:t> Introducing Unit Testing</a:t>
            </a:r>
            <a:endParaRPr sz="1800"/>
          </a:p>
          <a:p>
            <a:pPr indent="-127000" lvl="0" marL="91440" marR="0" rtl="0" algn="l">
              <a:lnSpc>
                <a:spcPct val="150000"/>
              </a:lnSpc>
              <a:spcBef>
                <a:spcPts val="0"/>
              </a:spcBef>
              <a:spcAft>
                <a:spcPts val="0"/>
              </a:spcAft>
              <a:buSzPts val="2000"/>
              <a:buFont typeface="Noto Sans Symbols"/>
              <a:buChar char="❑"/>
            </a:pPr>
            <a:r>
              <a:rPr lang="en-US" sz="1800"/>
              <a:t> Unit Testing with Junit 5</a:t>
            </a:r>
            <a:endParaRPr sz="1800"/>
          </a:p>
          <a:p>
            <a:pPr indent="-127000" lvl="0" marL="91440" marR="0" rtl="0" algn="l">
              <a:lnSpc>
                <a:spcPct val="150000"/>
              </a:lnSpc>
              <a:spcBef>
                <a:spcPts val="0"/>
              </a:spcBef>
              <a:spcAft>
                <a:spcPts val="0"/>
              </a:spcAft>
              <a:buSzPts val="2000"/>
              <a:buFont typeface="Noto Sans Symbols"/>
              <a:buChar char="❑"/>
            </a:pPr>
            <a:r>
              <a:rPr lang="en-US" sz="1800"/>
              <a:t> </a:t>
            </a:r>
            <a:r>
              <a:rPr lang="en-US" sz="1800" u="sng"/>
              <a:t>Example:</a:t>
            </a:r>
            <a:r>
              <a:rPr lang="en-US" sz="1800"/>
              <a:t> Testing Calculator Class</a:t>
            </a:r>
            <a:endParaRPr/>
          </a:p>
        </p:txBody>
      </p:sp>
      <p:sp>
        <p:nvSpPr>
          <p:cNvPr id="125" name="Google Shape;125;p1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6"/>
          <p:cNvSpPr txBox="1"/>
          <p:nvPr>
            <p:ph type="title"/>
          </p:nvPr>
        </p:nvSpPr>
        <p:spPr>
          <a:xfrm>
            <a:off x="822960" y="286604"/>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Why is software testing challenging?</a:t>
            </a:r>
            <a:endParaRPr/>
          </a:p>
        </p:txBody>
      </p:sp>
      <p:sp>
        <p:nvSpPr>
          <p:cNvPr id="132" name="Google Shape;132;p16"/>
          <p:cNvSpPr txBox="1"/>
          <p:nvPr>
            <p:ph idx="1" type="body"/>
          </p:nvPr>
        </p:nvSpPr>
        <p:spPr>
          <a:xfrm>
            <a:off x="800079" y="2086893"/>
            <a:ext cx="7543801" cy="4023360"/>
          </a:xfrm>
          <a:prstGeom prst="rect">
            <a:avLst/>
          </a:prstGeom>
          <a:noFill/>
          <a:ln>
            <a:noFill/>
          </a:ln>
        </p:spPr>
        <p:txBody>
          <a:bodyPr anchorCtr="0" anchor="t" bIns="45700" lIns="0" spcFirstLastPara="1" rIns="0" wrap="square" tIns="45700">
            <a:normAutofit/>
          </a:bodyPr>
          <a:lstStyle/>
          <a:p>
            <a:pPr indent="-127000" lvl="0" marL="91440" rtl="0" algn="l">
              <a:lnSpc>
                <a:spcPct val="150000"/>
              </a:lnSpc>
              <a:spcBef>
                <a:spcPts val="0"/>
              </a:spcBef>
              <a:spcAft>
                <a:spcPts val="0"/>
              </a:spcAft>
              <a:buSzPts val="2000"/>
              <a:buFont typeface="Noto Sans Symbols"/>
              <a:buChar char="❑"/>
            </a:pPr>
            <a:r>
              <a:rPr lang="en-US"/>
              <a:t> Tests only sample a set of possible behaviors (limited resources)</a:t>
            </a:r>
            <a:endParaRPr/>
          </a:p>
          <a:p>
            <a:pPr indent="-127000" lvl="0" marL="91440" rtl="0" algn="l">
              <a:lnSpc>
                <a:spcPct val="150000"/>
              </a:lnSpc>
              <a:spcBef>
                <a:spcPts val="1400"/>
              </a:spcBef>
              <a:spcAft>
                <a:spcPts val="0"/>
              </a:spcAft>
              <a:buSzPts val="2000"/>
              <a:buFont typeface="Noto Sans Symbols"/>
              <a:buChar char="❑"/>
            </a:pPr>
            <a:r>
              <a:rPr lang="en-US"/>
              <a:t> Most software systems are discontinuous (discrete states)</a:t>
            </a:r>
            <a:endParaRPr/>
          </a:p>
        </p:txBody>
      </p:sp>
      <p:sp>
        <p:nvSpPr>
          <p:cNvPr id="133" name="Google Shape;133;p1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134" name="Google Shape;134;p16"/>
          <p:cNvPicPr preferRelativeResize="0"/>
          <p:nvPr/>
        </p:nvPicPr>
        <p:blipFill rotWithShape="1">
          <a:blip r:embed="rId3">
            <a:alphaModFix/>
          </a:blip>
          <a:srcRect b="0" l="0" r="0" t="0"/>
          <a:stretch/>
        </p:blipFill>
        <p:spPr>
          <a:xfrm>
            <a:off x="822956" y="3532321"/>
            <a:ext cx="7230488" cy="247460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17"/>
          <p:cNvPicPr preferRelativeResize="0"/>
          <p:nvPr/>
        </p:nvPicPr>
        <p:blipFill rotWithShape="1">
          <a:blip r:embed="rId3">
            <a:alphaModFix/>
          </a:blip>
          <a:srcRect b="6737" l="119" r="12172" t="21099"/>
          <a:stretch/>
        </p:blipFill>
        <p:spPr>
          <a:xfrm>
            <a:off x="179512" y="2060848"/>
            <a:ext cx="7560840" cy="3812630"/>
          </a:xfrm>
          <a:prstGeom prst="rect">
            <a:avLst/>
          </a:prstGeom>
          <a:noFill/>
          <a:ln>
            <a:noFill/>
          </a:ln>
        </p:spPr>
      </p:pic>
      <p:sp>
        <p:nvSpPr>
          <p:cNvPr id="141" name="Google Shape;141;p17"/>
          <p:cNvSpPr txBox="1"/>
          <p:nvPr>
            <p:ph type="title"/>
          </p:nvPr>
        </p:nvSpPr>
        <p:spPr>
          <a:xfrm>
            <a:off x="822960" y="286604"/>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The Zune Killer</a:t>
            </a:r>
            <a:endParaRPr/>
          </a:p>
        </p:txBody>
      </p:sp>
      <p:sp>
        <p:nvSpPr>
          <p:cNvPr id="142" name="Google Shape;142;p1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8"/>
          <p:cNvPicPr preferRelativeResize="0"/>
          <p:nvPr/>
        </p:nvPicPr>
        <p:blipFill rotWithShape="1">
          <a:blip r:embed="rId3">
            <a:alphaModFix/>
          </a:blip>
          <a:srcRect b="6737" l="119" r="12172" t="21099"/>
          <a:stretch/>
        </p:blipFill>
        <p:spPr>
          <a:xfrm>
            <a:off x="179512" y="2060848"/>
            <a:ext cx="7560840" cy="3812630"/>
          </a:xfrm>
          <a:prstGeom prst="rect">
            <a:avLst/>
          </a:prstGeom>
          <a:noFill/>
          <a:ln>
            <a:noFill/>
          </a:ln>
        </p:spPr>
      </p:pic>
      <p:sp>
        <p:nvSpPr>
          <p:cNvPr id="149" name="Google Shape;149;p18"/>
          <p:cNvSpPr txBox="1"/>
          <p:nvPr>
            <p:ph type="title"/>
          </p:nvPr>
        </p:nvSpPr>
        <p:spPr>
          <a:xfrm>
            <a:off x="822960" y="286604"/>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The Zune Killer</a:t>
            </a:r>
            <a:endParaRPr/>
          </a:p>
        </p:txBody>
      </p:sp>
      <p:sp>
        <p:nvSpPr>
          <p:cNvPr id="150" name="Google Shape;150;p1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51" name="Google Shape;151;p18"/>
          <p:cNvSpPr/>
          <p:nvPr/>
        </p:nvSpPr>
        <p:spPr>
          <a:xfrm>
            <a:off x="4427984" y="4036910"/>
            <a:ext cx="2376264" cy="976266"/>
          </a:xfrm>
          <a:prstGeom prst="wedgeRectCallout">
            <a:avLst>
              <a:gd fmla="val -65646" name="adj1"/>
              <a:gd fmla="val -88486" name="adj2"/>
            </a:avLst>
          </a:prstGeom>
          <a:solidFill>
            <a:schemeClr val="lt1"/>
          </a:solidFill>
          <a:ln cap="flat" cmpd="sng" w="1587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What happens on the last day of a leap year?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9"/>
          <p:cNvSpPr txBox="1"/>
          <p:nvPr>
            <p:ph type="title"/>
          </p:nvPr>
        </p:nvSpPr>
        <p:spPr>
          <a:xfrm>
            <a:off x="822960" y="286604"/>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What is required to find this bug?</a:t>
            </a:r>
            <a:endParaRPr/>
          </a:p>
        </p:txBody>
      </p:sp>
      <p:sp>
        <p:nvSpPr>
          <p:cNvPr id="158" name="Google Shape;158;p1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59" name="Google Shape;159;p19"/>
          <p:cNvSpPr txBox="1"/>
          <p:nvPr>
            <p:ph idx="1" type="body"/>
          </p:nvPr>
        </p:nvSpPr>
        <p:spPr>
          <a:xfrm>
            <a:off x="800099" y="2086893"/>
            <a:ext cx="7543801" cy="4023360"/>
          </a:xfrm>
          <a:prstGeom prst="rect">
            <a:avLst/>
          </a:prstGeom>
          <a:noFill/>
          <a:ln>
            <a:noFill/>
          </a:ln>
        </p:spPr>
        <p:txBody>
          <a:bodyPr anchorCtr="0" anchor="t" bIns="45700" lIns="0" spcFirstLastPara="1" rIns="0" wrap="square" tIns="45700">
            <a:normAutofit/>
          </a:bodyPr>
          <a:lstStyle/>
          <a:p>
            <a:pPr indent="-127000" lvl="0" marL="91440" marR="0" rtl="0" algn="l">
              <a:lnSpc>
                <a:spcPct val="150000"/>
              </a:lnSpc>
              <a:spcBef>
                <a:spcPts val="0"/>
              </a:spcBef>
              <a:spcAft>
                <a:spcPts val="0"/>
              </a:spcAft>
              <a:buSzPts val="2000"/>
              <a:buFont typeface="Noto Sans Symbols"/>
              <a:buChar char="❑"/>
            </a:pPr>
            <a:r>
              <a:rPr lang="en-US"/>
              <a:t> Knowledge of how days/years work – what values might be   problematic.</a:t>
            </a:r>
            <a:endParaRPr/>
          </a:p>
          <a:p>
            <a:pPr indent="-127000" lvl="0" marL="91440" marR="0" rtl="0" algn="l">
              <a:lnSpc>
                <a:spcPct val="150000"/>
              </a:lnSpc>
              <a:spcBef>
                <a:spcPts val="1400"/>
              </a:spcBef>
              <a:spcAft>
                <a:spcPts val="0"/>
              </a:spcAft>
              <a:buSzPts val="2000"/>
              <a:buFont typeface="Noto Sans Symbols"/>
              <a:buChar char="❑"/>
            </a:pPr>
            <a:r>
              <a:rPr lang="en-US"/>
              <a:t> Knowledge of where programmer mistakes are common (</a:t>
            </a:r>
            <a:r>
              <a:rPr lang="en-US" u="sng"/>
              <a:t>Edge cases</a:t>
            </a:r>
            <a:r>
              <a:rPr lang="en-US"/>
              <a:t>) :</a:t>
            </a:r>
            <a:endParaRPr/>
          </a:p>
          <a:p>
            <a:pPr indent="-101600" lvl="2" marL="274320" rtl="0" algn="l">
              <a:lnSpc>
                <a:spcPct val="150000"/>
              </a:lnSpc>
              <a:spcBef>
                <a:spcPts val="1400"/>
              </a:spcBef>
              <a:spcAft>
                <a:spcPts val="0"/>
              </a:spcAft>
              <a:buSzPts val="1600"/>
              <a:buFont typeface="Noto Sans Symbols"/>
              <a:buChar char="❑"/>
            </a:pPr>
            <a:r>
              <a:rPr lang="en-US" sz="1600"/>
              <a:t> Boundary conditions</a:t>
            </a:r>
            <a:endParaRPr/>
          </a:p>
          <a:p>
            <a:pPr indent="-101600" lvl="2" marL="274320" rtl="0" algn="l">
              <a:lnSpc>
                <a:spcPct val="150000"/>
              </a:lnSpc>
              <a:spcBef>
                <a:spcPts val="1400"/>
              </a:spcBef>
              <a:spcAft>
                <a:spcPts val="0"/>
              </a:spcAft>
              <a:buSzPts val="1600"/>
              <a:buFont typeface="Noto Sans Symbols"/>
              <a:buChar char="❑"/>
            </a:pPr>
            <a:r>
              <a:rPr lang="en-US" sz="1600"/>
              <a:t> Complex Boolean Expressions</a:t>
            </a:r>
            <a:endParaRPr/>
          </a:p>
          <a:p>
            <a:pPr indent="-101600" lvl="2" marL="274320" rtl="0" algn="l">
              <a:lnSpc>
                <a:spcPct val="150000"/>
              </a:lnSpc>
              <a:spcBef>
                <a:spcPts val="1400"/>
              </a:spcBef>
              <a:spcAft>
                <a:spcPts val="0"/>
              </a:spcAft>
              <a:buSzPts val="1600"/>
              <a:buFont typeface="Noto Sans Symbols"/>
              <a:buChar char="❑"/>
            </a:pPr>
            <a:r>
              <a:rPr lang="en-US" sz="1600"/>
              <a:t> Unexpected values (negative year or a negative day)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0"/>
          <p:cNvSpPr txBox="1"/>
          <p:nvPr>
            <p:ph type="title"/>
          </p:nvPr>
        </p:nvSpPr>
        <p:spPr>
          <a:xfrm>
            <a:off x="822960" y="286604"/>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To test well we must do:</a:t>
            </a:r>
            <a:endParaRPr/>
          </a:p>
        </p:txBody>
      </p:sp>
      <p:sp>
        <p:nvSpPr>
          <p:cNvPr id="166" name="Google Shape;166;p2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67" name="Google Shape;167;p20"/>
          <p:cNvSpPr txBox="1"/>
          <p:nvPr>
            <p:ph idx="1" type="body"/>
          </p:nvPr>
        </p:nvSpPr>
        <p:spPr>
          <a:xfrm>
            <a:off x="800099" y="2086893"/>
            <a:ext cx="7543801" cy="4023360"/>
          </a:xfrm>
          <a:prstGeom prst="rect">
            <a:avLst/>
          </a:prstGeom>
          <a:noFill/>
          <a:ln>
            <a:noFill/>
          </a:ln>
        </p:spPr>
        <p:txBody>
          <a:bodyPr anchorCtr="0" anchor="t" bIns="45700" lIns="0" spcFirstLastPara="1" rIns="0" wrap="square" tIns="45700">
            <a:normAutofit/>
          </a:bodyPr>
          <a:lstStyle/>
          <a:p>
            <a:pPr indent="-127000" lvl="0" marL="91440" marR="0" rtl="0" algn="l">
              <a:lnSpc>
                <a:spcPct val="150000"/>
              </a:lnSpc>
              <a:spcBef>
                <a:spcPts val="0"/>
              </a:spcBef>
              <a:spcAft>
                <a:spcPts val="0"/>
              </a:spcAft>
              <a:buSzPts val="2000"/>
              <a:buFont typeface="Noto Sans Symbols"/>
              <a:buChar char="❑"/>
            </a:pPr>
            <a:r>
              <a:rPr lang="en-US"/>
              <a:t> Examine the requirements (What the system should do?)</a:t>
            </a:r>
            <a:endParaRPr/>
          </a:p>
          <a:p>
            <a:pPr indent="-127000" lvl="0" marL="91440" marR="0" rtl="0" algn="l">
              <a:lnSpc>
                <a:spcPct val="150000"/>
              </a:lnSpc>
              <a:spcBef>
                <a:spcPts val="1400"/>
              </a:spcBef>
              <a:spcAft>
                <a:spcPts val="0"/>
              </a:spcAft>
              <a:buSzPts val="2000"/>
              <a:buFont typeface="Noto Sans Symbols"/>
              <a:buChar char="❑"/>
            </a:pPr>
            <a:r>
              <a:rPr lang="en-US" sz="2000"/>
              <a:t> Examine the code (</a:t>
            </a:r>
            <a:r>
              <a:rPr lang="en-US"/>
              <a:t>Is the code written well?)</a:t>
            </a:r>
            <a:endParaRPr/>
          </a:p>
          <a:p>
            <a:pPr indent="-127000" lvl="0" marL="91440" marR="0" rtl="0" algn="l">
              <a:lnSpc>
                <a:spcPct val="150000"/>
              </a:lnSpc>
              <a:spcBef>
                <a:spcPts val="1400"/>
              </a:spcBef>
              <a:spcAft>
                <a:spcPts val="0"/>
              </a:spcAft>
              <a:buSzPts val="2000"/>
              <a:buFont typeface="Noto Sans Symbols"/>
              <a:buChar char="❑"/>
            </a:pPr>
            <a:r>
              <a:rPr lang="en-US"/>
              <a:t> Think like a “helpful adversary” – how can I break this thing ?</a:t>
            </a:r>
            <a:endParaRPr/>
          </a:p>
          <a:p>
            <a:pPr indent="-114300" lvl="0" marL="91440" marR="0" rtl="0" algn="l">
              <a:lnSpc>
                <a:spcPct val="150000"/>
              </a:lnSpc>
              <a:spcBef>
                <a:spcPts val="1400"/>
              </a:spcBef>
              <a:spcAft>
                <a:spcPts val="0"/>
              </a:spcAft>
              <a:buSzPts val="1800"/>
              <a:buChar char="❑"/>
            </a:pPr>
            <a:r>
              <a:rPr lang="en-US"/>
              <a:t> Test both </a:t>
            </a:r>
            <a:r>
              <a:rPr b="1" lang="en-US"/>
              <a:t>rainy day</a:t>
            </a:r>
            <a:r>
              <a:rPr lang="en-US"/>
              <a:t> scenarios and </a:t>
            </a:r>
            <a:r>
              <a:rPr b="1" lang="en-US"/>
              <a:t>sunny day</a:t>
            </a:r>
            <a:r>
              <a:rPr lang="en-US"/>
              <a:t> scenarios</a:t>
            </a:r>
            <a:endParaRPr/>
          </a:p>
          <a:p>
            <a:pPr indent="0" lvl="0" marL="91440" marR="0" rtl="0" algn="l">
              <a:lnSpc>
                <a:spcPct val="150000"/>
              </a:lnSpc>
              <a:spcBef>
                <a:spcPts val="1400"/>
              </a:spcBef>
              <a:spcAft>
                <a:spcPts val="0"/>
              </a:spcAft>
              <a:buSzPts val="2000"/>
              <a:buFont typeface="Noto Sans Symbols"/>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822960" y="254910"/>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What is a test ?</a:t>
            </a:r>
            <a:endParaRPr/>
          </a:p>
        </p:txBody>
      </p:sp>
      <p:sp>
        <p:nvSpPr>
          <p:cNvPr id="174" name="Google Shape;174;p2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75" name="Google Shape;175;p21"/>
          <p:cNvSpPr/>
          <p:nvPr/>
        </p:nvSpPr>
        <p:spPr>
          <a:xfrm>
            <a:off x="2483768" y="4247532"/>
            <a:ext cx="1584176" cy="122413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Software Under Test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2"/>
          <p:cNvSpPr txBox="1"/>
          <p:nvPr>
            <p:ph type="title"/>
          </p:nvPr>
        </p:nvSpPr>
        <p:spPr>
          <a:xfrm>
            <a:off x="822960" y="254910"/>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What is a test ?</a:t>
            </a:r>
            <a:endParaRPr/>
          </a:p>
        </p:txBody>
      </p:sp>
      <p:sp>
        <p:nvSpPr>
          <p:cNvPr id="182" name="Google Shape;182;p2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83" name="Google Shape;183;p22"/>
          <p:cNvSpPr/>
          <p:nvPr/>
        </p:nvSpPr>
        <p:spPr>
          <a:xfrm>
            <a:off x="2483768" y="4247532"/>
            <a:ext cx="1584176" cy="122413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Software Under Test</a:t>
            </a:r>
            <a:endParaRPr b="0" i="0" sz="1400" u="none" cap="none" strike="noStrike">
              <a:solidFill>
                <a:srgbClr val="000000"/>
              </a:solidFill>
              <a:latin typeface="Arial"/>
              <a:ea typeface="Arial"/>
              <a:cs typeface="Arial"/>
              <a:sym typeface="Arial"/>
            </a:endParaRPr>
          </a:p>
        </p:txBody>
      </p:sp>
      <p:sp>
        <p:nvSpPr>
          <p:cNvPr id="184" name="Google Shape;184;p22"/>
          <p:cNvSpPr/>
          <p:nvPr/>
        </p:nvSpPr>
        <p:spPr>
          <a:xfrm>
            <a:off x="611560" y="2909765"/>
            <a:ext cx="1656184" cy="777625"/>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Test Data</a:t>
            </a:r>
            <a:endParaRPr b="0" i="0" sz="1400" u="none" cap="none" strike="noStrike">
              <a:solidFill>
                <a:srgbClr val="000000"/>
              </a:solidFill>
              <a:latin typeface="Arial"/>
              <a:ea typeface="Arial"/>
              <a:cs typeface="Arial"/>
              <a:sym typeface="Arial"/>
            </a:endParaRPr>
          </a:p>
        </p:txBody>
      </p:sp>
      <p:cxnSp>
        <p:nvCxnSpPr>
          <p:cNvPr id="185" name="Google Shape;185;p22"/>
          <p:cNvCxnSpPr>
            <a:stCxn id="184" idx="4"/>
            <a:endCxn id="183" idx="1"/>
          </p:cNvCxnSpPr>
          <p:nvPr/>
        </p:nvCxnSpPr>
        <p:spPr>
          <a:xfrm flipH="1" rot="-5400000">
            <a:off x="1375602" y="3751440"/>
            <a:ext cx="1172100" cy="1044000"/>
          </a:xfrm>
          <a:prstGeom prst="curvedConnector2">
            <a:avLst/>
          </a:prstGeom>
          <a:noFill/>
          <a:ln cap="flat" cmpd="sng" w="19050">
            <a:solidFill>
              <a:schemeClr val="dk1"/>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3"/>
          <p:cNvSpPr txBox="1"/>
          <p:nvPr>
            <p:ph type="title"/>
          </p:nvPr>
        </p:nvSpPr>
        <p:spPr>
          <a:xfrm>
            <a:off x="822960" y="254910"/>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What is a test ?</a:t>
            </a:r>
            <a:endParaRPr/>
          </a:p>
        </p:txBody>
      </p:sp>
      <p:sp>
        <p:nvSpPr>
          <p:cNvPr id="192" name="Google Shape;192;p2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93" name="Google Shape;193;p23"/>
          <p:cNvSpPr/>
          <p:nvPr/>
        </p:nvSpPr>
        <p:spPr>
          <a:xfrm>
            <a:off x="2483768" y="4247532"/>
            <a:ext cx="1584176" cy="122413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Software Under Test</a:t>
            </a:r>
            <a:endParaRPr b="0" i="0" sz="1400" u="none" cap="none" strike="noStrike">
              <a:solidFill>
                <a:srgbClr val="000000"/>
              </a:solidFill>
              <a:latin typeface="Arial"/>
              <a:ea typeface="Arial"/>
              <a:cs typeface="Arial"/>
              <a:sym typeface="Arial"/>
            </a:endParaRPr>
          </a:p>
        </p:txBody>
      </p:sp>
      <p:sp>
        <p:nvSpPr>
          <p:cNvPr id="194" name="Google Shape;194;p23"/>
          <p:cNvSpPr/>
          <p:nvPr/>
        </p:nvSpPr>
        <p:spPr>
          <a:xfrm>
            <a:off x="611560" y="2909765"/>
            <a:ext cx="1656184" cy="777625"/>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Test Data</a:t>
            </a:r>
            <a:endParaRPr b="0" i="0" sz="1400" u="none" cap="none" strike="noStrike">
              <a:solidFill>
                <a:srgbClr val="000000"/>
              </a:solidFill>
              <a:latin typeface="Arial"/>
              <a:ea typeface="Arial"/>
              <a:cs typeface="Arial"/>
              <a:sym typeface="Arial"/>
            </a:endParaRPr>
          </a:p>
        </p:txBody>
      </p:sp>
      <p:sp>
        <p:nvSpPr>
          <p:cNvPr id="195" name="Google Shape;195;p23"/>
          <p:cNvSpPr/>
          <p:nvPr/>
        </p:nvSpPr>
        <p:spPr>
          <a:xfrm>
            <a:off x="4155388" y="3321307"/>
            <a:ext cx="1656184" cy="720080"/>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cxnSp>
        <p:nvCxnSpPr>
          <p:cNvPr id="196" name="Google Shape;196;p23"/>
          <p:cNvCxnSpPr>
            <a:stCxn id="194" idx="4"/>
            <a:endCxn id="193" idx="1"/>
          </p:cNvCxnSpPr>
          <p:nvPr/>
        </p:nvCxnSpPr>
        <p:spPr>
          <a:xfrm flipH="1" rot="-5400000">
            <a:off x="1375602" y="3751440"/>
            <a:ext cx="1172100" cy="1044000"/>
          </a:xfrm>
          <a:prstGeom prst="curvedConnector2">
            <a:avLst/>
          </a:prstGeom>
          <a:noFill/>
          <a:ln cap="flat" cmpd="sng" w="19050">
            <a:solidFill>
              <a:schemeClr val="dk1"/>
            </a:solidFill>
            <a:prstDash val="solid"/>
            <a:round/>
            <a:headEnd len="sm" w="sm" type="none"/>
            <a:tailEnd len="med" w="med" type="triangle"/>
          </a:ln>
        </p:spPr>
      </p:cxnSp>
      <p:cxnSp>
        <p:nvCxnSpPr>
          <p:cNvPr id="197" name="Google Shape;197;p23"/>
          <p:cNvCxnSpPr>
            <a:stCxn id="193" idx="0"/>
            <a:endCxn id="195" idx="2"/>
          </p:cNvCxnSpPr>
          <p:nvPr/>
        </p:nvCxnSpPr>
        <p:spPr>
          <a:xfrm rot="-5400000">
            <a:off x="3432606" y="3524682"/>
            <a:ext cx="566100" cy="879600"/>
          </a:xfrm>
          <a:prstGeom prst="curvedConnector2">
            <a:avLst/>
          </a:prstGeom>
          <a:noFill/>
          <a:ln cap="flat" cmpd="sng" w="19050">
            <a:solidFill>
              <a:schemeClr val="dk1"/>
            </a:solidFill>
            <a:prstDash val="solid"/>
            <a:round/>
            <a:headEnd len="sm" w="sm"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type="title"/>
          </p:nvPr>
        </p:nvSpPr>
        <p:spPr>
          <a:xfrm>
            <a:off x="822960" y="254910"/>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What is a test ?</a:t>
            </a:r>
            <a:endParaRPr/>
          </a:p>
        </p:txBody>
      </p:sp>
      <p:sp>
        <p:nvSpPr>
          <p:cNvPr id="204" name="Google Shape;204;p2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05" name="Google Shape;205;p24"/>
          <p:cNvSpPr/>
          <p:nvPr/>
        </p:nvSpPr>
        <p:spPr>
          <a:xfrm>
            <a:off x="2483768" y="4247532"/>
            <a:ext cx="1584176" cy="122413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Software Under Test</a:t>
            </a:r>
            <a:endParaRPr b="0" i="0" sz="1400" u="none" cap="none" strike="noStrike">
              <a:solidFill>
                <a:srgbClr val="000000"/>
              </a:solidFill>
              <a:latin typeface="Arial"/>
              <a:ea typeface="Arial"/>
              <a:cs typeface="Arial"/>
              <a:sym typeface="Arial"/>
            </a:endParaRPr>
          </a:p>
        </p:txBody>
      </p:sp>
      <p:sp>
        <p:nvSpPr>
          <p:cNvPr id="206" name="Google Shape;206;p24"/>
          <p:cNvSpPr/>
          <p:nvPr/>
        </p:nvSpPr>
        <p:spPr>
          <a:xfrm>
            <a:off x="611560" y="2909765"/>
            <a:ext cx="1656184" cy="777625"/>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Test Data</a:t>
            </a:r>
            <a:endParaRPr b="0" i="0" sz="1400" u="none" cap="none" strike="noStrike">
              <a:solidFill>
                <a:srgbClr val="000000"/>
              </a:solidFill>
              <a:latin typeface="Arial"/>
              <a:ea typeface="Arial"/>
              <a:cs typeface="Arial"/>
              <a:sym typeface="Arial"/>
            </a:endParaRPr>
          </a:p>
        </p:txBody>
      </p:sp>
      <p:sp>
        <p:nvSpPr>
          <p:cNvPr id="207" name="Google Shape;207;p24"/>
          <p:cNvSpPr/>
          <p:nvPr/>
        </p:nvSpPr>
        <p:spPr>
          <a:xfrm>
            <a:off x="4155388" y="3321307"/>
            <a:ext cx="1656184" cy="720080"/>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cxnSp>
        <p:nvCxnSpPr>
          <p:cNvPr id="208" name="Google Shape;208;p24"/>
          <p:cNvCxnSpPr>
            <a:stCxn id="206" idx="4"/>
            <a:endCxn id="205" idx="1"/>
          </p:cNvCxnSpPr>
          <p:nvPr/>
        </p:nvCxnSpPr>
        <p:spPr>
          <a:xfrm flipH="1" rot="-5400000">
            <a:off x="1375602" y="3751440"/>
            <a:ext cx="1172100" cy="1044000"/>
          </a:xfrm>
          <a:prstGeom prst="curvedConnector2">
            <a:avLst/>
          </a:prstGeom>
          <a:noFill/>
          <a:ln cap="flat" cmpd="sng" w="19050">
            <a:solidFill>
              <a:schemeClr val="dk1"/>
            </a:solidFill>
            <a:prstDash val="solid"/>
            <a:round/>
            <a:headEnd len="sm" w="sm" type="none"/>
            <a:tailEnd len="med" w="med" type="triangle"/>
          </a:ln>
        </p:spPr>
      </p:cxnSp>
      <p:cxnSp>
        <p:nvCxnSpPr>
          <p:cNvPr id="209" name="Google Shape;209;p24"/>
          <p:cNvCxnSpPr>
            <a:stCxn id="205" idx="0"/>
            <a:endCxn id="207" idx="2"/>
          </p:cNvCxnSpPr>
          <p:nvPr/>
        </p:nvCxnSpPr>
        <p:spPr>
          <a:xfrm rot="-5400000">
            <a:off x="3432606" y="3524682"/>
            <a:ext cx="566100" cy="879600"/>
          </a:xfrm>
          <a:prstGeom prst="curvedConnector2">
            <a:avLst/>
          </a:prstGeom>
          <a:noFill/>
          <a:ln cap="flat" cmpd="sng" w="19050">
            <a:solidFill>
              <a:schemeClr val="dk1"/>
            </a:solidFill>
            <a:prstDash val="solid"/>
            <a:round/>
            <a:headEnd len="sm" w="sm" type="none"/>
            <a:tailEnd len="med" w="med" type="triangle"/>
          </a:ln>
        </p:spPr>
      </p:cxnSp>
      <p:sp>
        <p:nvSpPr>
          <p:cNvPr id="210" name="Google Shape;210;p24"/>
          <p:cNvSpPr/>
          <p:nvPr/>
        </p:nvSpPr>
        <p:spPr>
          <a:xfrm>
            <a:off x="5827009" y="3789040"/>
            <a:ext cx="1728192" cy="720080"/>
          </a:xfrm>
          <a:prstGeom prst="wedgeEllipseCallout">
            <a:avLst>
              <a:gd fmla="val -71527" name="adj1"/>
              <a:gd fmla="val -45443" name="adj2"/>
            </a:avLst>
          </a:prstGeom>
          <a:solidFill>
            <a:srgbClr val="FF0000"/>
          </a:solidFill>
          <a:ln cap="flat" cmpd="sng" w="158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Correct Result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5"/>
          <p:cNvSpPr txBox="1"/>
          <p:nvPr>
            <p:ph type="title"/>
          </p:nvPr>
        </p:nvSpPr>
        <p:spPr>
          <a:xfrm>
            <a:off x="822960" y="254910"/>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What is a test ?</a:t>
            </a:r>
            <a:endParaRPr/>
          </a:p>
        </p:txBody>
      </p:sp>
      <p:sp>
        <p:nvSpPr>
          <p:cNvPr id="217" name="Google Shape;217;p2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18" name="Google Shape;218;p25"/>
          <p:cNvSpPr/>
          <p:nvPr/>
        </p:nvSpPr>
        <p:spPr>
          <a:xfrm>
            <a:off x="2483768" y="4247532"/>
            <a:ext cx="1584176" cy="122413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Software Under Test</a:t>
            </a:r>
            <a:endParaRPr b="0" i="0" sz="1400" u="none" cap="none" strike="noStrike">
              <a:solidFill>
                <a:srgbClr val="000000"/>
              </a:solidFill>
              <a:latin typeface="Arial"/>
              <a:ea typeface="Arial"/>
              <a:cs typeface="Arial"/>
              <a:sym typeface="Arial"/>
            </a:endParaRPr>
          </a:p>
        </p:txBody>
      </p:sp>
      <p:sp>
        <p:nvSpPr>
          <p:cNvPr id="219" name="Google Shape;219;p25"/>
          <p:cNvSpPr/>
          <p:nvPr/>
        </p:nvSpPr>
        <p:spPr>
          <a:xfrm>
            <a:off x="611560" y="2909765"/>
            <a:ext cx="1656184" cy="777625"/>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Test Data</a:t>
            </a:r>
            <a:endParaRPr b="0" i="0" sz="1400" u="none" cap="none" strike="noStrike">
              <a:solidFill>
                <a:srgbClr val="000000"/>
              </a:solidFill>
              <a:latin typeface="Arial"/>
              <a:ea typeface="Arial"/>
              <a:cs typeface="Arial"/>
              <a:sym typeface="Arial"/>
            </a:endParaRPr>
          </a:p>
        </p:txBody>
      </p:sp>
      <p:sp>
        <p:nvSpPr>
          <p:cNvPr id="220" name="Google Shape;220;p25"/>
          <p:cNvSpPr/>
          <p:nvPr/>
        </p:nvSpPr>
        <p:spPr>
          <a:xfrm>
            <a:off x="4155388" y="3321307"/>
            <a:ext cx="1656184" cy="720080"/>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sp>
        <p:nvSpPr>
          <p:cNvPr id="221" name="Google Shape;221;p25"/>
          <p:cNvSpPr/>
          <p:nvPr/>
        </p:nvSpPr>
        <p:spPr>
          <a:xfrm>
            <a:off x="5336715" y="5111628"/>
            <a:ext cx="1348524" cy="72008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Oracle</a:t>
            </a:r>
            <a:endParaRPr b="0" i="0" sz="1400" u="none" cap="none" strike="noStrike">
              <a:solidFill>
                <a:srgbClr val="000000"/>
              </a:solidFill>
              <a:latin typeface="Arial"/>
              <a:ea typeface="Arial"/>
              <a:cs typeface="Arial"/>
              <a:sym typeface="Arial"/>
            </a:endParaRPr>
          </a:p>
        </p:txBody>
      </p:sp>
      <p:cxnSp>
        <p:nvCxnSpPr>
          <p:cNvPr id="222" name="Google Shape;222;p25"/>
          <p:cNvCxnSpPr>
            <a:stCxn id="219" idx="3"/>
            <a:endCxn id="221" idx="2"/>
          </p:cNvCxnSpPr>
          <p:nvPr/>
        </p:nvCxnSpPr>
        <p:spPr>
          <a:xfrm flipH="1" rot="-5400000">
            <a:off x="2303553" y="2124059"/>
            <a:ext cx="2258100" cy="5157000"/>
          </a:xfrm>
          <a:prstGeom prst="curvedConnector3">
            <a:avLst>
              <a:gd fmla="val 110128" name="adj1"/>
            </a:avLst>
          </a:prstGeom>
          <a:noFill/>
          <a:ln cap="flat" cmpd="sng" w="19050">
            <a:solidFill>
              <a:schemeClr val="dk1"/>
            </a:solidFill>
            <a:prstDash val="solid"/>
            <a:round/>
            <a:headEnd len="sm" w="sm" type="none"/>
            <a:tailEnd len="med" w="med" type="triangle"/>
          </a:ln>
        </p:spPr>
      </p:cxnSp>
      <p:cxnSp>
        <p:nvCxnSpPr>
          <p:cNvPr id="223" name="Google Shape;223;p25"/>
          <p:cNvCxnSpPr>
            <a:stCxn id="219" idx="4"/>
            <a:endCxn id="218" idx="1"/>
          </p:cNvCxnSpPr>
          <p:nvPr/>
        </p:nvCxnSpPr>
        <p:spPr>
          <a:xfrm flipH="1" rot="-5400000">
            <a:off x="1375602" y="3751440"/>
            <a:ext cx="1172100" cy="1044000"/>
          </a:xfrm>
          <a:prstGeom prst="curvedConnector2">
            <a:avLst/>
          </a:prstGeom>
          <a:noFill/>
          <a:ln cap="flat" cmpd="sng" w="19050">
            <a:solidFill>
              <a:schemeClr val="dk1"/>
            </a:solidFill>
            <a:prstDash val="solid"/>
            <a:round/>
            <a:headEnd len="sm" w="sm" type="none"/>
            <a:tailEnd len="med" w="med" type="triangle"/>
          </a:ln>
        </p:spPr>
      </p:cxnSp>
      <p:cxnSp>
        <p:nvCxnSpPr>
          <p:cNvPr id="224" name="Google Shape;224;p25"/>
          <p:cNvCxnSpPr>
            <a:stCxn id="218" idx="0"/>
            <a:endCxn id="220" idx="2"/>
          </p:cNvCxnSpPr>
          <p:nvPr/>
        </p:nvCxnSpPr>
        <p:spPr>
          <a:xfrm rot="-5400000">
            <a:off x="3432606" y="3524682"/>
            <a:ext cx="566100" cy="879600"/>
          </a:xfrm>
          <a:prstGeom prst="curvedConnector2">
            <a:avLst/>
          </a:prstGeom>
          <a:noFill/>
          <a:ln cap="flat" cmpd="sng" w="19050">
            <a:solidFill>
              <a:schemeClr val="dk1"/>
            </a:solidFill>
            <a:prstDash val="solid"/>
            <a:round/>
            <a:headEnd len="sm" w="sm" type="none"/>
            <a:tailEnd len="med" w="med" type="triangle"/>
          </a:ln>
        </p:spPr>
      </p:cxnSp>
      <p:cxnSp>
        <p:nvCxnSpPr>
          <p:cNvPr id="225" name="Google Shape;225;p25"/>
          <p:cNvCxnSpPr>
            <a:stCxn id="220" idx="4"/>
            <a:endCxn id="221" idx="0"/>
          </p:cNvCxnSpPr>
          <p:nvPr/>
        </p:nvCxnSpPr>
        <p:spPr>
          <a:xfrm flipH="1" rot="-5400000">
            <a:off x="4962180" y="4062687"/>
            <a:ext cx="1070100" cy="1027500"/>
          </a:xfrm>
          <a:prstGeom prst="curvedConnector3">
            <a:avLst>
              <a:gd fmla="val 50000" name="adj1"/>
            </a:avLst>
          </a:prstGeom>
          <a:noFill/>
          <a:ln cap="flat" cmpd="sng" w="19050">
            <a:solidFill>
              <a:schemeClr val="dk1"/>
            </a:solidFill>
            <a:prstDash val="solid"/>
            <a:round/>
            <a:headEnd len="sm" w="sm" type="none"/>
            <a:tailEnd len="med" w="med" type="triangle"/>
          </a:ln>
        </p:spPr>
      </p:cxnSp>
      <p:sp>
        <p:nvSpPr>
          <p:cNvPr id="226" name="Google Shape;226;p25"/>
          <p:cNvSpPr/>
          <p:nvPr/>
        </p:nvSpPr>
        <p:spPr>
          <a:xfrm>
            <a:off x="5336737" y="5111625"/>
            <a:ext cx="2846100" cy="7200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Oracle</a:t>
            </a:r>
            <a:r>
              <a:rPr lang="en-US" sz="2000">
                <a:latin typeface="Calibri"/>
                <a:ea typeface="Calibri"/>
                <a:cs typeface="Calibri"/>
                <a:sym typeface="Calibri"/>
              </a:rPr>
              <a:t>(Expected Output)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6"/>
          <p:cNvSpPr txBox="1"/>
          <p:nvPr>
            <p:ph type="title"/>
          </p:nvPr>
        </p:nvSpPr>
        <p:spPr>
          <a:xfrm>
            <a:off x="822960" y="254910"/>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What is a test ?</a:t>
            </a:r>
            <a:endParaRPr/>
          </a:p>
        </p:txBody>
      </p:sp>
      <p:sp>
        <p:nvSpPr>
          <p:cNvPr id="233" name="Google Shape;233;p2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34" name="Google Shape;234;p26"/>
          <p:cNvSpPr/>
          <p:nvPr/>
        </p:nvSpPr>
        <p:spPr>
          <a:xfrm>
            <a:off x="2483768" y="4247532"/>
            <a:ext cx="1584176" cy="122413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Software Under Test</a:t>
            </a:r>
            <a:endParaRPr b="0" i="0" sz="1400" u="none" cap="none" strike="noStrike">
              <a:solidFill>
                <a:srgbClr val="000000"/>
              </a:solidFill>
              <a:latin typeface="Arial"/>
              <a:ea typeface="Arial"/>
              <a:cs typeface="Arial"/>
              <a:sym typeface="Arial"/>
            </a:endParaRPr>
          </a:p>
        </p:txBody>
      </p:sp>
      <p:sp>
        <p:nvSpPr>
          <p:cNvPr id="235" name="Google Shape;235;p26"/>
          <p:cNvSpPr/>
          <p:nvPr/>
        </p:nvSpPr>
        <p:spPr>
          <a:xfrm>
            <a:off x="611560" y="2909765"/>
            <a:ext cx="1656184" cy="777625"/>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Test Data</a:t>
            </a:r>
            <a:endParaRPr b="0" i="0" sz="1400" u="none" cap="none" strike="noStrike">
              <a:solidFill>
                <a:srgbClr val="000000"/>
              </a:solidFill>
              <a:latin typeface="Arial"/>
              <a:ea typeface="Arial"/>
              <a:cs typeface="Arial"/>
              <a:sym typeface="Arial"/>
            </a:endParaRPr>
          </a:p>
        </p:txBody>
      </p:sp>
      <p:sp>
        <p:nvSpPr>
          <p:cNvPr id="236" name="Google Shape;236;p26"/>
          <p:cNvSpPr/>
          <p:nvPr/>
        </p:nvSpPr>
        <p:spPr>
          <a:xfrm>
            <a:off x="4155388" y="3321307"/>
            <a:ext cx="1656184" cy="720080"/>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sp>
        <p:nvSpPr>
          <p:cNvPr id="237" name="Google Shape;237;p26"/>
          <p:cNvSpPr/>
          <p:nvPr/>
        </p:nvSpPr>
        <p:spPr>
          <a:xfrm>
            <a:off x="5336715" y="5111628"/>
            <a:ext cx="1348524" cy="72008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Oracle</a:t>
            </a:r>
            <a:endParaRPr b="0" i="0" sz="1400" u="none" cap="none" strike="noStrike">
              <a:solidFill>
                <a:srgbClr val="000000"/>
              </a:solidFill>
              <a:latin typeface="Arial"/>
              <a:ea typeface="Arial"/>
              <a:cs typeface="Arial"/>
              <a:sym typeface="Arial"/>
            </a:endParaRPr>
          </a:p>
        </p:txBody>
      </p:sp>
      <p:cxnSp>
        <p:nvCxnSpPr>
          <p:cNvPr id="238" name="Google Shape;238;p26"/>
          <p:cNvCxnSpPr>
            <a:stCxn id="235" idx="3"/>
            <a:endCxn id="237" idx="2"/>
          </p:cNvCxnSpPr>
          <p:nvPr/>
        </p:nvCxnSpPr>
        <p:spPr>
          <a:xfrm flipH="1" rot="-5400000">
            <a:off x="2303553" y="2124059"/>
            <a:ext cx="2258100" cy="5157000"/>
          </a:xfrm>
          <a:prstGeom prst="curvedConnector3">
            <a:avLst>
              <a:gd fmla="val 110128" name="adj1"/>
            </a:avLst>
          </a:prstGeom>
          <a:noFill/>
          <a:ln cap="flat" cmpd="sng" w="19050">
            <a:solidFill>
              <a:schemeClr val="dk1"/>
            </a:solidFill>
            <a:prstDash val="solid"/>
            <a:round/>
            <a:headEnd len="sm" w="sm" type="none"/>
            <a:tailEnd len="med" w="med" type="triangle"/>
          </a:ln>
        </p:spPr>
      </p:cxnSp>
      <p:cxnSp>
        <p:nvCxnSpPr>
          <p:cNvPr id="239" name="Google Shape;239;p26"/>
          <p:cNvCxnSpPr>
            <a:stCxn id="235" idx="4"/>
            <a:endCxn id="234" idx="1"/>
          </p:cNvCxnSpPr>
          <p:nvPr/>
        </p:nvCxnSpPr>
        <p:spPr>
          <a:xfrm flipH="1" rot="-5400000">
            <a:off x="1375602" y="3751440"/>
            <a:ext cx="1172100" cy="1044000"/>
          </a:xfrm>
          <a:prstGeom prst="curvedConnector2">
            <a:avLst/>
          </a:prstGeom>
          <a:noFill/>
          <a:ln cap="flat" cmpd="sng" w="19050">
            <a:solidFill>
              <a:schemeClr val="dk1"/>
            </a:solidFill>
            <a:prstDash val="solid"/>
            <a:round/>
            <a:headEnd len="sm" w="sm" type="none"/>
            <a:tailEnd len="med" w="med" type="triangle"/>
          </a:ln>
        </p:spPr>
      </p:cxnSp>
      <p:cxnSp>
        <p:nvCxnSpPr>
          <p:cNvPr id="240" name="Google Shape;240;p26"/>
          <p:cNvCxnSpPr>
            <a:stCxn id="234" idx="0"/>
            <a:endCxn id="236" idx="2"/>
          </p:cNvCxnSpPr>
          <p:nvPr/>
        </p:nvCxnSpPr>
        <p:spPr>
          <a:xfrm rot="-5400000">
            <a:off x="3432606" y="3524682"/>
            <a:ext cx="566100" cy="879600"/>
          </a:xfrm>
          <a:prstGeom prst="curvedConnector2">
            <a:avLst/>
          </a:prstGeom>
          <a:noFill/>
          <a:ln cap="flat" cmpd="sng" w="19050">
            <a:solidFill>
              <a:schemeClr val="dk1"/>
            </a:solidFill>
            <a:prstDash val="solid"/>
            <a:round/>
            <a:headEnd len="sm" w="sm" type="none"/>
            <a:tailEnd len="med" w="med" type="triangle"/>
          </a:ln>
        </p:spPr>
      </p:cxnSp>
      <p:cxnSp>
        <p:nvCxnSpPr>
          <p:cNvPr id="241" name="Google Shape;241;p26"/>
          <p:cNvCxnSpPr>
            <a:stCxn id="236" idx="4"/>
            <a:endCxn id="237" idx="0"/>
          </p:cNvCxnSpPr>
          <p:nvPr/>
        </p:nvCxnSpPr>
        <p:spPr>
          <a:xfrm flipH="1" rot="-5400000">
            <a:off x="4962180" y="4062687"/>
            <a:ext cx="1070100" cy="1027500"/>
          </a:xfrm>
          <a:prstGeom prst="curvedConnector3">
            <a:avLst>
              <a:gd fmla="val 50000" name="adj1"/>
            </a:avLst>
          </a:prstGeom>
          <a:noFill/>
          <a:ln cap="flat" cmpd="sng" w="19050">
            <a:solidFill>
              <a:schemeClr val="dk1"/>
            </a:solidFill>
            <a:prstDash val="solid"/>
            <a:round/>
            <a:headEnd len="sm" w="sm" type="none"/>
            <a:tailEnd len="med" w="med" type="triangle"/>
          </a:ln>
        </p:spPr>
      </p:cxnSp>
      <p:sp>
        <p:nvSpPr>
          <p:cNvPr id="242" name="Google Shape;242;p26"/>
          <p:cNvSpPr/>
          <p:nvPr/>
        </p:nvSpPr>
        <p:spPr>
          <a:xfrm>
            <a:off x="5336737" y="5111625"/>
            <a:ext cx="2846100" cy="7200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Oracle</a:t>
            </a:r>
            <a:r>
              <a:rPr lang="en-US" sz="2000">
                <a:latin typeface="Calibri"/>
                <a:ea typeface="Calibri"/>
                <a:cs typeface="Calibri"/>
                <a:sym typeface="Calibri"/>
              </a:rPr>
              <a:t>(Expected Output)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7"/>
          <p:cNvSpPr txBox="1"/>
          <p:nvPr>
            <p:ph type="title"/>
          </p:nvPr>
        </p:nvSpPr>
        <p:spPr>
          <a:xfrm>
            <a:off x="822960" y="254910"/>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What is a test ?</a:t>
            </a:r>
            <a:endParaRPr/>
          </a:p>
        </p:txBody>
      </p:sp>
      <p:sp>
        <p:nvSpPr>
          <p:cNvPr id="249" name="Google Shape;249;p2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50" name="Google Shape;250;p27"/>
          <p:cNvSpPr/>
          <p:nvPr/>
        </p:nvSpPr>
        <p:spPr>
          <a:xfrm>
            <a:off x="2483768" y="4247532"/>
            <a:ext cx="1584176" cy="122413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Software Under Test</a:t>
            </a:r>
            <a:endParaRPr b="0" i="0" sz="1400" u="none" cap="none" strike="noStrike">
              <a:solidFill>
                <a:srgbClr val="000000"/>
              </a:solidFill>
              <a:latin typeface="Arial"/>
              <a:ea typeface="Arial"/>
              <a:cs typeface="Arial"/>
              <a:sym typeface="Arial"/>
            </a:endParaRPr>
          </a:p>
        </p:txBody>
      </p:sp>
      <p:sp>
        <p:nvSpPr>
          <p:cNvPr id="251" name="Google Shape;251;p27"/>
          <p:cNvSpPr/>
          <p:nvPr/>
        </p:nvSpPr>
        <p:spPr>
          <a:xfrm>
            <a:off x="611560" y="2909765"/>
            <a:ext cx="1656184" cy="777625"/>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Test Data</a:t>
            </a:r>
            <a:endParaRPr b="0" i="0" sz="1400" u="none" cap="none" strike="noStrike">
              <a:solidFill>
                <a:srgbClr val="000000"/>
              </a:solidFill>
              <a:latin typeface="Arial"/>
              <a:ea typeface="Arial"/>
              <a:cs typeface="Arial"/>
              <a:sym typeface="Arial"/>
            </a:endParaRPr>
          </a:p>
        </p:txBody>
      </p:sp>
      <p:sp>
        <p:nvSpPr>
          <p:cNvPr id="252" name="Google Shape;252;p27"/>
          <p:cNvSpPr/>
          <p:nvPr/>
        </p:nvSpPr>
        <p:spPr>
          <a:xfrm>
            <a:off x="4155388" y="3321307"/>
            <a:ext cx="1656184" cy="720080"/>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sp>
        <p:nvSpPr>
          <p:cNvPr id="253" name="Google Shape;253;p27"/>
          <p:cNvSpPr/>
          <p:nvPr/>
        </p:nvSpPr>
        <p:spPr>
          <a:xfrm>
            <a:off x="6951693" y="3322085"/>
            <a:ext cx="1656184" cy="783704"/>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Expected Output</a:t>
            </a:r>
            <a:endParaRPr b="0" i="0" sz="1400" u="none" cap="none" strike="noStrike">
              <a:solidFill>
                <a:srgbClr val="000000"/>
              </a:solidFill>
              <a:latin typeface="Arial"/>
              <a:ea typeface="Arial"/>
              <a:cs typeface="Arial"/>
              <a:sym typeface="Arial"/>
            </a:endParaRPr>
          </a:p>
        </p:txBody>
      </p:sp>
      <p:sp>
        <p:nvSpPr>
          <p:cNvPr id="254" name="Google Shape;254;p27"/>
          <p:cNvSpPr/>
          <p:nvPr/>
        </p:nvSpPr>
        <p:spPr>
          <a:xfrm>
            <a:off x="5336737" y="5111625"/>
            <a:ext cx="2846100" cy="7200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Oracle</a:t>
            </a:r>
            <a:r>
              <a:rPr lang="en-US" sz="2000">
                <a:latin typeface="Calibri"/>
                <a:ea typeface="Calibri"/>
                <a:cs typeface="Calibri"/>
                <a:sym typeface="Calibri"/>
              </a:rPr>
              <a:t>(Expected Output)</a:t>
            </a:r>
            <a:endParaRPr b="0" i="0" sz="1400" u="none" cap="none" strike="noStrike">
              <a:solidFill>
                <a:srgbClr val="000000"/>
              </a:solidFill>
              <a:latin typeface="Arial"/>
              <a:ea typeface="Arial"/>
              <a:cs typeface="Arial"/>
              <a:sym typeface="Arial"/>
            </a:endParaRPr>
          </a:p>
        </p:txBody>
      </p:sp>
      <p:cxnSp>
        <p:nvCxnSpPr>
          <p:cNvPr id="255" name="Google Shape;255;p27"/>
          <p:cNvCxnSpPr>
            <a:stCxn id="251" idx="3"/>
            <a:endCxn id="254" idx="2"/>
          </p:cNvCxnSpPr>
          <p:nvPr/>
        </p:nvCxnSpPr>
        <p:spPr>
          <a:xfrm flipH="1" rot="-5400000">
            <a:off x="2677953" y="1749659"/>
            <a:ext cx="2258100" cy="5905800"/>
          </a:xfrm>
          <a:prstGeom prst="curvedConnector3">
            <a:avLst>
              <a:gd fmla="val 110546" name="adj1"/>
            </a:avLst>
          </a:prstGeom>
          <a:noFill/>
          <a:ln cap="flat" cmpd="sng" w="19050">
            <a:solidFill>
              <a:schemeClr val="dk1"/>
            </a:solidFill>
            <a:prstDash val="solid"/>
            <a:round/>
            <a:headEnd len="sm" w="sm" type="none"/>
            <a:tailEnd len="med" w="med" type="triangle"/>
          </a:ln>
        </p:spPr>
      </p:cxnSp>
      <p:cxnSp>
        <p:nvCxnSpPr>
          <p:cNvPr id="256" name="Google Shape;256;p27"/>
          <p:cNvCxnSpPr>
            <a:stCxn id="251" idx="4"/>
            <a:endCxn id="250" idx="1"/>
          </p:cNvCxnSpPr>
          <p:nvPr/>
        </p:nvCxnSpPr>
        <p:spPr>
          <a:xfrm flipH="1" rot="-5400000">
            <a:off x="1375602" y="3751440"/>
            <a:ext cx="1172100" cy="1044000"/>
          </a:xfrm>
          <a:prstGeom prst="curvedConnector2">
            <a:avLst/>
          </a:prstGeom>
          <a:noFill/>
          <a:ln cap="flat" cmpd="sng" w="19050">
            <a:solidFill>
              <a:schemeClr val="dk1"/>
            </a:solidFill>
            <a:prstDash val="solid"/>
            <a:round/>
            <a:headEnd len="sm" w="sm" type="none"/>
            <a:tailEnd len="med" w="med" type="triangle"/>
          </a:ln>
        </p:spPr>
      </p:cxnSp>
      <p:cxnSp>
        <p:nvCxnSpPr>
          <p:cNvPr id="257" name="Google Shape;257;p27"/>
          <p:cNvCxnSpPr>
            <a:stCxn id="250" idx="0"/>
            <a:endCxn id="252" idx="2"/>
          </p:cNvCxnSpPr>
          <p:nvPr/>
        </p:nvCxnSpPr>
        <p:spPr>
          <a:xfrm rot="-5400000">
            <a:off x="3432606" y="3524682"/>
            <a:ext cx="566100" cy="879600"/>
          </a:xfrm>
          <a:prstGeom prst="curvedConnector2">
            <a:avLst/>
          </a:prstGeom>
          <a:noFill/>
          <a:ln cap="flat" cmpd="sng" w="19050">
            <a:solidFill>
              <a:schemeClr val="dk1"/>
            </a:solidFill>
            <a:prstDash val="solid"/>
            <a:round/>
            <a:headEnd len="sm" w="sm" type="none"/>
            <a:tailEnd len="med" w="med" type="triangle"/>
          </a:ln>
        </p:spPr>
      </p:cxnSp>
      <p:cxnSp>
        <p:nvCxnSpPr>
          <p:cNvPr id="258" name="Google Shape;258;p27"/>
          <p:cNvCxnSpPr>
            <a:stCxn id="252" idx="4"/>
            <a:endCxn id="254" idx="0"/>
          </p:cNvCxnSpPr>
          <p:nvPr/>
        </p:nvCxnSpPr>
        <p:spPr>
          <a:xfrm flipH="1" rot="-5400000">
            <a:off x="5336580" y="3688287"/>
            <a:ext cx="1070100" cy="1776300"/>
          </a:xfrm>
          <a:prstGeom prst="curvedConnector3">
            <a:avLst>
              <a:gd fmla="val 50006" name="adj1"/>
            </a:avLst>
          </a:prstGeom>
          <a:noFill/>
          <a:ln cap="flat" cmpd="sng" w="19050">
            <a:solidFill>
              <a:schemeClr val="dk1"/>
            </a:solidFill>
            <a:prstDash val="solid"/>
            <a:round/>
            <a:headEnd len="sm" w="sm" type="none"/>
            <a:tailEnd len="med" w="med" type="triangle"/>
          </a:ln>
        </p:spPr>
      </p:cxnSp>
      <p:sp>
        <p:nvSpPr>
          <p:cNvPr id="259" name="Google Shape;259;p27"/>
          <p:cNvSpPr/>
          <p:nvPr/>
        </p:nvSpPr>
        <p:spPr>
          <a:xfrm>
            <a:off x="4351983" y="1911812"/>
            <a:ext cx="2845969" cy="634669"/>
          </a:xfrm>
          <a:prstGeom prst="wedgeEllipseCallout">
            <a:avLst>
              <a:gd fmla="val -46724" name="adj1"/>
              <a:gd fmla="val 67223" name="adj2"/>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Test Cases</a:t>
            </a:r>
            <a:endParaRPr b="0" i="0" sz="1400" u="none" cap="none" strike="noStrike">
              <a:solidFill>
                <a:srgbClr val="000000"/>
              </a:solidFill>
              <a:latin typeface="Arial"/>
              <a:ea typeface="Arial"/>
              <a:cs typeface="Arial"/>
              <a:sym typeface="Arial"/>
            </a:endParaRPr>
          </a:p>
        </p:txBody>
      </p:sp>
      <p:cxnSp>
        <p:nvCxnSpPr>
          <p:cNvPr id="260" name="Google Shape;260;p27"/>
          <p:cNvCxnSpPr>
            <a:stCxn id="259" idx="8"/>
            <a:endCxn id="251" idx="7"/>
          </p:cNvCxnSpPr>
          <p:nvPr/>
        </p:nvCxnSpPr>
        <p:spPr>
          <a:xfrm flipH="1">
            <a:off x="2025201" y="2655846"/>
            <a:ext cx="2420100" cy="367800"/>
          </a:xfrm>
          <a:prstGeom prst="straightConnector1">
            <a:avLst/>
          </a:prstGeom>
          <a:noFill/>
          <a:ln cap="flat" cmpd="sng" w="19050">
            <a:solidFill>
              <a:schemeClr val="dk1"/>
            </a:solidFill>
            <a:prstDash val="solid"/>
            <a:round/>
            <a:headEnd len="sm" w="sm" type="none"/>
            <a:tailEnd len="med" w="med" type="triangle"/>
          </a:ln>
        </p:spPr>
      </p:cxnSp>
      <p:cxnSp>
        <p:nvCxnSpPr>
          <p:cNvPr id="261" name="Google Shape;261;p27"/>
          <p:cNvCxnSpPr>
            <a:stCxn id="259" idx="8"/>
            <a:endCxn id="253" idx="1"/>
          </p:cNvCxnSpPr>
          <p:nvPr/>
        </p:nvCxnSpPr>
        <p:spPr>
          <a:xfrm>
            <a:off x="4445336" y="2655656"/>
            <a:ext cx="2748900" cy="781200"/>
          </a:xfrm>
          <a:prstGeom prst="straightConnector1">
            <a:avLst/>
          </a:prstGeom>
          <a:noFill/>
          <a:ln cap="flat" cmpd="sng" w="19050">
            <a:solidFill>
              <a:schemeClr val="dk1"/>
            </a:solidFill>
            <a:prstDash val="solid"/>
            <a:round/>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8"/>
          <p:cNvSpPr txBox="1"/>
          <p:nvPr>
            <p:ph type="title"/>
          </p:nvPr>
        </p:nvSpPr>
        <p:spPr>
          <a:xfrm>
            <a:off x="822960" y="286604"/>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Four parts to a test (AAA Pattern)</a:t>
            </a:r>
            <a:endParaRPr/>
          </a:p>
        </p:txBody>
      </p:sp>
      <p:sp>
        <p:nvSpPr>
          <p:cNvPr id="268" name="Google Shape;268;p2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69" name="Google Shape;269;p28"/>
          <p:cNvSpPr txBox="1"/>
          <p:nvPr>
            <p:ph idx="1" type="body"/>
          </p:nvPr>
        </p:nvSpPr>
        <p:spPr>
          <a:xfrm>
            <a:off x="800099" y="2086893"/>
            <a:ext cx="7543801" cy="4023360"/>
          </a:xfrm>
          <a:prstGeom prst="rect">
            <a:avLst/>
          </a:prstGeom>
          <a:noFill/>
          <a:ln>
            <a:noFill/>
          </a:ln>
        </p:spPr>
        <p:txBody>
          <a:bodyPr anchorCtr="0" anchor="t" bIns="45700" lIns="0" spcFirstLastPara="1" rIns="0" wrap="square" tIns="45700">
            <a:normAutofit/>
          </a:bodyPr>
          <a:lstStyle/>
          <a:p>
            <a:pPr indent="-457200" lvl="0" marL="457200" marR="0" rtl="0" algn="l">
              <a:lnSpc>
                <a:spcPct val="150000"/>
              </a:lnSpc>
              <a:spcBef>
                <a:spcPts val="0"/>
              </a:spcBef>
              <a:spcAft>
                <a:spcPts val="0"/>
              </a:spcAft>
              <a:buSzPts val="2000"/>
              <a:buFont typeface="Calibri"/>
              <a:buAutoNum type="arabicPeriod"/>
            </a:pPr>
            <a:r>
              <a:rPr lang="en-US"/>
              <a:t>Setup (Arrange)</a:t>
            </a:r>
            <a:endParaRPr/>
          </a:p>
          <a:p>
            <a:pPr indent="-457200" lvl="0" marL="457200" marR="0" rtl="0" algn="l">
              <a:lnSpc>
                <a:spcPct val="150000"/>
              </a:lnSpc>
              <a:spcBef>
                <a:spcPts val="1400"/>
              </a:spcBef>
              <a:spcAft>
                <a:spcPts val="0"/>
              </a:spcAft>
              <a:buSzPts val="2000"/>
              <a:buFont typeface="Calibri"/>
              <a:buAutoNum type="arabicPeriod"/>
            </a:pPr>
            <a:r>
              <a:rPr lang="en-US"/>
              <a:t>Invocation (Action)</a:t>
            </a:r>
            <a:endParaRPr/>
          </a:p>
          <a:p>
            <a:pPr indent="-457200" lvl="0" marL="457200" marR="0" rtl="0" algn="l">
              <a:lnSpc>
                <a:spcPct val="150000"/>
              </a:lnSpc>
              <a:spcBef>
                <a:spcPts val="1400"/>
              </a:spcBef>
              <a:spcAft>
                <a:spcPts val="0"/>
              </a:spcAft>
              <a:buSzPts val="2000"/>
              <a:buFont typeface="Calibri"/>
              <a:buAutoNum type="arabicPeriod"/>
            </a:pPr>
            <a:r>
              <a:rPr lang="en-US"/>
              <a:t>Assessment (Assertion)</a:t>
            </a:r>
            <a:endParaRPr/>
          </a:p>
          <a:p>
            <a:pPr indent="-457200" lvl="0" marL="457200" marR="0" rtl="0" algn="l">
              <a:lnSpc>
                <a:spcPct val="150000"/>
              </a:lnSpc>
              <a:spcBef>
                <a:spcPts val="1400"/>
              </a:spcBef>
              <a:spcAft>
                <a:spcPts val="0"/>
              </a:spcAft>
              <a:buSzPts val="2000"/>
              <a:buFont typeface="Calibri"/>
              <a:buAutoNum type="arabicPeriod"/>
            </a:pPr>
            <a:r>
              <a:rPr lang="en-US"/>
              <a:t>Teardown</a:t>
            </a:r>
            <a:endParaRPr/>
          </a:p>
          <a:p>
            <a:pPr indent="0" lvl="0" marL="0" marR="0" rtl="0" algn="l">
              <a:lnSpc>
                <a:spcPct val="150000"/>
              </a:lnSpc>
              <a:spcBef>
                <a:spcPts val="1400"/>
              </a:spcBef>
              <a:spcAft>
                <a:spcPts val="0"/>
              </a:spcAft>
              <a:buSzPts val="2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9"/>
          <p:cNvSpPr txBox="1"/>
          <p:nvPr>
            <p:ph type="title"/>
          </p:nvPr>
        </p:nvSpPr>
        <p:spPr>
          <a:xfrm>
            <a:off x="822960" y="286604"/>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What is Unit Testing?</a:t>
            </a:r>
            <a:endParaRPr/>
          </a:p>
        </p:txBody>
      </p:sp>
      <p:sp>
        <p:nvSpPr>
          <p:cNvPr id="276" name="Google Shape;276;p2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77" name="Google Shape;277;p29"/>
          <p:cNvSpPr txBox="1"/>
          <p:nvPr>
            <p:ph idx="1" type="body"/>
          </p:nvPr>
        </p:nvSpPr>
        <p:spPr>
          <a:xfrm>
            <a:off x="800099" y="2086893"/>
            <a:ext cx="4852021" cy="4023360"/>
          </a:xfrm>
          <a:prstGeom prst="rect">
            <a:avLst/>
          </a:prstGeom>
          <a:noFill/>
          <a:ln>
            <a:noFill/>
          </a:ln>
        </p:spPr>
        <p:txBody>
          <a:bodyPr anchorCtr="0" anchor="t" bIns="45700" lIns="0" spcFirstLastPara="1" rIns="0" wrap="square" tIns="45700">
            <a:normAutofit lnSpcReduction="10000"/>
          </a:bodyPr>
          <a:lstStyle/>
          <a:p>
            <a:pPr indent="0" lvl="0" marL="0" marR="5080" rtl="0" algn="l">
              <a:lnSpc>
                <a:spcPct val="114599"/>
              </a:lnSpc>
              <a:spcBef>
                <a:spcPts val="1775"/>
              </a:spcBef>
              <a:spcAft>
                <a:spcPts val="0"/>
              </a:spcAft>
              <a:buSzPts val="2000"/>
              <a:buNone/>
            </a:pPr>
            <a:r>
              <a:rPr b="1" lang="en-US"/>
              <a:t>Level of software testing that tests each individual unit of the software.</a:t>
            </a:r>
            <a:endParaRPr b="1"/>
          </a:p>
          <a:p>
            <a:pPr indent="-342900" lvl="0" marL="457200" marR="5080" rtl="0" algn="l">
              <a:lnSpc>
                <a:spcPct val="114599"/>
              </a:lnSpc>
              <a:spcBef>
                <a:spcPts val="1775"/>
              </a:spcBef>
              <a:spcAft>
                <a:spcPts val="0"/>
              </a:spcAft>
              <a:buSzPts val="1800"/>
              <a:buChar char=" "/>
            </a:pPr>
            <a:r>
              <a:rPr lang="en-US" u="sng"/>
              <a:t>Goal</a:t>
            </a:r>
            <a:r>
              <a:rPr lang="en-US"/>
              <a:t>: V</a:t>
            </a:r>
            <a:r>
              <a:rPr lang="en-US"/>
              <a:t>alidate whether each unit of  the software performs as designed.</a:t>
            </a:r>
            <a:endParaRPr/>
          </a:p>
          <a:p>
            <a:pPr indent="-342900" lvl="0" marL="457200" marR="5080" rtl="0" algn="l">
              <a:lnSpc>
                <a:spcPct val="114599"/>
              </a:lnSpc>
              <a:spcBef>
                <a:spcPts val="1775"/>
              </a:spcBef>
              <a:spcAft>
                <a:spcPts val="0"/>
              </a:spcAft>
              <a:buSzPts val="1800"/>
              <a:buChar char=" "/>
            </a:pPr>
            <a:r>
              <a:rPr lang="en-US" u="sng"/>
              <a:t>U</a:t>
            </a:r>
            <a:r>
              <a:rPr lang="en-US" u="sng"/>
              <a:t>nit</a:t>
            </a:r>
            <a:r>
              <a:rPr lang="en-US"/>
              <a:t>: Smallest testable part of any software.</a:t>
            </a:r>
            <a:endParaRPr sz="1400">
              <a:solidFill>
                <a:schemeClr val="dk1"/>
              </a:solidFill>
              <a:latin typeface="Arial"/>
              <a:ea typeface="Arial"/>
              <a:cs typeface="Arial"/>
              <a:sym typeface="Arial"/>
            </a:endParaRPr>
          </a:p>
          <a:p>
            <a:pPr indent="-342900" lvl="0" marL="457200" marR="5080" rtl="0" algn="l">
              <a:lnSpc>
                <a:spcPct val="114599"/>
              </a:lnSpc>
              <a:spcBef>
                <a:spcPts val="0"/>
              </a:spcBef>
              <a:spcAft>
                <a:spcPts val="0"/>
              </a:spcAft>
              <a:buSzPts val="1800"/>
              <a:buChar char=" "/>
            </a:pPr>
            <a:r>
              <a:t/>
            </a:r>
            <a:endParaRPr/>
          </a:p>
          <a:p>
            <a:pPr indent="0" lvl="0" marL="0" marR="5080" rtl="0" algn="l">
              <a:lnSpc>
                <a:spcPct val="114599"/>
              </a:lnSpc>
              <a:spcBef>
                <a:spcPts val="1775"/>
              </a:spcBef>
              <a:spcAft>
                <a:spcPts val="0"/>
              </a:spcAft>
              <a:buSzPts val="2000"/>
              <a:buNone/>
            </a:pPr>
            <a:r>
              <a:t/>
            </a:r>
            <a:endParaRPr/>
          </a:p>
          <a:p>
            <a:pPr indent="0" lvl="0" marL="0" marR="0" rtl="0" algn="l">
              <a:lnSpc>
                <a:spcPct val="150000"/>
              </a:lnSpc>
              <a:spcBef>
                <a:spcPts val="1400"/>
              </a:spcBef>
              <a:spcAft>
                <a:spcPts val="0"/>
              </a:spcAft>
              <a:buSzPts val="2000"/>
              <a:buNone/>
            </a:pPr>
            <a:r>
              <a:t/>
            </a:r>
            <a:endParaRPr/>
          </a:p>
        </p:txBody>
      </p:sp>
      <p:sp>
        <p:nvSpPr>
          <p:cNvPr id="278" name="Google Shape;278;p29"/>
          <p:cNvSpPr/>
          <p:nvPr/>
        </p:nvSpPr>
        <p:spPr>
          <a:xfrm>
            <a:off x="5958494" y="2406016"/>
            <a:ext cx="2933699" cy="271462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0"/>
          <p:cNvSpPr txBox="1"/>
          <p:nvPr>
            <p:ph type="title"/>
          </p:nvPr>
        </p:nvSpPr>
        <p:spPr>
          <a:xfrm>
            <a:off x="822960" y="286604"/>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Unit Testing with JUnit 5 </a:t>
            </a:r>
            <a:endParaRPr/>
          </a:p>
        </p:txBody>
      </p:sp>
      <p:sp>
        <p:nvSpPr>
          <p:cNvPr id="285" name="Google Shape;285;p3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86" name="Google Shape;286;p30"/>
          <p:cNvSpPr txBox="1"/>
          <p:nvPr>
            <p:ph idx="1" type="body"/>
          </p:nvPr>
        </p:nvSpPr>
        <p:spPr>
          <a:xfrm>
            <a:off x="800099" y="2086893"/>
            <a:ext cx="7543801" cy="402336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Junit is a unit testing framework for Java</a:t>
            </a:r>
            <a:endParaRPr/>
          </a:p>
          <a:p>
            <a:pPr indent="0" lvl="0" marL="0" rtl="0" algn="l">
              <a:lnSpc>
                <a:spcPct val="100000"/>
              </a:lnSpc>
              <a:spcBef>
                <a:spcPts val="2089"/>
              </a:spcBef>
              <a:spcAft>
                <a:spcPts val="0"/>
              </a:spcAft>
              <a:buSzPts val="2000"/>
              <a:buNone/>
            </a:pPr>
            <a:r>
              <a:rPr lang="en-US"/>
              <a:t>Allows you to write unit tests in Java using a simple interface</a:t>
            </a:r>
            <a:endParaRPr/>
          </a:p>
          <a:p>
            <a:pPr indent="0" lvl="0" marL="0" rtl="0" algn="l">
              <a:lnSpc>
                <a:spcPct val="100000"/>
              </a:lnSpc>
              <a:spcBef>
                <a:spcPts val="2089"/>
              </a:spcBef>
              <a:spcAft>
                <a:spcPts val="0"/>
              </a:spcAft>
              <a:buSzPts val="2000"/>
              <a:buNone/>
            </a:pPr>
            <a:r>
              <a:rPr lang="en-US"/>
              <a:t>Automated testing enables running and rerunning tests very easily and quickly</a:t>
            </a:r>
            <a:endParaRPr/>
          </a:p>
          <a:p>
            <a:pPr indent="0" lvl="0" marL="0" marR="0" rtl="0" algn="l">
              <a:lnSpc>
                <a:spcPct val="150000"/>
              </a:lnSpc>
              <a:spcBef>
                <a:spcPts val="1400"/>
              </a:spcBef>
              <a:spcAft>
                <a:spcPts val="0"/>
              </a:spcAft>
              <a:buSzPts val="2000"/>
              <a:buNone/>
            </a:pPr>
            <a:r>
              <a:t/>
            </a:r>
            <a:endParaRPr/>
          </a:p>
        </p:txBody>
      </p:sp>
      <p:pic>
        <p:nvPicPr>
          <p:cNvPr id="287" name="Google Shape;287;p30"/>
          <p:cNvPicPr preferRelativeResize="0"/>
          <p:nvPr/>
        </p:nvPicPr>
        <p:blipFill>
          <a:blip r:embed="rId3">
            <a:alphaModFix/>
          </a:blip>
          <a:stretch>
            <a:fillRect/>
          </a:stretch>
        </p:blipFill>
        <p:spPr>
          <a:xfrm>
            <a:off x="3780438" y="4173525"/>
            <a:ext cx="4756562" cy="1450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1"/>
          <p:cNvSpPr txBox="1"/>
          <p:nvPr>
            <p:ph type="title"/>
          </p:nvPr>
        </p:nvSpPr>
        <p:spPr>
          <a:xfrm>
            <a:off x="822960" y="286604"/>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Junit 5 - Asserts</a:t>
            </a:r>
            <a:endParaRPr/>
          </a:p>
        </p:txBody>
      </p:sp>
      <p:sp>
        <p:nvSpPr>
          <p:cNvPr id="294" name="Google Shape;294;p3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95" name="Google Shape;295;p31"/>
          <p:cNvSpPr txBox="1"/>
          <p:nvPr>
            <p:ph idx="1" type="body"/>
          </p:nvPr>
        </p:nvSpPr>
        <p:spPr>
          <a:xfrm>
            <a:off x="800099" y="2086893"/>
            <a:ext cx="7804349" cy="4023360"/>
          </a:xfrm>
          <a:prstGeom prst="rect">
            <a:avLst/>
          </a:prstGeom>
          <a:noFill/>
          <a:ln>
            <a:noFill/>
          </a:ln>
        </p:spPr>
        <p:txBody>
          <a:bodyPr anchorCtr="0" anchor="t" bIns="45700" lIns="0" spcFirstLastPara="1" rIns="0" wrap="square" tIns="45700">
            <a:noAutofit/>
          </a:bodyPr>
          <a:lstStyle/>
          <a:p>
            <a:pPr indent="0" lvl="0" marL="0" rtl="0" algn="l">
              <a:lnSpc>
                <a:spcPct val="100000"/>
              </a:lnSpc>
              <a:spcBef>
                <a:spcPts val="0"/>
              </a:spcBef>
              <a:spcAft>
                <a:spcPts val="0"/>
              </a:spcAft>
              <a:buSzPts val="1470"/>
              <a:buNone/>
            </a:pPr>
            <a:r>
              <a:rPr lang="en-US" sz="2070"/>
              <a:t>During a test use </a:t>
            </a:r>
            <a:r>
              <a:rPr b="1" lang="en-US" sz="2070"/>
              <a:t>Asserts</a:t>
            </a:r>
            <a:r>
              <a:rPr lang="en-US" sz="2070"/>
              <a:t> to specify if the </a:t>
            </a:r>
            <a:r>
              <a:rPr lang="en-US" sz="2070" u="sng"/>
              <a:t>test passed or failed.</a:t>
            </a:r>
            <a:endParaRPr u="sng"/>
          </a:p>
          <a:p>
            <a:pPr indent="0" lvl="0" marL="0" marR="170815" rtl="0" algn="l">
              <a:lnSpc>
                <a:spcPct val="187500"/>
              </a:lnSpc>
              <a:spcBef>
                <a:spcPts val="1400"/>
              </a:spcBef>
              <a:spcAft>
                <a:spcPts val="0"/>
              </a:spcAft>
              <a:buSzPts val="1470"/>
              <a:buNone/>
            </a:pPr>
            <a:r>
              <a:rPr lang="en-US" sz="2070" u="sng"/>
              <a:t>Assert Statement:</a:t>
            </a:r>
            <a:endParaRPr/>
          </a:p>
          <a:p>
            <a:pPr indent="0" lvl="1" marL="292608" marR="170815" rtl="0" algn="l">
              <a:lnSpc>
                <a:spcPct val="187500"/>
              </a:lnSpc>
              <a:spcBef>
                <a:spcPts val="400"/>
              </a:spcBef>
              <a:spcAft>
                <a:spcPts val="0"/>
              </a:spcAft>
              <a:buSzPts val="1470"/>
              <a:buNone/>
            </a:pPr>
            <a:r>
              <a:rPr lang="en-US" sz="2070"/>
              <a:t>- Used to check an expected result versus the actual result </a:t>
            </a:r>
            <a:endParaRPr sz="1860"/>
          </a:p>
          <a:p>
            <a:pPr indent="0" lvl="1" marL="292608" marR="170815" rtl="0" algn="l">
              <a:lnSpc>
                <a:spcPct val="187500"/>
              </a:lnSpc>
              <a:spcBef>
                <a:spcPts val="600"/>
              </a:spcBef>
              <a:spcAft>
                <a:spcPts val="0"/>
              </a:spcAft>
              <a:buSzPts val="1470"/>
              <a:buNone/>
            </a:pPr>
            <a:r>
              <a:rPr lang="en-US" sz="2070"/>
              <a:t>- Allows to define messages for when the test fails</a:t>
            </a:r>
            <a:endParaRPr sz="2000"/>
          </a:p>
          <a:p>
            <a:pPr indent="0" lvl="0" marL="0" marR="0" rtl="0" algn="l">
              <a:lnSpc>
                <a:spcPct val="150000"/>
              </a:lnSpc>
              <a:spcBef>
                <a:spcPts val="1400"/>
              </a:spcBef>
              <a:spcAft>
                <a:spcPts val="0"/>
              </a:spcAft>
              <a:buSzPts val="1400"/>
              <a:buNone/>
            </a:pPr>
            <a:r>
              <a:t/>
            </a:r>
            <a:endParaRPr/>
          </a:p>
          <a:p>
            <a:pPr indent="0" lvl="0" marL="0" marR="0" rtl="0" algn="l">
              <a:lnSpc>
                <a:spcPct val="150000"/>
              </a:lnSpc>
              <a:spcBef>
                <a:spcPts val="1400"/>
              </a:spcBef>
              <a:spcAft>
                <a:spcPts val="0"/>
              </a:spcAft>
              <a:buSzPts val="1400"/>
              <a:buNone/>
            </a:pPr>
            <a:r>
              <a:t/>
            </a:r>
            <a:endParaRPr/>
          </a:p>
        </p:txBody>
      </p:sp>
      <p:pic>
        <p:nvPicPr>
          <p:cNvPr id="296" name="Google Shape;296;p31"/>
          <p:cNvPicPr preferRelativeResize="0"/>
          <p:nvPr/>
        </p:nvPicPr>
        <p:blipFill rotWithShape="1">
          <a:blip r:embed="rId3">
            <a:alphaModFix/>
          </a:blip>
          <a:srcRect b="29306" l="5492" r="29970" t="51697"/>
          <a:stretch/>
        </p:blipFill>
        <p:spPr>
          <a:xfrm>
            <a:off x="822950" y="4886525"/>
            <a:ext cx="7318200" cy="493825"/>
          </a:xfrm>
          <a:prstGeom prst="rect">
            <a:avLst/>
          </a:prstGeom>
          <a:noFill/>
          <a:ln>
            <a:noFill/>
          </a:ln>
        </p:spPr>
      </p:pic>
      <p:sp>
        <p:nvSpPr>
          <p:cNvPr id="297" name="Google Shape;297;p31"/>
          <p:cNvSpPr txBox="1"/>
          <p:nvPr/>
        </p:nvSpPr>
        <p:spPr>
          <a:xfrm>
            <a:off x="1338650" y="5380350"/>
            <a:ext cx="68025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u="sng">
                <a:solidFill>
                  <a:srgbClr val="7F7F7F"/>
                </a:solidFill>
              </a:rPr>
              <a:t>https://junit.org/junit5/docs/5.0.1/api/org/junit/jupiter/api/Assertions.html</a:t>
            </a:r>
            <a:endParaRPr u="sng">
              <a:solidFill>
                <a:srgbClr val="7F7F7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2"/>
          <p:cNvSpPr txBox="1"/>
          <p:nvPr>
            <p:ph idx="1" type="body"/>
          </p:nvPr>
        </p:nvSpPr>
        <p:spPr>
          <a:xfrm>
            <a:off x="808050" y="1948673"/>
            <a:ext cx="7527900" cy="3894900"/>
          </a:xfrm>
          <a:prstGeom prst="rect">
            <a:avLst/>
          </a:prstGeom>
          <a:noFill/>
          <a:ln>
            <a:noFill/>
          </a:ln>
        </p:spPr>
        <p:txBody>
          <a:bodyPr anchorCtr="0" anchor="t" bIns="45700" lIns="0" spcFirstLastPara="1" rIns="0" wrap="square" tIns="45700">
            <a:normAutofit/>
          </a:bodyPr>
          <a:lstStyle/>
          <a:p>
            <a:pPr indent="-342900" lvl="0" marL="457200" rtl="0" algn="l">
              <a:lnSpc>
                <a:spcPct val="115000"/>
              </a:lnSpc>
              <a:spcBef>
                <a:spcPts val="1200"/>
              </a:spcBef>
              <a:spcAft>
                <a:spcPts val="0"/>
              </a:spcAft>
              <a:buSzPts val="1800"/>
              <a:buFont typeface="Courier New"/>
              <a:buChar char="o"/>
            </a:pPr>
            <a:r>
              <a:rPr b="1" lang="en-US"/>
              <a:t>assertEquals / assertNotEquals:</a:t>
            </a:r>
            <a:endParaRPr/>
          </a:p>
          <a:p>
            <a:pPr indent="342900" lvl="0" marL="114300" rtl="0" algn="l">
              <a:lnSpc>
                <a:spcPct val="115000"/>
              </a:lnSpc>
              <a:spcBef>
                <a:spcPts val="1200"/>
              </a:spcBef>
              <a:spcAft>
                <a:spcPts val="0"/>
              </a:spcAft>
              <a:buSzPts val="1800"/>
              <a:buNone/>
            </a:pPr>
            <a:r>
              <a:rPr lang="en-US"/>
              <a:t>Used to compare expected and actual values.</a:t>
            </a:r>
            <a:endParaRPr/>
          </a:p>
          <a:p>
            <a:pPr indent="-342900" lvl="0" marL="457200" rtl="0" algn="l">
              <a:lnSpc>
                <a:spcPct val="115000"/>
              </a:lnSpc>
              <a:spcBef>
                <a:spcPts val="1200"/>
              </a:spcBef>
              <a:spcAft>
                <a:spcPts val="0"/>
              </a:spcAft>
              <a:buSzPts val="1800"/>
              <a:buFont typeface="Courier New"/>
              <a:buChar char="o"/>
            </a:pPr>
            <a:r>
              <a:rPr b="1" lang="en-US"/>
              <a:t>assertTrue / assertFalse:</a:t>
            </a:r>
            <a:endParaRPr/>
          </a:p>
          <a:p>
            <a:pPr indent="342900" lvl="0" marL="114300" rtl="0" algn="l">
              <a:lnSpc>
                <a:spcPct val="115000"/>
              </a:lnSpc>
              <a:spcBef>
                <a:spcPts val="1200"/>
              </a:spcBef>
              <a:spcAft>
                <a:spcPts val="0"/>
              </a:spcAft>
              <a:buSzPts val="1800"/>
              <a:buNone/>
            </a:pPr>
            <a:r>
              <a:rPr lang="en-US"/>
              <a:t>Used to check if a given condition is true or false.</a:t>
            </a:r>
            <a:endParaRPr/>
          </a:p>
          <a:p>
            <a:pPr indent="-342900" lvl="0" marL="457200" rtl="0" algn="l">
              <a:lnSpc>
                <a:spcPct val="115000"/>
              </a:lnSpc>
              <a:spcBef>
                <a:spcPts val="1200"/>
              </a:spcBef>
              <a:spcAft>
                <a:spcPts val="0"/>
              </a:spcAft>
              <a:buSzPts val="1800"/>
              <a:buFont typeface="Courier New"/>
              <a:buChar char="o"/>
            </a:pPr>
            <a:r>
              <a:rPr b="1" lang="en-US"/>
              <a:t>assertNull / assertNotNull:</a:t>
            </a:r>
            <a:endParaRPr/>
          </a:p>
          <a:p>
            <a:pPr indent="342900" lvl="0" marL="114300" rtl="0" algn="l">
              <a:lnSpc>
                <a:spcPct val="115000"/>
              </a:lnSpc>
              <a:spcBef>
                <a:spcPts val="1200"/>
              </a:spcBef>
              <a:spcAft>
                <a:spcPts val="0"/>
              </a:spcAft>
              <a:buSzPts val="1800"/>
              <a:buNone/>
            </a:pPr>
            <a:r>
              <a:rPr lang="en-US"/>
              <a:t>Used to verify if a reference is null or not null.</a:t>
            </a:r>
            <a:endParaRPr/>
          </a:p>
        </p:txBody>
      </p:sp>
      <p:sp>
        <p:nvSpPr>
          <p:cNvPr id="303" name="Google Shape;303;p3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04" name="Google Shape;304;p32"/>
          <p:cNvSpPr txBox="1"/>
          <p:nvPr>
            <p:ph type="title"/>
          </p:nvPr>
        </p:nvSpPr>
        <p:spPr>
          <a:xfrm>
            <a:off x="822960" y="286604"/>
            <a:ext cx="83211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Common Asserts: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3"/>
          <p:cNvSpPr txBox="1"/>
          <p:nvPr>
            <p:ph type="title"/>
          </p:nvPr>
        </p:nvSpPr>
        <p:spPr>
          <a:xfrm>
            <a:off x="-280750" y="170000"/>
            <a:ext cx="9943200" cy="14508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a:t>Testing Convention - Test Method Name</a:t>
            </a:r>
            <a:endParaRPr/>
          </a:p>
        </p:txBody>
      </p:sp>
      <p:sp>
        <p:nvSpPr>
          <p:cNvPr id="311" name="Google Shape;311;p33"/>
          <p:cNvSpPr txBox="1"/>
          <p:nvPr>
            <p:ph idx="12" type="sldNum"/>
          </p:nvPr>
        </p:nvSpPr>
        <p:spPr>
          <a:xfrm>
            <a:off x="7425344" y="6459786"/>
            <a:ext cx="984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312" name="Google Shape;312;p33"/>
          <p:cNvSpPr txBox="1"/>
          <p:nvPr/>
        </p:nvSpPr>
        <p:spPr>
          <a:xfrm>
            <a:off x="822950" y="1899100"/>
            <a:ext cx="6694800" cy="5079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1400"/>
              </a:spcBef>
              <a:spcAft>
                <a:spcPts val="400"/>
              </a:spcAft>
              <a:buNone/>
            </a:pPr>
            <a:r>
              <a:rPr b="1" lang="en-US" sz="2100">
                <a:solidFill>
                  <a:schemeClr val="dk1"/>
                </a:solidFill>
                <a:latin typeface="Calibri"/>
                <a:ea typeface="Calibri"/>
                <a:cs typeface="Calibri"/>
                <a:sym typeface="Calibri"/>
              </a:rPr>
              <a:t>Format</a:t>
            </a:r>
            <a:r>
              <a:rPr lang="en-US" sz="2100">
                <a:solidFill>
                  <a:schemeClr val="dk1"/>
                </a:solidFill>
                <a:latin typeface="Calibri"/>
                <a:ea typeface="Calibri"/>
                <a:cs typeface="Calibri"/>
                <a:sym typeface="Calibri"/>
              </a:rPr>
              <a:t>: </a:t>
            </a:r>
            <a:r>
              <a:rPr i="1" lang="en-US" sz="2100">
                <a:solidFill>
                  <a:schemeClr val="dk1"/>
                </a:solidFill>
                <a:latin typeface="Calibri"/>
                <a:ea typeface="Calibri"/>
                <a:cs typeface="Calibri"/>
                <a:sym typeface="Calibri"/>
              </a:rPr>
              <a:t>Given&lt;Condition&gt;</a:t>
            </a:r>
            <a:r>
              <a:rPr i="1" lang="en-US" sz="2100">
                <a:solidFill>
                  <a:schemeClr val="dk1"/>
                </a:solidFill>
                <a:latin typeface="Calibri"/>
                <a:ea typeface="Calibri"/>
                <a:cs typeface="Calibri"/>
                <a:sym typeface="Calibri"/>
              </a:rPr>
              <a:t>_When&lt;Method&gt;_Then&lt;Result&gt;</a:t>
            </a:r>
            <a:endParaRPr i="1" sz="2100">
              <a:solidFill>
                <a:schemeClr val="dk1"/>
              </a:solidFill>
              <a:latin typeface="Calibri"/>
              <a:ea typeface="Calibri"/>
              <a:cs typeface="Calibri"/>
              <a:sym typeface="Calibri"/>
            </a:endParaRPr>
          </a:p>
        </p:txBody>
      </p:sp>
      <p:grpSp>
        <p:nvGrpSpPr>
          <p:cNvPr id="313" name="Google Shape;313;p33"/>
          <p:cNvGrpSpPr/>
          <p:nvPr/>
        </p:nvGrpSpPr>
        <p:grpSpPr>
          <a:xfrm>
            <a:off x="822950" y="2410813"/>
            <a:ext cx="7735800" cy="3523113"/>
            <a:chOff x="-1146225" y="711738"/>
            <a:chExt cx="7735800" cy="3523113"/>
          </a:xfrm>
        </p:grpSpPr>
        <p:sp>
          <p:nvSpPr>
            <p:cNvPr id="314" name="Google Shape;314;p33"/>
            <p:cNvSpPr txBox="1"/>
            <p:nvPr/>
          </p:nvSpPr>
          <p:spPr>
            <a:xfrm>
              <a:off x="-1146225" y="711738"/>
              <a:ext cx="7735800" cy="351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0"/>
                </a:spcAft>
                <a:buNone/>
              </a:pPr>
              <a:r>
                <a:rPr b="1" lang="en-US" sz="2100">
                  <a:solidFill>
                    <a:schemeClr val="dk1"/>
                  </a:solidFill>
                  <a:latin typeface="Calibri"/>
                  <a:ea typeface="Calibri"/>
                  <a:cs typeface="Calibri"/>
                  <a:sym typeface="Calibri"/>
                </a:rPr>
                <a:t>Example</a:t>
              </a:r>
              <a:r>
                <a:rPr b="1" i="1" lang="en-US" sz="2100">
                  <a:solidFill>
                    <a:schemeClr val="dk1"/>
                  </a:solidFill>
                  <a:latin typeface="Calibri"/>
                  <a:ea typeface="Calibri"/>
                  <a:cs typeface="Calibri"/>
                  <a:sym typeface="Calibri"/>
                </a:rPr>
                <a:t>: </a:t>
              </a:r>
              <a:r>
                <a:rPr i="1" lang="en-US" sz="2000">
                  <a:solidFill>
                    <a:schemeClr val="dk1"/>
                  </a:solidFill>
                  <a:highlight>
                    <a:srgbClr val="FFFFFF"/>
                  </a:highlight>
                  <a:latin typeface="Georgia"/>
                  <a:ea typeface="Georgia"/>
                  <a:cs typeface="Georgia"/>
                  <a:sym typeface="Georgia"/>
                </a:rPr>
                <a:t>GivenAgeLessThan18_WhenIsAdult_ThenReturnFalse</a:t>
              </a:r>
              <a:endParaRPr b="1" i="1" sz="2100">
                <a:solidFill>
                  <a:schemeClr val="dk1"/>
                </a:solidFill>
                <a:latin typeface="Calibri"/>
                <a:ea typeface="Calibri"/>
                <a:cs typeface="Calibri"/>
                <a:sym typeface="Calibri"/>
              </a:endParaRPr>
            </a:p>
            <a:p>
              <a:pPr indent="-228600" lvl="0" marL="914400" rtl="0" algn="l">
                <a:lnSpc>
                  <a:spcPct val="150000"/>
                </a:lnSpc>
                <a:spcBef>
                  <a:spcPts val="1500"/>
                </a:spcBef>
                <a:spcAft>
                  <a:spcPts val="0"/>
                </a:spcAft>
                <a:buClr>
                  <a:schemeClr val="dk1"/>
                </a:buClr>
                <a:buSzPts val="1800"/>
                <a:buFont typeface="Calibri"/>
                <a:buNone/>
              </a:pPr>
              <a:r>
                <a:rPr b="1" i="1" lang="en-US" sz="1800">
                  <a:solidFill>
                    <a:schemeClr val="dk1"/>
                  </a:solidFill>
                  <a:latin typeface="Calibri"/>
                  <a:ea typeface="Calibri"/>
                  <a:cs typeface="Calibri"/>
                  <a:sym typeface="Calibri"/>
                </a:rPr>
                <a:t>Given</a:t>
              </a:r>
              <a:r>
                <a:rPr lang="en-US" sz="1800">
                  <a:solidFill>
                    <a:schemeClr val="dk1"/>
                  </a:solidFill>
                  <a:latin typeface="Calibri"/>
                  <a:ea typeface="Calibri"/>
                  <a:cs typeface="Calibri"/>
                  <a:sym typeface="Calibri"/>
                </a:rPr>
                <a:t>: The specific condition or scenario under which the method is tested.</a:t>
              </a:r>
              <a:endParaRPr sz="1800">
                <a:solidFill>
                  <a:schemeClr val="dk1"/>
                </a:solidFill>
                <a:latin typeface="Calibri"/>
                <a:ea typeface="Calibri"/>
                <a:cs typeface="Calibri"/>
                <a:sym typeface="Calibri"/>
              </a:endParaRPr>
            </a:p>
            <a:p>
              <a:pPr indent="-304800" lvl="1" marL="1371600" rtl="0" algn="l">
                <a:lnSpc>
                  <a:spcPct val="150000"/>
                </a:lnSpc>
                <a:spcBef>
                  <a:spcPts val="0"/>
                </a:spcBef>
                <a:spcAft>
                  <a:spcPts val="0"/>
                </a:spcAft>
                <a:buClr>
                  <a:schemeClr val="dk1"/>
                </a:buClr>
                <a:buSzPts val="1200"/>
                <a:buFont typeface="Calibri"/>
                <a:buChar char="●"/>
              </a:pPr>
              <a:r>
                <a:rPr lang="en-US" sz="1800" u="sng">
                  <a:solidFill>
                    <a:schemeClr val="dk1"/>
                  </a:solidFill>
                  <a:latin typeface="Calibri"/>
                  <a:ea typeface="Calibri"/>
                  <a:cs typeface="Calibri"/>
                  <a:sym typeface="Calibri"/>
                </a:rPr>
                <a:t>Example</a:t>
              </a:r>
              <a:r>
                <a:rPr lang="en-US" sz="1800">
                  <a:solidFill>
                    <a:schemeClr val="dk1"/>
                  </a:solidFill>
                  <a:latin typeface="Calibri"/>
                  <a:ea typeface="Calibri"/>
                  <a:cs typeface="Calibri"/>
                  <a:sym typeface="Calibri"/>
                </a:rPr>
                <a:t>: </a:t>
              </a:r>
              <a:r>
                <a:rPr i="1" lang="en-US" sz="1800">
                  <a:solidFill>
                    <a:schemeClr val="dk1"/>
                  </a:solidFill>
                  <a:latin typeface="Calibri"/>
                  <a:ea typeface="Calibri"/>
                  <a:cs typeface="Calibri"/>
                  <a:sym typeface="Calibri"/>
                </a:rPr>
                <a:t>Given</a:t>
              </a:r>
              <a:r>
                <a:rPr b="1" i="1" lang="en-US" sz="1650" u="sng">
                  <a:solidFill>
                    <a:schemeClr val="dk1"/>
                  </a:solidFill>
                  <a:latin typeface="Calibri"/>
                  <a:ea typeface="Calibri"/>
                  <a:cs typeface="Calibri"/>
                  <a:sym typeface="Calibri"/>
                </a:rPr>
                <a:t>AgeLessThan18</a:t>
              </a:r>
              <a:endParaRPr b="1" i="1" sz="1650" u="sng">
                <a:solidFill>
                  <a:schemeClr val="dk1"/>
                </a:solidFill>
                <a:latin typeface="Calibri"/>
                <a:ea typeface="Calibri"/>
                <a:cs typeface="Calibri"/>
                <a:sym typeface="Calibri"/>
              </a:endParaRPr>
            </a:p>
            <a:p>
              <a:pPr indent="-228600" lvl="0" marL="914400" rtl="0" algn="l">
                <a:lnSpc>
                  <a:spcPct val="150000"/>
                </a:lnSpc>
                <a:spcBef>
                  <a:spcPts val="0"/>
                </a:spcBef>
                <a:spcAft>
                  <a:spcPts val="0"/>
                </a:spcAft>
                <a:buClr>
                  <a:schemeClr val="dk1"/>
                </a:buClr>
                <a:buSzPts val="1800"/>
                <a:buFont typeface="Calibri"/>
                <a:buNone/>
              </a:pPr>
              <a:r>
                <a:rPr b="1" i="1" lang="en-US" sz="1800">
                  <a:solidFill>
                    <a:schemeClr val="dk1"/>
                  </a:solidFill>
                  <a:latin typeface="Calibri"/>
                  <a:ea typeface="Calibri"/>
                  <a:cs typeface="Calibri"/>
                  <a:sym typeface="Calibri"/>
                </a:rPr>
                <a:t>When</a:t>
              </a:r>
              <a:r>
                <a:rPr lang="en-US" sz="1800">
                  <a:solidFill>
                    <a:schemeClr val="dk1"/>
                  </a:solidFill>
                  <a:latin typeface="Calibri"/>
                  <a:ea typeface="Calibri"/>
                  <a:cs typeface="Calibri"/>
                  <a:sym typeface="Calibri"/>
                </a:rPr>
                <a:t>: The name of the method being tested.</a:t>
              </a:r>
              <a:endParaRPr sz="1800">
                <a:solidFill>
                  <a:schemeClr val="dk1"/>
                </a:solidFill>
                <a:latin typeface="Calibri"/>
                <a:ea typeface="Calibri"/>
                <a:cs typeface="Calibri"/>
                <a:sym typeface="Calibri"/>
              </a:endParaRPr>
            </a:p>
            <a:p>
              <a:pPr indent="-304800" lvl="1" marL="1371600" rtl="0" algn="l">
                <a:lnSpc>
                  <a:spcPct val="150000"/>
                </a:lnSpc>
                <a:spcBef>
                  <a:spcPts val="0"/>
                </a:spcBef>
                <a:spcAft>
                  <a:spcPts val="0"/>
                </a:spcAft>
                <a:buClr>
                  <a:schemeClr val="dk1"/>
                </a:buClr>
                <a:buSzPts val="1200"/>
                <a:buFont typeface="Roboto"/>
                <a:buChar char="●"/>
              </a:pPr>
              <a:r>
                <a:rPr lang="en-US" sz="1800" u="sng">
                  <a:solidFill>
                    <a:schemeClr val="dk1"/>
                  </a:solidFill>
                  <a:latin typeface="Calibri"/>
                  <a:ea typeface="Calibri"/>
                  <a:cs typeface="Calibri"/>
                  <a:sym typeface="Calibri"/>
                </a:rPr>
                <a:t>Example</a:t>
              </a:r>
              <a:r>
                <a:rPr lang="en-US" sz="1800">
                  <a:solidFill>
                    <a:schemeClr val="dk1"/>
                  </a:solidFill>
                  <a:latin typeface="Calibri"/>
                  <a:ea typeface="Calibri"/>
                  <a:cs typeface="Calibri"/>
                  <a:sym typeface="Calibri"/>
                </a:rPr>
                <a:t>: </a:t>
              </a:r>
              <a:r>
                <a:rPr i="1" lang="en-US" sz="1800">
                  <a:solidFill>
                    <a:schemeClr val="dk1"/>
                  </a:solidFill>
                  <a:latin typeface="Calibri"/>
                  <a:ea typeface="Calibri"/>
                  <a:cs typeface="Calibri"/>
                  <a:sym typeface="Calibri"/>
                </a:rPr>
                <a:t>When</a:t>
              </a:r>
              <a:r>
                <a:rPr b="1" i="1" lang="en-US" sz="1650" u="sng">
                  <a:solidFill>
                    <a:schemeClr val="dk1"/>
                  </a:solidFill>
                  <a:latin typeface="Calibri"/>
                  <a:ea typeface="Calibri"/>
                  <a:cs typeface="Calibri"/>
                  <a:sym typeface="Calibri"/>
                </a:rPr>
                <a:t>IsAdult</a:t>
              </a:r>
              <a:endParaRPr b="1" i="1" sz="1650" u="sng">
                <a:solidFill>
                  <a:schemeClr val="dk1"/>
                </a:solidFill>
                <a:latin typeface="Calibri"/>
                <a:ea typeface="Calibri"/>
                <a:cs typeface="Calibri"/>
                <a:sym typeface="Calibri"/>
              </a:endParaRPr>
            </a:p>
            <a:p>
              <a:pPr indent="-228600" lvl="0" marL="914400" rtl="0" algn="l">
                <a:lnSpc>
                  <a:spcPct val="150000"/>
                </a:lnSpc>
                <a:spcBef>
                  <a:spcPts val="0"/>
                </a:spcBef>
                <a:spcAft>
                  <a:spcPts val="0"/>
                </a:spcAft>
                <a:buClr>
                  <a:schemeClr val="dk1"/>
                </a:buClr>
                <a:buSzPts val="1800"/>
                <a:buFont typeface="Calibri"/>
                <a:buNone/>
              </a:pPr>
              <a:r>
                <a:rPr b="1" i="1" lang="en-US" sz="1800">
                  <a:solidFill>
                    <a:schemeClr val="dk1"/>
                  </a:solidFill>
                  <a:latin typeface="Calibri"/>
                  <a:ea typeface="Calibri"/>
                  <a:cs typeface="Calibri"/>
                  <a:sym typeface="Calibri"/>
                </a:rPr>
                <a:t>Then</a:t>
              </a:r>
              <a:r>
                <a:rPr lang="en-US" sz="1800">
                  <a:solidFill>
                    <a:schemeClr val="dk1"/>
                  </a:solidFill>
                  <a:latin typeface="Calibri"/>
                  <a:ea typeface="Calibri"/>
                  <a:cs typeface="Calibri"/>
                  <a:sym typeface="Calibri"/>
                </a:rPr>
                <a:t>: The expected result or outcome of the test.</a:t>
              </a:r>
              <a:endParaRPr sz="1800">
                <a:solidFill>
                  <a:schemeClr val="dk1"/>
                </a:solidFill>
                <a:latin typeface="Calibri"/>
                <a:ea typeface="Calibri"/>
                <a:cs typeface="Calibri"/>
                <a:sym typeface="Calibri"/>
              </a:endParaRPr>
            </a:p>
            <a:p>
              <a:pPr indent="-304800" lvl="1" marL="1371600" rtl="0" algn="l">
                <a:lnSpc>
                  <a:spcPct val="150000"/>
                </a:lnSpc>
                <a:spcBef>
                  <a:spcPts val="0"/>
                </a:spcBef>
                <a:spcAft>
                  <a:spcPts val="0"/>
                </a:spcAft>
                <a:buClr>
                  <a:schemeClr val="dk1"/>
                </a:buClr>
                <a:buSzPts val="1200"/>
                <a:buFont typeface="Roboto"/>
                <a:buChar char="●"/>
              </a:pPr>
              <a:r>
                <a:rPr lang="en-US" sz="1800" u="sng">
                  <a:solidFill>
                    <a:schemeClr val="dk1"/>
                  </a:solidFill>
                  <a:latin typeface="Calibri"/>
                  <a:ea typeface="Calibri"/>
                  <a:cs typeface="Calibri"/>
                  <a:sym typeface="Calibri"/>
                </a:rPr>
                <a:t>Example</a:t>
              </a:r>
              <a:r>
                <a:rPr lang="en-US" sz="1800">
                  <a:solidFill>
                    <a:schemeClr val="dk1"/>
                  </a:solidFill>
                  <a:latin typeface="Calibri"/>
                  <a:ea typeface="Calibri"/>
                  <a:cs typeface="Calibri"/>
                  <a:sym typeface="Calibri"/>
                </a:rPr>
                <a:t>: </a:t>
              </a:r>
              <a:r>
                <a:rPr i="1" lang="en-US" sz="1800">
                  <a:solidFill>
                    <a:schemeClr val="dk1"/>
                  </a:solidFill>
                  <a:latin typeface="Calibri"/>
                  <a:ea typeface="Calibri"/>
                  <a:cs typeface="Calibri"/>
                  <a:sym typeface="Calibri"/>
                </a:rPr>
                <a:t>Then</a:t>
              </a:r>
              <a:r>
                <a:rPr b="1" i="1" lang="en-US" sz="1650" u="sng">
                  <a:solidFill>
                    <a:schemeClr val="dk1"/>
                  </a:solidFill>
                  <a:latin typeface="Calibri"/>
                  <a:ea typeface="Calibri"/>
                  <a:cs typeface="Calibri"/>
                  <a:sym typeface="Calibri"/>
                </a:rPr>
                <a:t>ReturnFalse</a:t>
              </a:r>
              <a:r>
                <a:rPr i="1" lang="en-US" sz="1650">
                  <a:solidFill>
                    <a:schemeClr val="dk1"/>
                  </a:solidFill>
                  <a:latin typeface="Calibri"/>
                  <a:ea typeface="Calibri"/>
                  <a:cs typeface="Calibri"/>
                  <a:sym typeface="Calibri"/>
                </a:rPr>
                <a:t> / Then</a:t>
              </a:r>
              <a:r>
                <a:rPr b="1" i="1" lang="en-US" sz="1650" u="sng">
                  <a:solidFill>
                    <a:schemeClr val="dk1"/>
                  </a:solidFill>
                  <a:latin typeface="Calibri"/>
                  <a:ea typeface="Calibri"/>
                  <a:cs typeface="Calibri"/>
                  <a:sym typeface="Calibri"/>
                </a:rPr>
                <a:t>Fail</a:t>
              </a:r>
              <a:endParaRPr b="1" i="1" sz="1650">
                <a:solidFill>
                  <a:schemeClr val="dk1"/>
                </a:solidFill>
                <a:latin typeface="Calibri"/>
                <a:ea typeface="Calibri"/>
                <a:cs typeface="Calibri"/>
                <a:sym typeface="Calibri"/>
              </a:endParaRPr>
            </a:p>
          </p:txBody>
        </p:sp>
        <p:cxnSp>
          <p:nvCxnSpPr>
            <p:cNvPr id="315" name="Google Shape;315;p33"/>
            <p:cNvCxnSpPr/>
            <p:nvPr/>
          </p:nvCxnSpPr>
          <p:spPr>
            <a:xfrm flipH="1">
              <a:off x="-424625" y="1412450"/>
              <a:ext cx="12900" cy="2822400"/>
            </a:xfrm>
            <a:prstGeom prst="straightConnector1">
              <a:avLst/>
            </a:prstGeom>
            <a:noFill/>
            <a:ln cap="flat" cmpd="sng" w="38100">
              <a:solidFill>
                <a:schemeClr val="dk1"/>
              </a:solidFill>
              <a:prstDash val="solid"/>
              <a:round/>
              <a:headEnd len="med" w="med" type="none"/>
              <a:tailEnd len="med" w="med" type="none"/>
            </a:ln>
          </p:spPr>
        </p:cxnSp>
      </p:grpSp>
      <p:sp>
        <p:nvSpPr>
          <p:cNvPr id="316" name="Google Shape;316;p33"/>
          <p:cNvSpPr txBox="1"/>
          <p:nvPr/>
        </p:nvSpPr>
        <p:spPr>
          <a:xfrm>
            <a:off x="4873275" y="5937750"/>
            <a:ext cx="3773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100" u="sng">
                <a:solidFill>
                  <a:schemeClr val="hlink"/>
                </a:solidFill>
                <a:hlinkClick r:id="rId3"/>
              </a:rPr>
              <a:t>https://www.baeldung.com/java-unit-testing-best-practices</a:t>
            </a:r>
            <a:endParaRPr i="1"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4"/>
          <p:cNvSpPr txBox="1"/>
          <p:nvPr>
            <p:ph type="title"/>
          </p:nvPr>
        </p:nvSpPr>
        <p:spPr>
          <a:xfrm>
            <a:off x="822960" y="286604"/>
            <a:ext cx="75438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Demo - Junit5</a:t>
            </a:r>
            <a:endParaRPr/>
          </a:p>
        </p:txBody>
      </p:sp>
      <p:sp>
        <p:nvSpPr>
          <p:cNvPr id="323" name="Google Shape;323;p34"/>
          <p:cNvSpPr txBox="1"/>
          <p:nvPr>
            <p:ph idx="12" type="sldNum"/>
          </p:nvPr>
        </p:nvSpPr>
        <p:spPr>
          <a:xfrm>
            <a:off x="7425344" y="6459786"/>
            <a:ext cx="984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324" name="Google Shape;324;p34"/>
          <p:cNvSpPr/>
          <p:nvPr/>
        </p:nvSpPr>
        <p:spPr>
          <a:xfrm>
            <a:off x="5612025" y="1969375"/>
            <a:ext cx="1969500" cy="77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nvGrpSpPr>
          <p:cNvPr id="325" name="Google Shape;325;p34"/>
          <p:cNvGrpSpPr/>
          <p:nvPr/>
        </p:nvGrpSpPr>
        <p:grpSpPr>
          <a:xfrm>
            <a:off x="1556413" y="2044850"/>
            <a:ext cx="6536338" cy="3959550"/>
            <a:chOff x="1556413" y="2044850"/>
            <a:chExt cx="6536338" cy="3959550"/>
          </a:xfrm>
        </p:grpSpPr>
        <p:pic>
          <p:nvPicPr>
            <p:cNvPr id="326" name="Google Shape;326;p34"/>
            <p:cNvPicPr preferRelativeResize="0"/>
            <p:nvPr/>
          </p:nvPicPr>
          <p:blipFill>
            <a:blip r:embed="rId3">
              <a:alphaModFix/>
            </a:blip>
            <a:stretch>
              <a:fillRect/>
            </a:stretch>
          </p:blipFill>
          <p:spPr>
            <a:xfrm>
              <a:off x="1556413" y="2192775"/>
              <a:ext cx="6031171" cy="3811625"/>
            </a:xfrm>
            <a:prstGeom prst="rect">
              <a:avLst/>
            </a:prstGeom>
            <a:noFill/>
            <a:ln>
              <a:noFill/>
            </a:ln>
          </p:spPr>
        </p:pic>
        <p:sp>
          <p:nvSpPr>
            <p:cNvPr id="327" name="Google Shape;327;p34"/>
            <p:cNvSpPr/>
            <p:nvPr/>
          </p:nvSpPr>
          <p:spPr>
            <a:xfrm>
              <a:off x="6211750" y="2044850"/>
              <a:ext cx="1881000" cy="8391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5"/>
          <p:cNvSpPr txBox="1"/>
          <p:nvPr>
            <p:ph type="title"/>
          </p:nvPr>
        </p:nvSpPr>
        <p:spPr>
          <a:xfrm>
            <a:off x="619532" y="163759"/>
            <a:ext cx="7904936"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JUnit5 - Annotations</a:t>
            </a:r>
            <a:endParaRPr/>
          </a:p>
        </p:txBody>
      </p:sp>
      <p:sp>
        <p:nvSpPr>
          <p:cNvPr id="334" name="Google Shape;334;p3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graphicFrame>
        <p:nvGraphicFramePr>
          <p:cNvPr id="335" name="Google Shape;335;p35"/>
          <p:cNvGraphicFramePr/>
          <p:nvPr/>
        </p:nvGraphicFramePr>
        <p:xfrm>
          <a:off x="619526" y="1736632"/>
          <a:ext cx="3000000" cy="3000000"/>
        </p:xfrm>
        <a:graphic>
          <a:graphicData uri="http://schemas.openxmlformats.org/drawingml/2006/table">
            <a:tbl>
              <a:tblPr bandRow="1">
                <a:noFill/>
                <a:tableStyleId>{96B573EC-A6EE-449D-B763-EF58181E34BA}</a:tableStyleId>
              </a:tblPr>
              <a:tblGrid>
                <a:gridCol w="2092850"/>
                <a:gridCol w="5904650"/>
              </a:tblGrid>
              <a:tr h="391250">
                <a:tc>
                  <a:txBody>
                    <a:bodyPr/>
                    <a:lstStyle/>
                    <a:p>
                      <a:pPr indent="0" lvl="0" marL="85725" marR="0" rtl="0" algn="l">
                        <a:lnSpc>
                          <a:spcPct val="100000"/>
                        </a:lnSpc>
                        <a:spcBef>
                          <a:spcPts val="0"/>
                        </a:spcBef>
                        <a:spcAft>
                          <a:spcPts val="0"/>
                        </a:spcAft>
                        <a:buClr>
                          <a:srgbClr val="000000"/>
                        </a:buClr>
                        <a:buSzPts val="1600"/>
                        <a:buFont typeface="Arial"/>
                        <a:buNone/>
                      </a:pPr>
                      <a:r>
                        <a:rPr lang="en-US" sz="1600" u="none" cap="none" strike="noStrike">
                          <a:solidFill>
                            <a:srgbClr val="000000"/>
                          </a:solidFill>
                        </a:rPr>
                        <a:t>@Test</a:t>
                      </a:r>
                      <a:endParaRPr sz="1600" u="none" cap="none" strike="noStrike">
                        <a:solidFill>
                          <a:srgbClr val="000000"/>
                        </a:solidFill>
                        <a:latin typeface="Calibri"/>
                        <a:ea typeface="Calibri"/>
                        <a:cs typeface="Calibri"/>
                        <a:sym typeface="Calibri"/>
                      </a:endParaRPr>
                    </a:p>
                  </a:txBody>
                  <a:tcPr marT="78100" marB="0" marR="0" marL="0"/>
                </a:tc>
                <a:tc>
                  <a:txBody>
                    <a:bodyPr/>
                    <a:lstStyle/>
                    <a:p>
                      <a:pPr indent="0" lvl="0" marL="85090" marR="0" rtl="0" algn="l">
                        <a:lnSpc>
                          <a:spcPct val="100000"/>
                        </a:lnSpc>
                        <a:spcBef>
                          <a:spcPts val="0"/>
                        </a:spcBef>
                        <a:spcAft>
                          <a:spcPts val="0"/>
                        </a:spcAft>
                        <a:buClr>
                          <a:srgbClr val="000000"/>
                        </a:buClr>
                        <a:buSzPts val="1600"/>
                        <a:buFont typeface="Arial"/>
                        <a:buNone/>
                      </a:pPr>
                      <a:r>
                        <a:rPr lang="en-US" sz="1600" u="none" cap="none" strike="noStrike">
                          <a:solidFill>
                            <a:srgbClr val="000000"/>
                          </a:solidFill>
                        </a:rPr>
                        <a:t>Denotes that a method is a test method.</a:t>
                      </a:r>
                      <a:endParaRPr sz="1600" u="none" cap="none" strike="noStrike">
                        <a:solidFill>
                          <a:srgbClr val="000000"/>
                        </a:solidFill>
                        <a:latin typeface="Calibri"/>
                        <a:ea typeface="Calibri"/>
                        <a:cs typeface="Calibri"/>
                        <a:sym typeface="Calibri"/>
                      </a:endParaRPr>
                    </a:p>
                  </a:txBody>
                  <a:tcPr marT="78100" marB="0" marR="0" marL="0"/>
                </a:tc>
              </a:tr>
              <a:tr h="600200">
                <a:tc>
                  <a:txBody>
                    <a:bodyPr/>
                    <a:lstStyle/>
                    <a:p>
                      <a:pPr indent="0" lvl="0" marL="85725" marR="0" rtl="0" algn="l">
                        <a:lnSpc>
                          <a:spcPct val="100000"/>
                        </a:lnSpc>
                        <a:spcBef>
                          <a:spcPts val="0"/>
                        </a:spcBef>
                        <a:spcAft>
                          <a:spcPts val="0"/>
                        </a:spcAft>
                        <a:buClr>
                          <a:srgbClr val="000000"/>
                        </a:buClr>
                        <a:buSzPts val="1600"/>
                        <a:buFont typeface="Arial"/>
                        <a:buNone/>
                      </a:pPr>
                      <a:r>
                        <a:rPr lang="en-US" sz="1600" u="none" cap="none" strike="noStrike">
                          <a:solidFill>
                            <a:srgbClr val="000000"/>
                          </a:solidFill>
                        </a:rPr>
                        <a:t>@BeforeEach</a:t>
                      </a:r>
                      <a:endParaRPr sz="1600" u="none" cap="none" strike="noStrike">
                        <a:solidFill>
                          <a:srgbClr val="000000"/>
                        </a:solidFill>
                        <a:latin typeface="Calibri"/>
                        <a:ea typeface="Calibri"/>
                        <a:cs typeface="Calibri"/>
                        <a:sym typeface="Calibri"/>
                      </a:endParaRPr>
                    </a:p>
                  </a:txBody>
                  <a:tcPr marT="78100" marB="0" marR="0" marL="0"/>
                </a:tc>
                <a:tc>
                  <a:txBody>
                    <a:bodyPr/>
                    <a:lstStyle/>
                    <a:p>
                      <a:pPr indent="0" lvl="0" marL="85090" marR="816610" rtl="0" algn="l">
                        <a:lnSpc>
                          <a:spcPct val="103125"/>
                        </a:lnSpc>
                        <a:spcBef>
                          <a:spcPts val="0"/>
                        </a:spcBef>
                        <a:spcAft>
                          <a:spcPts val="0"/>
                        </a:spcAft>
                        <a:buClr>
                          <a:srgbClr val="000000"/>
                        </a:buClr>
                        <a:buSzPts val="1600"/>
                        <a:buFont typeface="Arial"/>
                        <a:buNone/>
                      </a:pPr>
                      <a:r>
                        <a:rPr lang="en-US" sz="1600" u="none" cap="none" strike="noStrike">
                          <a:solidFill>
                            <a:srgbClr val="000000"/>
                          </a:solidFill>
                        </a:rPr>
                        <a:t>Denotes that the annotated method should be executed before each test method in the current class</a:t>
                      </a:r>
                      <a:endParaRPr sz="1600" u="none" cap="none" strike="noStrike">
                        <a:solidFill>
                          <a:srgbClr val="000000"/>
                        </a:solidFill>
                        <a:latin typeface="Calibri"/>
                        <a:ea typeface="Calibri"/>
                        <a:cs typeface="Calibri"/>
                        <a:sym typeface="Calibri"/>
                      </a:endParaRPr>
                    </a:p>
                  </a:txBody>
                  <a:tcPr marT="88275" marB="0" marR="0" marL="0"/>
                </a:tc>
              </a:tr>
              <a:tr h="626250">
                <a:tc>
                  <a:txBody>
                    <a:bodyPr/>
                    <a:lstStyle/>
                    <a:p>
                      <a:pPr indent="0" lvl="0" marL="85725" marR="0" rtl="0" algn="l">
                        <a:lnSpc>
                          <a:spcPct val="100000"/>
                        </a:lnSpc>
                        <a:spcBef>
                          <a:spcPts val="0"/>
                        </a:spcBef>
                        <a:spcAft>
                          <a:spcPts val="0"/>
                        </a:spcAft>
                        <a:buClr>
                          <a:srgbClr val="000000"/>
                        </a:buClr>
                        <a:buSzPts val="1600"/>
                        <a:buFont typeface="Arial"/>
                        <a:buNone/>
                      </a:pPr>
                      <a:r>
                        <a:rPr lang="en-US" sz="1600" u="none" cap="none" strike="noStrike">
                          <a:solidFill>
                            <a:srgbClr val="000000"/>
                          </a:solidFill>
                        </a:rPr>
                        <a:t>@AfterEach</a:t>
                      </a:r>
                      <a:endParaRPr sz="1600" u="none" cap="none" strike="noStrike">
                        <a:solidFill>
                          <a:srgbClr val="000000"/>
                        </a:solidFill>
                        <a:latin typeface="Calibri"/>
                        <a:ea typeface="Calibri"/>
                        <a:cs typeface="Calibri"/>
                        <a:sym typeface="Calibri"/>
                      </a:endParaRPr>
                    </a:p>
                  </a:txBody>
                  <a:tcPr marT="78750" marB="0" marR="0" marL="0"/>
                </a:tc>
                <a:tc>
                  <a:txBody>
                    <a:bodyPr/>
                    <a:lstStyle/>
                    <a:p>
                      <a:pPr indent="0" lvl="0" marL="85090" marR="387985" rtl="0" algn="l">
                        <a:lnSpc>
                          <a:spcPct val="103125"/>
                        </a:lnSpc>
                        <a:spcBef>
                          <a:spcPts val="0"/>
                        </a:spcBef>
                        <a:spcAft>
                          <a:spcPts val="0"/>
                        </a:spcAft>
                        <a:buClr>
                          <a:srgbClr val="000000"/>
                        </a:buClr>
                        <a:buSzPts val="1600"/>
                        <a:buFont typeface="Arial"/>
                        <a:buNone/>
                      </a:pPr>
                      <a:r>
                        <a:rPr lang="en-US" sz="1600" u="none" cap="none" strike="noStrike">
                          <a:solidFill>
                            <a:srgbClr val="000000"/>
                          </a:solidFill>
                        </a:rPr>
                        <a:t>Denotes that the annotated method should be executed after each test method in the current class.</a:t>
                      </a:r>
                      <a:endParaRPr sz="1600" u="none" cap="none" strike="noStrike">
                        <a:solidFill>
                          <a:srgbClr val="000000"/>
                        </a:solidFill>
                        <a:latin typeface="Calibri"/>
                        <a:ea typeface="Calibri"/>
                        <a:cs typeface="Calibri"/>
                        <a:sym typeface="Calibri"/>
                      </a:endParaRPr>
                    </a:p>
                  </a:txBody>
                  <a:tcPr marT="88900" marB="0" marR="0" marL="0"/>
                </a:tc>
              </a:tr>
              <a:tr h="600200">
                <a:tc>
                  <a:txBody>
                    <a:bodyPr/>
                    <a:lstStyle/>
                    <a:p>
                      <a:pPr indent="0" lvl="0" marL="85725" marR="0" rtl="0" algn="l">
                        <a:lnSpc>
                          <a:spcPct val="100000"/>
                        </a:lnSpc>
                        <a:spcBef>
                          <a:spcPts val="0"/>
                        </a:spcBef>
                        <a:spcAft>
                          <a:spcPts val="0"/>
                        </a:spcAft>
                        <a:buClr>
                          <a:srgbClr val="000000"/>
                        </a:buClr>
                        <a:buSzPts val="1600"/>
                        <a:buFont typeface="Arial"/>
                        <a:buNone/>
                      </a:pPr>
                      <a:r>
                        <a:rPr lang="en-US" sz="1600" u="none" cap="none" strike="noStrike">
                          <a:solidFill>
                            <a:srgbClr val="000000"/>
                          </a:solidFill>
                        </a:rPr>
                        <a:t>@BeforeAll</a:t>
                      </a:r>
                      <a:endParaRPr sz="1600" u="none" cap="none" strike="noStrike">
                        <a:solidFill>
                          <a:srgbClr val="000000"/>
                        </a:solidFill>
                        <a:latin typeface="Calibri"/>
                        <a:ea typeface="Calibri"/>
                        <a:cs typeface="Calibri"/>
                        <a:sym typeface="Calibri"/>
                      </a:endParaRPr>
                    </a:p>
                  </a:txBody>
                  <a:tcPr marT="78100" marB="0" marR="0" marL="0"/>
                </a:tc>
                <a:tc>
                  <a:txBody>
                    <a:bodyPr/>
                    <a:lstStyle/>
                    <a:p>
                      <a:pPr indent="0" lvl="0" marL="85090" marR="194310" rtl="0" algn="l">
                        <a:lnSpc>
                          <a:spcPct val="103125"/>
                        </a:lnSpc>
                        <a:spcBef>
                          <a:spcPts val="0"/>
                        </a:spcBef>
                        <a:spcAft>
                          <a:spcPts val="0"/>
                        </a:spcAft>
                        <a:buClr>
                          <a:srgbClr val="000000"/>
                        </a:buClr>
                        <a:buSzPts val="1600"/>
                        <a:buFont typeface="Arial"/>
                        <a:buNone/>
                      </a:pPr>
                      <a:r>
                        <a:rPr lang="en-US" sz="1600" u="none" cap="none" strike="noStrike">
                          <a:solidFill>
                            <a:srgbClr val="000000"/>
                          </a:solidFill>
                        </a:rPr>
                        <a:t>Executed once, before the start of all tests. It is used to perform  time intensive activities, for example, to connect to a database.</a:t>
                      </a:r>
                      <a:endParaRPr sz="1600" u="none" cap="none" strike="noStrike">
                        <a:solidFill>
                          <a:srgbClr val="000000"/>
                        </a:solidFill>
                        <a:latin typeface="Calibri"/>
                        <a:ea typeface="Calibri"/>
                        <a:cs typeface="Calibri"/>
                        <a:sym typeface="Calibri"/>
                      </a:endParaRPr>
                    </a:p>
                  </a:txBody>
                  <a:tcPr marT="88275" marB="0" marR="0" marL="0"/>
                </a:tc>
              </a:tr>
              <a:tr h="814325">
                <a:tc>
                  <a:txBody>
                    <a:bodyPr/>
                    <a:lstStyle/>
                    <a:p>
                      <a:pPr indent="0" lvl="0" marL="85725" marR="0" rtl="0" algn="l">
                        <a:lnSpc>
                          <a:spcPct val="100000"/>
                        </a:lnSpc>
                        <a:spcBef>
                          <a:spcPts val="0"/>
                        </a:spcBef>
                        <a:spcAft>
                          <a:spcPts val="0"/>
                        </a:spcAft>
                        <a:buClr>
                          <a:srgbClr val="000000"/>
                        </a:buClr>
                        <a:buSzPts val="1600"/>
                        <a:buFont typeface="Arial"/>
                        <a:buNone/>
                      </a:pPr>
                      <a:r>
                        <a:rPr lang="en-US" sz="1600" u="none" cap="none" strike="noStrike">
                          <a:solidFill>
                            <a:srgbClr val="000000"/>
                          </a:solidFill>
                        </a:rPr>
                        <a:t>@AfterAll</a:t>
                      </a:r>
                      <a:endParaRPr sz="1600" u="none" cap="none" strike="noStrike">
                        <a:solidFill>
                          <a:srgbClr val="000000"/>
                        </a:solidFill>
                        <a:latin typeface="Calibri"/>
                        <a:ea typeface="Calibri"/>
                        <a:cs typeface="Calibri"/>
                        <a:sym typeface="Calibri"/>
                      </a:endParaRPr>
                    </a:p>
                  </a:txBody>
                  <a:tcPr marT="78750" marB="0" marR="0" marL="0"/>
                </a:tc>
                <a:tc>
                  <a:txBody>
                    <a:bodyPr/>
                    <a:lstStyle/>
                    <a:p>
                      <a:pPr indent="0" lvl="0" marL="85090" marR="353060" rtl="0" algn="just">
                        <a:lnSpc>
                          <a:spcPct val="103125"/>
                        </a:lnSpc>
                        <a:spcBef>
                          <a:spcPts val="0"/>
                        </a:spcBef>
                        <a:spcAft>
                          <a:spcPts val="0"/>
                        </a:spcAft>
                        <a:buClr>
                          <a:srgbClr val="000000"/>
                        </a:buClr>
                        <a:buSzPts val="1600"/>
                        <a:buFont typeface="Arial"/>
                        <a:buNone/>
                      </a:pPr>
                      <a:r>
                        <a:rPr lang="en-US" sz="1600" u="none" cap="none" strike="noStrike">
                          <a:solidFill>
                            <a:srgbClr val="000000"/>
                          </a:solidFill>
                        </a:rPr>
                        <a:t>Executed once, after all tests have been finished. It is used to  perform clean-up activities, for example, to disconnect from a  database.</a:t>
                      </a:r>
                      <a:endParaRPr sz="1600" u="none" cap="none" strike="noStrike">
                        <a:solidFill>
                          <a:srgbClr val="000000"/>
                        </a:solidFill>
                        <a:latin typeface="Calibri"/>
                        <a:ea typeface="Calibri"/>
                        <a:cs typeface="Calibri"/>
                        <a:sym typeface="Calibri"/>
                      </a:endParaRPr>
                    </a:p>
                  </a:txBody>
                  <a:tcPr marT="88900" marB="0" marR="0" marL="0"/>
                </a:tc>
              </a:tr>
              <a:tr h="788900">
                <a:tc>
                  <a:txBody>
                    <a:bodyPr/>
                    <a:lstStyle/>
                    <a:p>
                      <a:pPr indent="0" lvl="0" marL="85725" marR="0" rtl="0" algn="l">
                        <a:lnSpc>
                          <a:spcPct val="100000"/>
                        </a:lnSpc>
                        <a:spcBef>
                          <a:spcPts val="0"/>
                        </a:spcBef>
                        <a:spcAft>
                          <a:spcPts val="0"/>
                        </a:spcAft>
                        <a:buClr>
                          <a:srgbClr val="000000"/>
                        </a:buClr>
                        <a:buSzPts val="1600"/>
                        <a:buFont typeface="Arial"/>
                        <a:buNone/>
                      </a:pPr>
                      <a:r>
                        <a:rPr lang="en-US" sz="1600" u="none" cap="none" strike="noStrike">
                          <a:solidFill>
                            <a:srgbClr val="000000"/>
                          </a:solidFill>
                        </a:rPr>
                        <a:t>@Timeout(value = n,                    unit = SECONDS)</a:t>
                      </a:r>
                      <a:endParaRPr sz="1600" u="none" cap="none" strike="noStrike">
                        <a:solidFill>
                          <a:srgbClr val="000000"/>
                        </a:solidFill>
                        <a:latin typeface="Calibri"/>
                        <a:ea typeface="Calibri"/>
                        <a:cs typeface="Calibri"/>
                        <a:sym typeface="Calibri"/>
                      </a:endParaRPr>
                    </a:p>
                  </a:txBody>
                  <a:tcPr marT="78750" marB="0" marR="0" marL="0"/>
                </a:tc>
                <a:tc>
                  <a:txBody>
                    <a:bodyPr/>
                    <a:lstStyle/>
                    <a:p>
                      <a:pPr indent="0" lvl="0" marL="85090" marR="0" rtl="0" algn="l">
                        <a:lnSpc>
                          <a:spcPct val="100000"/>
                        </a:lnSpc>
                        <a:spcBef>
                          <a:spcPts val="0"/>
                        </a:spcBef>
                        <a:spcAft>
                          <a:spcPts val="0"/>
                        </a:spcAft>
                        <a:buClr>
                          <a:srgbClr val="000000"/>
                        </a:buClr>
                        <a:buSzPts val="1600"/>
                        <a:buFont typeface="Arial"/>
                        <a:buNone/>
                      </a:pPr>
                      <a:r>
                        <a:rPr lang="en-US" sz="1600" u="none" cap="none" strike="noStrike">
                          <a:solidFill>
                            <a:srgbClr val="000000"/>
                          </a:solidFill>
                        </a:rPr>
                        <a:t>Fails if the method takes longer than n seconds.</a:t>
                      </a:r>
                      <a:endParaRPr sz="1600" u="none" cap="none" strike="noStrike">
                        <a:solidFill>
                          <a:srgbClr val="000000"/>
                        </a:solidFill>
                        <a:latin typeface="Calibri"/>
                        <a:ea typeface="Calibri"/>
                        <a:cs typeface="Calibri"/>
                        <a:sym typeface="Calibri"/>
                      </a:endParaRPr>
                    </a:p>
                  </a:txBody>
                  <a:tcPr marT="78750" marB="0" marR="0" marL="0"/>
                </a:tc>
              </a:tr>
              <a:tr h="571350">
                <a:tc>
                  <a:txBody>
                    <a:bodyPr/>
                    <a:lstStyle/>
                    <a:p>
                      <a:pPr indent="0" lvl="0" marL="85725" marR="0" rtl="0" algn="l">
                        <a:lnSpc>
                          <a:spcPct val="100000"/>
                        </a:lnSpc>
                        <a:spcBef>
                          <a:spcPts val="0"/>
                        </a:spcBef>
                        <a:spcAft>
                          <a:spcPts val="0"/>
                        </a:spcAft>
                        <a:buClr>
                          <a:srgbClr val="000000"/>
                        </a:buClr>
                        <a:buSzPts val="1600"/>
                        <a:buFont typeface="Arial"/>
                        <a:buNone/>
                      </a:pPr>
                      <a:r>
                        <a:rPr lang="en-US" sz="1600" u="none" cap="none" strike="noStrike">
                          <a:solidFill>
                            <a:srgbClr val="000000"/>
                          </a:solidFill>
                          <a:latin typeface="Calibri"/>
                          <a:ea typeface="Calibri"/>
                          <a:cs typeface="Calibri"/>
                          <a:sym typeface="Calibri"/>
                        </a:rPr>
                        <a:t>@Disabled(“optional”)</a:t>
                      </a:r>
                      <a:endParaRPr sz="1600" u="none" cap="none" strike="noStrike">
                        <a:solidFill>
                          <a:srgbClr val="000000"/>
                        </a:solidFill>
                        <a:latin typeface="Calibri"/>
                        <a:ea typeface="Calibri"/>
                        <a:cs typeface="Calibri"/>
                        <a:sym typeface="Calibri"/>
                      </a:endParaRPr>
                    </a:p>
                  </a:txBody>
                  <a:tcPr marT="78750" marB="0" marR="0" marL="0"/>
                </a:tc>
                <a:tc>
                  <a:txBody>
                    <a:bodyPr/>
                    <a:lstStyle/>
                    <a:p>
                      <a:pPr indent="0" lvl="0" marL="85090" marR="0" rtl="0" algn="l">
                        <a:lnSpc>
                          <a:spcPct val="100000"/>
                        </a:lnSpc>
                        <a:spcBef>
                          <a:spcPts val="0"/>
                        </a:spcBef>
                        <a:spcAft>
                          <a:spcPts val="0"/>
                        </a:spcAft>
                        <a:buClr>
                          <a:srgbClr val="000000"/>
                        </a:buClr>
                        <a:buSzPts val="1600"/>
                        <a:buFont typeface="Arial"/>
                        <a:buNone/>
                      </a:pPr>
                      <a:r>
                        <a:rPr lang="en-US" sz="1600" u="none" cap="none" strike="noStrike">
                          <a:solidFill>
                            <a:srgbClr val="000000"/>
                          </a:solidFill>
                          <a:latin typeface="Calibri"/>
                          <a:ea typeface="Calibri"/>
                          <a:cs typeface="Calibri"/>
                          <a:sym typeface="Calibri"/>
                        </a:rPr>
                        <a:t>Marks a test to be disabled</a:t>
                      </a:r>
                      <a:endParaRPr sz="1400" u="none" cap="none" strike="noStrike"/>
                    </a:p>
                  </a:txBody>
                  <a:tcPr marT="78750" marB="0" marR="0" marL="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6"/>
          <p:cNvSpPr txBox="1"/>
          <p:nvPr>
            <p:ph type="title"/>
          </p:nvPr>
        </p:nvSpPr>
        <p:spPr>
          <a:xfrm>
            <a:off x="822960" y="286604"/>
            <a:ext cx="83211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JUnit 5 – Parameterized  </a:t>
            </a:r>
            <a:endParaRPr/>
          </a:p>
        </p:txBody>
      </p:sp>
      <p:sp>
        <p:nvSpPr>
          <p:cNvPr id="342" name="Google Shape;342;p36"/>
          <p:cNvSpPr txBox="1"/>
          <p:nvPr>
            <p:ph idx="12" type="sldNum"/>
          </p:nvPr>
        </p:nvSpPr>
        <p:spPr>
          <a:xfrm>
            <a:off x="7425344" y="6459786"/>
            <a:ext cx="984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343" name="Google Shape;343;p36"/>
          <p:cNvSpPr txBox="1"/>
          <p:nvPr>
            <p:ph idx="1" type="body"/>
          </p:nvPr>
        </p:nvSpPr>
        <p:spPr>
          <a:xfrm>
            <a:off x="496651" y="1870600"/>
            <a:ext cx="8150700" cy="1450800"/>
          </a:xfrm>
          <a:prstGeom prst="rect">
            <a:avLst/>
          </a:prstGeom>
          <a:noFill/>
          <a:ln>
            <a:noFill/>
          </a:ln>
        </p:spPr>
        <p:txBody>
          <a:bodyPr anchorCtr="0" anchor="t" bIns="45700" lIns="0" spcFirstLastPara="1" rIns="0" wrap="square" tIns="45700">
            <a:noAutofit/>
          </a:bodyPr>
          <a:lstStyle/>
          <a:p>
            <a:pPr indent="-342265" lvl="0" marL="457200" marR="5080" rtl="0" algn="l">
              <a:lnSpc>
                <a:spcPct val="114599"/>
              </a:lnSpc>
              <a:spcBef>
                <a:spcPts val="300"/>
              </a:spcBef>
              <a:spcAft>
                <a:spcPts val="0"/>
              </a:spcAft>
              <a:buClr>
                <a:srgbClr val="121212"/>
              </a:buClr>
              <a:buSzPts val="1790"/>
              <a:buChar char="→"/>
            </a:pPr>
            <a:r>
              <a:rPr b="1" lang="en-US" sz="1790">
                <a:solidFill>
                  <a:srgbClr val="121212"/>
                </a:solidFill>
              </a:rPr>
              <a:t>The test is</a:t>
            </a:r>
            <a:r>
              <a:rPr b="1" lang="en-US" sz="1790">
                <a:solidFill>
                  <a:srgbClr val="121212"/>
                </a:solidFill>
              </a:rPr>
              <a:t> marked with the </a:t>
            </a:r>
            <a:r>
              <a:rPr b="1" i="1" lang="en-US" sz="1790">
                <a:solidFill>
                  <a:srgbClr val="CC0000"/>
                </a:solidFill>
              </a:rPr>
              <a:t>@ParameterizedTest</a:t>
            </a:r>
            <a:r>
              <a:rPr b="1" i="1" lang="en-US" sz="1790">
                <a:solidFill>
                  <a:srgbClr val="121212"/>
                </a:solidFill>
              </a:rPr>
              <a:t> </a:t>
            </a:r>
            <a:r>
              <a:rPr b="1" i="0" lang="en-US" sz="1790">
                <a:solidFill>
                  <a:srgbClr val="121212"/>
                </a:solidFill>
              </a:rPr>
              <a:t>annotation</a:t>
            </a:r>
            <a:r>
              <a:rPr b="1" lang="en-US" sz="1790">
                <a:solidFill>
                  <a:srgbClr val="121212"/>
                </a:solidFill>
              </a:rPr>
              <a:t> (Instead of @Test)</a:t>
            </a:r>
            <a:endParaRPr b="1" sz="1790">
              <a:solidFill>
                <a:srgbClr val="121212"/>
              </a:solidFill>
            </a:endParaRPr>
          </a:p>
          <a:p>
            <a:pPr indent="-342265" lvl="0" marL="457200" marR="5080" rtl="0" algn="l">
              <a:lnSpc>
                <a:spcPct val="114599"/>
              </a:lnSpc>
              <a:spcBef>
                <a:spcPts val="0"/>
              </a:spcBef>
              <a:spcAft>
                <a:spcPts val="0"/>
              </a:spcAft>
              <a:buClr>
                <a:schemeClr val="dk1"/>
              </a:buClr>
              <a:buSzPts val="1790"/>
              <a:buChar char="→"/>
            </a:pPr>
            <a:r>
              <a:rPr b="1" lang="en-US" sz="1790">
                <a:solidFill>
                  <a:srgbClr val="121212"/>
                </a:solidFill>
              </a:rPr>
              <a:t>The test includes a source annotation (</a:t>
            </a:r>
            <a:r>
              <a:rPr b="1" lang="en-US" sz="1790">
                <a:solidFill>
                  <a:srgbClr val="980000"/>
                </a:solidFill>
              </a:rPr>
              <a:t>@&lt;Type&gt;Source</a:t>
            </a:r>
            <a:r>
              <a:rPr b="1" lang="en-US" sz="1790">
                <a:solidFill>
                  <a:srgbClr val="121212"/>
                </a:solidFill>
              </a:rPr>
              <a:t>).</a:t>
            </a:r>
            <a:endParaRPr b="1" sz="1790">
              <a:solidFill>
                <a:srgbClr val="121212"/>
              </a:solidFill>
            </a:endParaRPr>
          </a:p>
          <a:p>
            <a:pPr indent="-342265" lvl="1" marL="914400" marR="5080" rtl="0" algn="l">
              <a:lnSpc>
                <a:spcPct val="114599"/>
              </a:lnSpc>
              <a:spcBef>
                <a:spcPts val="0"/>
              </a:spcBef>
              <a:spcAft>
                <a:spcPts val="0"/>
              </a:spcAft>
              <a:buClr>
                <a:srgbClr val="121212"/>
              </a:buClr>
              <a:buSzPts val="1790"/>
              <a:buChar char="◦"/>
            </a:pPr>
            <a:r>
              <a:rPr b="1" lang="en-US" sz="1790">
                <a:solidFill>
                  <a:srgbClr val="121212"/>
                </a:solidFill>
              </a:rPr>
              <a:t>It specifies the source of the parameter values.</a:t>
            </a:r>
            <a:endParaRPr b="1" sz="1790">
              <a:solidFill>
                <a:srgbClr val="121212"/>
              </a:solidFill>
            </a:endParaRPr>
          </a:p>
          <a:p>
            <a:pPr indent="0" lvl="0" marL="0" marR="0" rtl="0" algn="l">
              <a:lnSpc>
                <a:spcPct val="150000"/>
              </a:lnSpc>
              <a:spcBef>
                <a:spcPts val="1400"/>
              </a:spcBef>
              <a:spcAft>
                <a:spcPts val="0"/>
              </a:spcAft>
              <a:buSzPts val="990"/>
              <a:buNone/>
            </a:pPr>
            <a:r>
              <a:t/>
            </a:r>
            <a:endParaRPr b="1" sz="1790">
              <a:solidFill>
                <a:srgbClr val="121212"/>
              </a:solidFill>
            </a:endParaRPr>
          </a:p>
          <a:p>
            <a:pPr indent="0" lvl="0" marL="0" marR="0" rtl="0" algn="l">
              <a:lnSpc>
                <a:spcPct val="150000"/>
              </a:lnSpc>
              <a:spcBef>
                <a:spcPts val="1400"/>
              </a:spcBef>
              <a:spcAft>
                <a:spcPts val="0"/>
              </a:spcAft>
              <a:buSzPts val="990"/>
              <a:buNone/>
            </a:pPr>
            <a:r>
              <a:t/>
            </a:r>
            <a:endParaRPr b="1" sz="1790">
              <a:solidFill>
                <a:srgbClr val="121212"/>
              </a:solidFill>
            </a:endParaRPr>
          </a:p>
        </p:txBody>
      </p:sp>
      <p:graphicFrame>
        <p:nvGraphicFramePr>
          <p:cNvPr id="344" name="Google Shape;344;p36"/>
          <p:cNvGraphicFramePr/>
          <p:nvPr/>
        </p:nvGraphicFramePr>
        <p:xfrm>
          <a:off x="496676" y="3251881"/>
          <a:ext cx="3000000" cy="3000000"/>
        </p:xfrm>
        <a:graphic>
          <a:graphicData uri="http://schemas.openxmlformats.org/drawingml/2006/table">
            <a:tbl>
              <a:tblPr bandRow="1">
                <a:noFill/>
                <a:tableStyleId>{96B573EC-A6EE-449D-B763-EF58181E34BA}</a:tableStyleId>
              </a:tblPr>
              <a:tblGrid>
                <a:gridCol w="2734075"/>
                <a:gridCol w="5704925"/>
              </a:tblGrid>
              <a:tr h="644375">
                <a:tc>
                  <a:txBody>
                    <a:bodyPr/>
                    <a:lstStyle/>
                    <a:p>
                      <a:pPr indent="0" lvl="0" marL="85725" marR="0" rtl="0" algn="l">
                        <a:lnSpc>
                          <a:spcPct val="100000"/>
                        </a:lnSpc>
                        <a:spcBef>
                          <a:spcPts val="0"/>
                        </a:spcBef>
                        <a:spcAft>
                          <a:spcPts val="0"/>
                        </a:spcAft>
                        <a:buClr>
                          <a:srgbClr val="000000"/>
                        </a:buClr>
                        <a:buSzPts val="1600"/>
                        <a:buFont typeface="Arial"/>
                        <a:buNone/>
                      </a:pPr>
                      <a:r>
                        <a:rPr b="0" lang="en-US" sz="1600" u="none" cap="none" strike="noStrike">
                          <a:solidFill>
                            <a:srgbClr val="000000"/>
                          </a:solidFill>
                          <a:latin typeface="Calibri"/>
                          <a:ea typeface="Calibri"/>
                          <a:cs typeface="Calibri"/>
                          <a:sym typeface="Calibri"/>
                        </a:rPr>
                        <a:t>@ValueSource(ints = { 1</a:t>
                      </a:r>
                      <a:r>
                        <a:rPr lang="en-US" sz="1600" u="none" cap="none" strike="noStrike">
                          <a:solidFill>
                            <a:srgbClr val="000000"/>
                          </a:solidFill>
                        </a:rPr>
                        <a:t>, …, n</a:t>
                      </a:r>
                      <a:r>
                        <a:rPr b="0" lang="en-US" sz="1600" u="none" cap="none" strike="noStrike">
                          <a:solidFill>
                            <a:srgbClr val="000000"/>
                          </a:solidFill>
                          <a:latin typeface="Calibri"/>
                          <a:ea typeface="Calibri"/>
                          <a:cs typeface="Calibri"/>
                          <a:sym typeface="Calibri"/>
                        </a:rPr>
                        <a:t> })</a:t>
                      </a:r>
                      <a:endParaRPr b="0" sz="1600" u="none" cap="none" strike="noStrike">
                        <a:solidFill>
                          <a:srgbClr val="000000"/>
                        </a:solidFill>
                        <a:latin typeface="Calibri"/>
                        <a:ea typeface="Calibri"/>
                        <a:cs typeface="Calibri"/>
                        <a:sym typeface="Calibri"/>
                      </a:endParaRPr>
                    </a:p>
                  </a:txBody>
                  <a:tcPr marT="78100" marB="0" marR="0" marL="0"/>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latin typeface="Calibri"/>
                          <a:ea typeface="Calibri"/>
                          <a:cs typeface="Calibri"/>
                          <a:sym typeface="Calibri"/>
                        </a:rPr>
                        <a:t>Lets you define an array of test values. Permissible types are String, int, long, or double.</a:t>
                      </a:r>
                      <a:endParaRPr sz="1400" u="none" cap="none" strike="noStrike"/>
                    </a:p>
                  </a:txBody>
                  <a:tcPr marT="45725" marB="45725" marR="91450" marL="91450"/>
                </a:tc>
              </a:tr>
              <a:tr h="942825">
                <a:tc>
                  <a:txBody>
                    <a:bodyPr/>
                    <a:lstStyle/>
                    <a:p>
                      <a:pPr indent="0" lvl="0" marL="85725" marR="0" rtl="0" algn="l">
                        <a:lnSpc>
                          <a:spcPct val="100000"/>
                        </a:lnSpc>
                        <a:spcBef>
                          <a:spcPts val="0"/>
                        </a:spcBef>
                        <a:spcAft>
                          <a:spcPts val="0"/>
                        </a:spcAft>
                        <a:buClr>
                          <a:srgbClr val="000000"/>
                        </a:buClr>
                        <a:buSzPts val="1600"/>
                        <a:buFont typeface="Arial"/>
                        <a:buNone/>
                      </a:pPr>
                      <a:r>
                        <a:rPr b="0" lang="en-US" sz="1600" u="none" cap="none" strike="noStrike">
                          <a:solidFill>
                            <a:srgbClr val="000000"/>
                          </a:solidFill>
                          <a:latin typeface="Calibri"/>
                          <a:ea typeface="Calibri"/>
                          <a:cs typeface="Calibri"/>
                          <a:sym typeface="Calibri"/>
                        </a:rPr>
                        <a:t>@EnumSource(value =</a:t>
                      </a:r>
                      <a:r>
                        <a:rPr lang="en-US" sz="1600" u="none" cap="none" strike="noStrike">
                          <a:solidFill>
                            <a:srgbClr val="000000"/>
                          </a:solidFill>
                        </a:rPr>
                        <a:t> </a:t>
                      </a:r>
                      <a:r>
                        <a:rPr b="0" lang="en-US" sz="1600" u="none" cap="none" strike="noStrike">
                          <a:solidFill>
                            <a:srgbClr val="000000"/>
                          </a:solidFill>
                          <a:latin typeface="Calibri"/>
                          <a:ea typeface="Calibri"/>
                          <a:cs typeface="Calibri"/>
                          <a:sym typeface="Calibri"/>
                        </a:rPr>
                        <a:t>class, names = {"JANUARY", "FEBRUARY"})</a:t>
                      </a:r>
                      <a:endParaRPr b="0" sz="1600" u="none" cap="none" strike="noStrike">
                        <a:solidFill>
                          <a:srgbClr val="000000"/>
                        </a:solidFill>
                        <a:latin typeface="Calibri"/>
                        <a:ea typeface="Calibri"/>
                        <a:cs typeface="Calibri"/>
                        <a:sym typeface="Calibri"/>
                      </a:endParaRPr>
                    </a:p>
                  </a:txBody>
                  <a:tcPr marT="78100" marB="0" marR="0" marL="0"/>
                </a:tc>
                <a:tc>
                  <a:txBody>
                    <a:bodyPr/>
                    <a:lstStyle/>
                    <a:p>
                      <a:pPr indent="0" lvl="0" marL="85090" marR="816610" rtl="0" algn="l">
                        <a:lnSpc>
                          <a:spcPct val="103125"/>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Lets you pass Enum constants as test class. With the optional attribute </a:t>
                      </a:r>
                      <a:r>
                        <a:rPr b="0" lang="en-US" sz="1600" u="none" cap="none" strike="noStrike">
                          <a:latin typeface="Calibri"/>
                          <a:ea typeface="Calibri"/>
                          <a:cs typeface="Calibri"/>
                          <a:sym typeface="Calibri"/>
                        </a:rPr>
                        <a:t>names</a:t>
                      </a:r>
                      <a:r>
                        <a:rPr b="0" i="0" lang="en-US" sz="1600" u="none" cap="none" strike="noStrike">
                          <a:solidFill>
                            <a:schemeClr val="dk1"/>
                          </a:solidFill>
                          <a:latin typeface="Calibri"/>
                          <a:ea typeface="Calibri"/>
                          <a:cs typeface="Calibri"/>
                          <a:sym typeface="Calibri"/>
                        </a:rPr>
                        <a:t> you can choose which constants should be used. Otherwise all attributes are used.</a:t>
                      </a:r>
                      <a:endParaRPr b="0" sz="1600" u="none" cap="none" strike="noStrike">
                        <a:solidFill>
                          <a:srgbClr val="000000"/>
                        </a:solidFill>
                        <a:latin typeface="Calibri"/>
                        <a:ea typeface="Calibri"/>
                        <a:cs typeface="Calibri"/>
                        <a:sym typeface="Calibri"/>
                      </a:endParaRPr>
                    </a:p>
                  </a:txBody>
                  <a:tcPr marT="88275" marB="0" marR="0" marL="0"/>
                </a:tc>
              </a:tr>
              <a:tr h="696800">
                <a:tc>
                  <a:txBody>
                    <a:bodyPr/>
                    <a:lstStyle/>
                    <a:p>
                      <a:pPr indent="0" lvl="0" marL="85725" marR="0" rtl="0" algn="l">
                        <a:lnSpc>
                          <a:spcPct val="100000"/>
                        </a:lnSpc>
                        <a:spcBef>
                          <a:spcPts val="0"/>
                        </a:spcBef>
                        <a:spcAft>
                          <a:spcPts val="0"/>
                        </a:spcAft>
                        <a:buClr>
                          <a:srgbClr val="000000"/>
                        </a:buClr>
                        <a:buSzPts val="1600"/>
                        <a:buFont typeface="Arial"/>
                        <a:buNone/>
                      </a:pPr>
                      <a:r>
                        <a:rPr b="0" lang="en-US" sz="1600" u="none" cap="none" strike="noStrike">
                          <a:solidFill>
                            <a:srgbClr val="000000"/>
                          </a:solidFill>
                          <a:latin typeface="Calibri"/>
                          <a:ea typeface="Calibri"/>
                          <a:cs typeface="Calibri"/>
                          <a:sym typeface="Calibri"/>
                        </a:rPr>
                        <a:t>@MethodSource(names = "genTestData")</a:t>
                      </a:r>
                      <a:endParaRPr b="0" sz="1600" u="none" cap="none" strike="noStrike">
                        <a:solidFill>
                          <a:srgbClr val="000000"/>
                        </a:solidFill>
                        <a:latin typeface="Calibri"/>
                        <a:ea typeface="Calibri"/>
                        <a:cs typeface="Calibri"/>
                        <a:sym typeface="Calibri"/>
                      </a:endParaRPr>
                    </a:p>
                  </a:txBody>
                  <a:tcPr marT="78750" marB="0" marR="0" marL="0"/>
                </a:tc>
                <a:tc>
                  <a:txBody>
                    <a:bodyPr/>
                    <a:lstStyle/>
                    <a:p>
                      <a:pPr indent="0" lvl="0" marL="85090" marR="387985" rtl="0" algn="l">
                        <a:lnSpc>
                          <a:spcPct val="103125"/>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The result of the named method is passed as argument to the test.</a:t>
                      </a:r>
                      <a:endParaRPr b="0" sz="1600" u="none" cap="none" strike="noStrike">
                        <a:solidFill>
                          <a:srgbClr val="000000"/>
                        </a:solidFill>
                        <a:latin typeface="Calibri"/>
                        <a:ea typeface="Calibri"/>
                        <a:cs typeface="Calibri"/>
                        <a:sym typeface="Calibri"/>
                      </a:endParaRPr>
                    </a:p>
                  </a:txBody>
                  <a:tcPr marT="88900" marB="0" marR="0" marL="0"/>
                </a:tc>
              </a:tr>
              <a:tr h="667825">
                <a:tc>
                  <a:txBody>
                    <a:bodyPr/>
                    <a:lstStyle/>
                    <a:p>
                      <a:pPr indent="0" lvl="0" marL="85725"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@ArgumentsSource(MyArgumentsProvider.class)</a:t>
                      </a:r>
                      <a:endParaRPr b="0" sz="1600" u="none" cap="none" strike="noStrike">
                        <a:solidFill>
                          <a:srgbClr val="000000"/>
                        </a:solidFill>
                        <a:latin typeface="Calibri"/>
                        <a:ea typeface="Calibri"/>
                        <a:cs typeface="Calibri"/>
                        <a:sym typeface="Calibri"/>
                      </a:endParaRPr>
                    </a:p>
                  </a:txBody>
                  <a:tcPr marT="78100" marB="0" marR="0" marL="0"/>
                </a:tc>
                <a:tc>
                  <a:txBody>
                    <a:bodyPr/>
                    <a:lstStyle/>
                    <a:p>
                      <a:pPr indent="0" lvl="0" marL="85090" marR="194310" rtl="0" algn="l">
                        <a:lnSpc>
                          <a:spcPct val="103125"/>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Specifies a class that provides the test data. The referenced class has to implement the </a:t>
                      </a:r>
                      <a:r>
                        <a:rPr b="0" lang="en-US" sz="1600" u="none" cap="none" strike="noStrike">
                          <a:latin typeface="Calibri"/>
                          <a:ea typeface="Calibri"/>
                          <a:cs typeface="Calibri"/>
                          <a:sym typeface="Calibri"/>
                        </a:rPr>
                        <a:t>ArgumentsProvider</a:t>
                      </a:r>
                      <a:r>
                        <a:rPr b="0" i="0" lang="en-US" sz="1600" u="none" cap="none" strike="noStrike">
                          <a:solidFill>
                            <a:schemeClr val="dk1"/>
                          </a:solidFill>
                          <a:latin typeface="Calibri"/>
                          <a:ea typeface="Calibri"/>
                          <a:cs typeface="Calibri"/>
                          <a:sym typeface="Calibri"/>
                        </a:rPr>
                        <a:t> interface.</a:t>
                      </a:r>
                      <a:endParaRPr b="0" sz="1600" u="none" cap="none" strike="noStrike">
                        <a:solidFill>
                          <a:srgbClr val="000000"/>
                        </a:solidFill>
                        <a:latin typeface="Calibri"/>
                        <a:ea typeface="Calibri"/>
                        <a:cs typeface="Calibri"/>
                        <a:sym typeface="Calibri"/>
                      </a:endParaRPr>
                    </a:p>
                  </a:txBody>
                  <a:tcPr marT="88275" marB="0" marR="0" marL="0"/>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7"/>
          <p:cNvSpPr txBox="1"/>
          <p:nvPr>
            <p:ph type="title"/>
          </p:nvPr>
        </p:nvSpPr>
        <p:spPr>
          <a:xfrm>
            <a:off x="822960" y="286604"/>
            <a:ext cx="75438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Do &amp; Do-not in Unit Testing</a:t>
            </a:r>
            <a:endParaRPr/>
          </a:p>
        </p:txBody>
      </p:sp>
      <p:sp>
        <p:nvSpPr>
          <p:cNvPr id="351" name="Google Shape;351;p37"/>
          <p:cNvSpPr txBox="1"/>
          <p:nvPr>
            <p:ph idx="1" type="body"/>
          </p:nvPr>
        </p:nvSpPr>
        <p:spPr>
          <a:xfrm>
            <a:off x="822950" y="1845725"/>
            <a:ext cx="7543800" cy="4023300"/>
          </a:xfrm>
          <a:prstGeom prst="rect">
            <a:avLst/>
          </a:prstGeom>
        </p:spPr>
        <p:txBody>
          <a:bodyPr anchorCtr="0" anchor="t" bIns="45700" lIns="0" spcFirstLastPara="1" rIns="0" wrap="square" tIns="45700">
            <a:normAutofit lnSpcReduction="10000"/>
          </a:bodyPr>
          <a:lstStyle/>
          <a:p>
            <a:pPr indent="-361950" lvl="0" marL="457200" rtl="0" algn="l">
              <a:lnSpc>
                <a:spcPct val="150000"/>
              </a:lnSpc>
              <a:spcBef>
                <a:spcPts val="1200"/>
              </a:spcBef>
              <a:spcAft>
                <a:spcPts val="0"/>
              </a:spcAft>
              <a:buClr>
                <a:schemeClr val="dk1"/>
              </a:buClr>
              <a:buSzPts val="2100"/>
              <a:buChar char="●"/>
            </a:pPr>
            <a:r>
              <a:rPr lang="en-US" sz="2300">
                <a:solidFill>
                  <a:schemeClr val="dk1"/>
                </a:solidFill>
              </a:rPr>
              <a:t>Keep conventions</a:t>
            </a:r>
            <a:endParaRPr sz="2300">
              <a:solidFill>
                <a:schemeClr val="dk1"/>
              </a:solidFill>
            </a:endParaRPr>
          </a:p>
          <a:p>
            <a:pPr indent="-361950" lvl="1" marL="914400" rtl="0" algn="l">
              <a:lnSpc>
                <a:spcPct val="150000"/>
              </a:lnSpc>
              <a:spcBef>
                <a:spcPts val="0"/>
              </a:spcBef>
              <a:spcAft>
                <a:spcPts val="0"/>
              </a:spcAft>
              <a:buClr>
                <a:schemeClr val="dk1"/>
              </a:buClr>
              <a:buSzPts val="2100"/>
              <a:buChar char="○"/>
            </a:pPr>
            <a:r>
              <a:rPr lang="en-US" sz="2300">
                <a:solidFill>
                  <a:schemeClr val="dk1"/>
                </a:solidFill>
              </a:rPr>
              <a:t>Simple tests, only single aspect in each test.</a:t>
            </a:r>
            <a:endParaRPr sz="2100">
              <a:solidFill>
                <a:schemeClr val="dk1"/>
              </a:solidFill>
            </a:endParaRPr>
          </a:p>
          <a:p>
            <a:pPr indent="-361950" lvl="0" marL="457200" rtl="0" algn="l">
              <a:lnSpc>
                <a:spcPct val="150000"/>
              </a:lnSpc>
              <a:spcBef>
                <a:spcPts val="0"/>
              </a:spcBef>
              <a:spcAft>
                <a:spcPts val="0"/>
              </a:spcAft>
              <a:buClr>
                <a:schemeClr val="dk1"/>
              </a:buClr>
              <a:buSzPts val="2100"/>
              <a:buChar char="●"/>
            </a:pPr>
            <a:r>
              <a:rPr lang="en-US" sz="2300">
                <a:solidFill>
                  <a:schemeClr val="dk1"/>
                </a:solidFill>
              </a:rPr>
              <a:t>No random parameters</a:t>
            </a:r>
            <a:endParaRPr sz="2300">
              <a:solidFill>
                <a:schemeClr val="dk1"/>
              </a:solidFill>
            </a:endParaRPr>
          </a:p>
          <a:p>
            <a:pPr indent="-374650" lvl="1" marL="914400" rtl="0" algn="l">
              <a:lnSpc>
                <a:spcPct val="150000"/>
              </a:lnSpc>
              <a:spcBef>
                <a:spcPts val="0"/>
              </a:spcBef>
              <a:spcAft>
                <a:spcPts val="0"/>
              </a:spcAft>
              <a:buClr>
                <a:schemeClr val="dk1"/>
              </a:buClr>
              <a:buSzPts val="2300"/>
              <a:buChar char="○"/>
            </a:pPr>
            <a:r>
              <a:rPr lang="en-US" sz="2300">
                <a:solidFill>
                  <a:schemeClr val="dk1"/>
                </a:solidFill>
              </a:rPr>
              <a:t>We do not know the expected output</a:t>
            </a:r>
            <a:endParaRPr sz="2300">
              <a:solidFill>
                <a:schemeClr val="dk1"/>
              </a:solidFill>
            </a:endParaRPr>
          </a:p>
          <a:p>
            <a:pPr indent="-374650" lvl="1" marL="914400" rtl="0" algn="l">
              <a:lnSpc>
                <a:spcPct val="150000"/>
              </a:lnSpc>
              <a:spcBef>
                <a:spcPts val="0"/>
              </a:spcBef>
              <a:spcAft>
                <a:spcPts val="0"/>
              </a:spcAft>
              <a:buClr>
                <a:schemeClr val="dk1"/>
              </a:buClr>
              <a:buSzPts val="2300"/>
              <a:buChar char="○"/>
            </a:pPr>
            <a:r>
              <a:rPr lang="en-US" sz="2300">
                <a:solidFill>
                  <a:schemeClr val="dk1"/>
                </a:solidFill>
              </a:rPr>
              <a:t>Flakeyness (the test sometimes fails and sometimes passes).</a:t>
            </a:r>
            <a:endParaRPr sz="2300">
              <a:solidFill>
                <a:schemeClr val="dk1"/>
              </a:solidFill>
            </a:endParaRPr>
          </a:p>
          <a:p>
            <a:pPr indent="-361950" lvl="0" marL="457200" rtl="0" algn="l">
              <a:lnSpc>
                <a:spcPct val="150000"/>
              </a:lnSpc>
              <a:spcBef>
                <a:spcPts val="0"/>
              </a:spcBef>
              <a:spcAft>
                <a:spcPts val="0"/>
              </a:spcAft>
              <a:buClr>
                <a:schemeClr val="dk1"/>
              </a:buClr>
              <a:buSzPts val="2100"/>
              <a:buChar char="●"/>
            </a:pPr>
            <a:r>
              <a:rPr lang="en-US" sz="2300">
                <a:solidFill>
                  <a:schemeClr val="dk1"/>
                </a:solidFill>
              </a:rPr>
              <a:t>Test edge cases and regular cases</a:t>
            </a:r>
            <a:endParaRPr sz="2300">
              <a:solidFill>
                <a:schemeClr val="dk1"/>
              </a:solidFill>
            </a:endParaRPr>
          </a:p>
          <a:p>
            <a:pPr indent="-374650" lvl="0" marL="457200" rtl="0" algn="l">
              <a:lnSpc>
                <a:spcPct val="150000"/>
              </a:lnSpc>
              <a:spcBef>
                <a:spcPts val="0"/>
              </a:spcBef>
              <a:spcAft>
                <a:spcPts val="0"/>
              </a:spcAft>
              <a:buClr>
                <a:schemeClr val="dk1"/>
              </a:buClr>
              <a:buSzPts val="2300"/>
              <a:buChar char="●"/>
            </a:pPr>
            <a:r>
              <a:rPr lang="en-US" sz="2300">
                <a:solidFill>
                  <a:schemeClr val="dk1"/>
                </a:solidFill>
              </a:rPr>
              <a:t>Unit test should run fast.</a:t>
            </a:r>
            <a:endParaRPr sz="2300">
              <a:solidFill>
                <a:schemeClr val="dk1"/>
              </a:solidFill>
            </a:endParaRPr>
          </a:p>
        </p:txBody>
      </p:sp>
      <p:sp>
        <p:nvSpPr>
          <p:cNvPr id="352" name="Google Shape;352;p37"/>
          <p:cNvSpPr txBox="1"/>
          <p:nvPr>
            <p:ph idx="12" type="sldNum"/>
          </p:nvPr>
        </p:nvSpPr>
        <p:spPr>
          <a:xfrm>
            <a:off x="7425344" y="6459786"/>
            <a:ext cx="984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